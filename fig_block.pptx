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6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658"/>
  </p:normalViewPr>
  <p:slideViewPr>
    <p:cSldViewPr snapToGrid="0">
      <p:cViewPr varScale="1">
        <p:scale>
          <a:sx n="98" d="100"/>
          <a:sy n="98" d="100"/>
        </p:scale>
        <p:origin x="21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555FC-1C24-D242-9DBA-D8E21E687854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3AF47-5DE5-2442-9382-352522030BC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8696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F3AF47-5DE5-2442-9382-352522030BCC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789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437290-0E8C-E788-667E-CE4210729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D63AB59-F97A-E6DE-1C46-FB4B342A9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80A9FB-0B75-2AD7-F138-77F12F8A5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4FFDB5-AFAB-D999-7D39-1978B52B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8AE655-901E-1D98-A180-37C6C467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443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A524A2-E5BD-EABF-7D8D-E1CCBF67F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A7AFC2-63C5-3AE4-8221-FEA9054AD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C80442-E99D-7AE6-F221-6B21234FC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890E0-E128-3287-DC94-BE8A3A79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2ADFE5-8508-791F-3491-5E2406815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3036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4A174F-76B4-6726-7A24-9A62A1FE8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205164-76EB-9A17-B4E1-746FFE6E6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382C2F-E526-6109-12F9-3A80F88A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E9C520-5092-0832-1C50-CB6BEAB6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702FDA-953D-041B-6301-8BB50C5E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6368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D43994-CA8F-4AC0-F78A-99E8B4FC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73950C-0946-103C-A3E8-3CBCC3BD03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15957FF-994D-D649-CEEC-4EFB25848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896DFF-5CDF-AA63-8174-36CC44962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2BCAE1-327A-4887-8FC6-CD5C534A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92FDDF-1D44-0F97-30D0-A8DCAC70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500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A680E-AC27-210F-14AF-91B3F372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936AA2-99FE-4C38-B1D0-613CD8EDD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3923DB1-168A-BBD6-FD6B-2296FA7D5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C27C0E5-AC3B-3F37-59B1-D16C5E415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C22B99E-7D3A-E746-BC0D-B561787E46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DD33D7F-ADB7-135E-A477-28915FDFB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283C925-DCDE-5EF3-16DC-BD1E5AFF6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DA1A1B9-1C4A-8678-3C5B-5CC071EC0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9801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5533C4-2257-FC05-A42A-197B3435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D7D4308-1525-DC5C-1D4C-9B8615689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66F4020-A0AF-9003-E8BA-6F3A39A6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AC0F44F-EFAC-B0A4-C6A7-BD657204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2490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860B4E-CCB4-026C-1794-17341B3C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708962-1229-EDFE-FE23-311A1CA9D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3C176F-297B-185E-403B-EADCACBB1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069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7D08C9-8954-E0A7-3F76-7227B8F5E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B4B7F8-47DE-4267-6C70-F294B7802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59C264-D16F-0CDE-79B9-980A8DF88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108F78-2946-C951-4EC1-B211B1842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BBD874-B92B-A420-419C-5C0F78C0D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43CBA39-4912-1086-88E1-3BA1E522A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453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80E0B-73D6-86FB-CF37-A9EA23B9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D084CE7-0A1C-704E-6171-1380D3AE9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B20A49-7C2E-8E47-8AE0-A08B94012F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C1E5D5-AD40-2E05-EBEC-F838FF87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F26A44-8AD2-C49B-1949-712DF62CD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E0029D-4C26-40F3-47C6-49FCE3FB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78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B5555-F0CE-6EC6-C54E-C13F49DFB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14D059-D361-E7A0-4A1D-03E1504A6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EB1EDD-D437-8DEE-F9CD-712EE6E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DA0ACD-059E-7DDA-158D-10D977B73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4E81F6-D263-F479-8EE8-DCC357D2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42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E96B576-0F9B-BF36-9A2D-31854EEA0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2CBE04A-0042-DCB0-D08B-134AAF419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61AA22-342D-4E06-8303-6ED2EC50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5B7EBF-01ED-93D0-BF32-EECF104B7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6BC7C8-876A-AE2C-E5D0-4993831B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9828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CCFC32A-6E7B-68CF-6CFF-2D56BBAD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D8E867-4352-D270-AFFD-543BC203C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F9E13F-13B1-F594-13EE-4204C07B47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9FA69C-DAD2-554C-9FC0-6F806BE9F0DF}" type="datetimeFigureOut">
              <a:rPr kumimoji="1" lang="ja-JP" altLang="en-US" smtClean="0"/>
              <a:t>2025/12/1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8DD08D-7AB2-FDDC-197D-77D2F323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AC273-17F8-A786-8848-13425B46A8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5991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0DA62A59-6E08-BE7F-812F-5D92D0341882}"/>
              </a:ext>
            </a:extLst>
          </p:cNvPr>
          <p:cNvGrpSpPr/>
          <p:nvPr/>
        </p:nvGrpSpPr>
        <p:grpSpPr>
          <a:xfrm>
            <a:off x="1816395" y="2085539"/>
            <a:ext cx="8559210" cy="2686921"/>
            <a:chOff x="3000969" y="2447527"/>
            <a:chExt cx="7642222" cy="1940603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85D4B432-56CD-66FC-5721-0C37C68C375D}"/>
                </a:ext>
              </a:extLst>
            </p:cNvPr>
            <p:cNvSpPr/>
            <p:nvPr/>
          </p:nvSpPr>
          <p:spPr>
            <a:xfrm>
              <a:off x="4937048" y="2449892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48B35F4-2A48-45A2-622E-ABB70A75C173}"/>
                </a:ext>
              </a:extLst>
            </p:cNvPr>
            <p:cNvSpPr/>
            <p:nvPr/>
          </p:nvSpPr>
          <p:spPr>
            <a:xfrm>
              <a:off x="4937048" y="3653590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E084AA3A-6B76-3B79-1CE5-9B66CCD97AB2}"/>
                </a:ext>
              </a:extLst>
            </p:cNvPr>
            <p:cNvSpPr/>
            <p:nvPr/>
          </p:nvSpPr>
          <p:spPr>
            <a:xfrm>
              <a:off x="7350268" y="3061734"/>
              <a:ext cx="1810410" cy="73453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22FA7B4-0C60-E56E-09C0-966175A319E9}"/>
                </a:ext>
              </a:extLst>
            </p:cNvPr>
            <p:cNvCxnSpPr>
              <a:cxnSpLocks/>
            </p:cNvCxnSpPr>
            <p:nvPr/>
          </p:nvCxnSpPr>
          <p:spPr>
            <a:xfrm>
              <a:off x="3050396" y="2817162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5C54B51D-CCC4-5A26-AEFA-FD7C3C9BD46E}"/>
                    </a:ext>
                  </a:extLst>
                </p:cNvPr>
                <p:cNvSpPr txBox="1"/>
                <p:nvPr/>
              </p:nvSpPr>
              <p:spPr>
                <a:xfrm>
                  <a:off x="3000969" y="2461629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5C54B51D-CCC4-5A26-AEFA-FD7C3C9BD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0969" y="2461629"/>
                  <a:ext cx="81233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カギ線コネクタ 10">
              <a:extLst>
                <a:ext uri="{FF2B5EF4-FFF2-40B4-BE49-F238E27FC236}">
                  <a16:creationId xmlns:a16="http://schemas.microsoft.com/office/drawing/2014/main" id="{684A6C9A-7117-2740-67C6-9DDE2A0CD0B8}"/>
                </a:ext>
              </a:extLst>
            </p:cNvPr>
            <p:cNvCxnSpPr>
              <a:cxnSpLocks/>
              <a:stCxn id="4" idx="3"/>
              <a:endCxn id="6" idx="0"/>
            </p:cNvCxnSpPr>
            <p:nvPr/>
          </p:nvCxnSpPr>
          <p:spPr>
            <a:xfrm>
              <a:off x="6889897" y="2817162"/>
              <a:ext cx="1365576" cy="24457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カギ線コネクタ 11">
              <a:extLst>
                <a:ext uri="{FF2B5EF4-FFF2-40B4-BE49-F238E27FC236}">
                  <a16:creationId xmlns:a16="http://schemas.microsoft.com/office/drawing/2014/main" id="{D129AD1D-1A37-5B24-7C77-BCD1C523EE20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6889897" y="3796266"/>
              <a:ext cx="1365576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5F99FF0D-55C5-4ECF-2F99-505147AAD403}"/>
                    </a:ext>
                  </a:extLst>
                </p:cNvPr>
                <p:cNvSpPr txBox="1"/>
                <p:nvPr/>
              </p:nvSpPr>
              <p:spPr>
                <a:xfrm>
                  <a:off x="7589471" y="2447527"/>
                  <a:ext cx="5133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5F99FF0D-55C5-4ECF-2F99-505147AAD4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9471" y="2447527"/>
                  <a:ext cx="51334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CCA9E03-B3FB-A11B-6E43-837F144C10D3}"/>
                    </a:ext>
                  </a:extLst>
                </p:cNvPr>
                <p:cNvSpPr txBox="1"/>
                <p:nvPr/>
              </p:nvSpPr>
              <p:spPr>
                <a:xfrm>
                  <a:off x="7619628" y="3984791"/>
                  <a:ext cx="3458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CCA9E03-B3FB-A11B-6E43-837F144C1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628" y="3984791"/>
                  <a:ext cx="34586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25E650-A72A-9990-DBAD-36A7C4AC9D15}"/>
                </a:ext>
              </a:extLst>
            </p:cNvPr>
            <p:cNvCxnSpPr>
              <a:cxnSpLocks/>
            </p:cNvCxnSpPr>
            <p:nvPr/>
          </p:nvCxnSpPr>
          <p:spPr>
            <a:xfrm>
              <a:off x="3050396" y="4020860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B0B1FFBF-8BEE-8990-8E12-3F069AC84244}"/>
                    </a:ext>
                  </a:extLst>
                </p:cNvPr>
                <p:cNvSpPr txBox="1"/>
                <p:nvPr/>
              </p:nvSpPr>
              <p:spPr>
                <a:xfrm>
                  <a:off x="3176208" y="3631564"/>
                  <a:ext cx="46185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B0B1FFBF-8BEE-8990-8E12-3F069AC842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208" y="3631564"/>
                  <a:ext cx="461858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8CC5D06-97E8-B1DC-6F25-1EC84505E6A0}"/>
                </a:ext>
              </a:extLst>
            </p:cNvPr>
            <p:cNvCxnSpPr>
              <a:cxnSpLocks/>
            </p:cNvCxnSpPr>
            <p:nvPr/>
          </p:nvCxnSpPr>
          <p:spPr>
            <a:xfrm>
              <a:off x="9160678" y="3429000"/>
              <a:ext cx="1482513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812E6A73-63FC-A4CB-46EB-D73C5078096B}"/>
                    </a:ext>
                  </a:extLst>
                </p:cNvPr>
                <p:cNvSpPr txBox="1"/>
                <p:nvPr/>
              </p:nvSpPr>
              <p:spPr>
                <a:xfrm>
                  <a:off x="9901934" y="3152001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812E6A73-63FC-A4CB-46EB-D73C507809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1934" y="3152001"/>
                  <a:ext cx="22172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4286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83967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93DC598-3187-4708-238A-F30350C28946}"/>
              </a:ext>
            </a:extLst>
          </p:cNvPr>
          <p:cNvGrpSpPr/>
          <p:nvPr/>
        </p:nvGrpSpPr>
        <p:grpSpPr>
          <a:xfrm>
            <a:off x="1252151" y="708454"/>
            <a:ext cx="9687697" cy="5441092"/>
            <a:chOff x="1161535" y="421149"/>
            <a:chExt cx="9687697" cy="5441092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B586AB81-FE0B-4705-08D0-681D56BD356B}"/>
                </a:ext>
              </a:extLst>
            </p:cNvPr>
            <p:cNvSpPr/>
            <p:nvPr/>
          </p:nvSpPr>
          <p:spPr>
            <a:xfrm>
              <a:off x="4657060" y="1072608"/>
              <a:ext cx="1810410" cy="868421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UVA/Padova</a:t>
              </a:r>
              <a:endParaRPr kumimoji="1" lang="ja-JP" altLang="en-US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EB489FAF-3AFB-9C1C-A11E-B5EAD8043181}"/>
                </a:ext>
              </a:extLst>
            </p:cNvPr>
            <p:cNvCxnSpPr/>
            <p:nvPr/>
          </p:nvCxnSpPr>
          <p:spPr>
            <a:xfrm>
              <a:off x="5528356" y="421149"/>
              <a:ext cx="0" cy="6514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BECD6097-D75B-31F5-A424-BAD20AB65038}"/>
                    </a:ext>
                  </a:extLst>
                </p:cNvPr>
                <p:cNvSpPr txBox="1"/>
                <p:nvPr/>
              </p:nvSpPr>
              <p:spPr>
                <a:xfrm>
                  <a:off x="5563962" y="576331"/>
                  <a:ext cx="7783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1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b="1">
                    <a:latin typeface="Cambria Math" panose="02040503050406030204" pitchFamily="18" charset="0"/>
                    <a:ea typeface="Hiragino Kaku Gothic ProN W3" panose="020B03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BECD6097-D75B-31F5-A424-BAD20AB650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3962" y="576331"/>
                  <a:ext cx="77832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7CB7C583-6313-02B5-B157-CD78CA8B9436}"/>
                </a:ext>
              </a:extLst>
            </p:cNvPr>
            <p:cNvCxnSpPr>
              <a:cxnSpLocks/>
            </p:cNvCxnSpPr>
            <p:nvPr/>
          </p:nvCxnSpPr>
          <p:spPr>
            <a:xfrm>
              <a:off x="6467470" y="1506818"/>
              <a:ext cx="32640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7722DA65-AB01-2CAD-C15B-262D00B0E698}"/>
                </a:ext>
              </a:extLst>
            </p:cNvPr>
            <p:cNvSpPr/>
            <p:nvPr/>
          </p:nvSpPr>
          <p:spPr>
            <a:xfrm>
              <a:off x="3097614" y="2410187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2C1114A2-700E-0B19-FB3B-9D181DD85265}"/>
                </a:ext>
              </a:extLst>
            </p:cNvPr>
            <p:cNvSpPr/>
            <p:nvPr/>
          </p:nvSpPr>
          <p:spPr>
            <a:xfrm>
              <a:off x="3097614" y="3613885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6DCADB57-2EB7-5125-4735-DF44579B6BF2}"/>
                </a:ext>
              </a:extLst>
            </p:cNvPr>
            <p:cNvSpPr/>
            <p:nvPr/>
          </p:nvSpPr>
          <p:spPr>
            <a:xfrm>
              <a:off x="5510834" y="3022029"/>
              <a:ext cx="1810410" cy="73453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A210733-5BDA-4BB3-218A-79D5DC0A3E1C}"/>
                </a:ext>
              </a:extLst>
            </p:cNvPr>
            <p:cNvSpPr/>
            <p:nvPr/>
          </p:nvSpPr>
          <p:spPr>
            <a:xfrm>
              <a:off x="6126058" y="4817583"/>
              <a:ext cx="1472849" cy="59438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controller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6D3A9F5-3CE5-3401-C859-538801C15F41}"/>
                </a:ext>
              </a:extLst>
            </p:cNvPr>
            <p:cNvSpPr/>
            <p:nvPr/>
          </p:nvSpPr>
          <p:spPr>
            <a:xfrm>
              <a:off x="8258720" y="3082111"/>
              <a:ext cx="1472849" cy="59438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estimator</a:t>
              </a:r>
            </a:p>
          </p:txBody>
        </p: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846356A3-5E7B-1F75-8E51-628A00599508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1475459"/>
              <a:ext cx="25276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07B6DCB8-2F76-7DFF-20DF-6B468E9475C1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1475459"/>
              <a:ext cx="0" cy="36393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20F10B3-276F-59BC-A49E-A3116249CC3B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2129385" y="5114778"/>
              <a:ext cx="3996673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2735856F-58A1-29B7-C400-EB7E6EE929BA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3981155"/>
              <a:ext cx="968229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660AC16-1D1A-34C0-498B-9C7C5F3AD72B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6862482" y="5411972"/>
              <a:ext cx="1" cy="450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7716E7-A7A9-28D2-5A1B-44F23D9203A6}"/>
                    </a:ext>
                  </a:extLst>
                </p:cNvPr>
                <p:cNvSpPr txBox="1"/>
                <p:nvPr/>
              </p:nvSpPr>
              <p:spPr>
                <a:xfrm>
                  <a:off x="5050463" y="4709378"/>
                  <a:ext cx="646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7716E7-A7A9-28D2-5A1B-44F23D9203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0463" y="4709378"/>
                  <a:ext cx="64652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C05715D9-CFDC-B600-EABD-2330ED3A2C3F}"/>
                    </a:ext>
                  </a:extLst>
                </p:cNvPr>
                <p:cNvSpPr txBox="1"/>
                <p:nvPr/>
              </p:nvSpPr>
              <p:spPr>
                <a:xfrm>
                  <a:off x="6741048" y="5492909"/>
                  <a:ext cx="5684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C05715D9-CFDC-B600-EABD-2330ED3A2C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1048" y="5492909"/>
                  <a:ext cx="56840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677D28B4-6E60-66DF-B6D6-188DD1CC18F5}"/>
                </a:ext>
              </a:extLst>
            </p:cNvPr>
            <p:cNvSpPr/>
            <p:nvPr/>
          </p:nvSpPr>
          <p:spPr>
            <a:xfrm>
              <a:off x="2101098" y="3947296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5816A7E7-C22F-D8BE-BCC6-EB92DEAAD34E}"/>
                </a:ext>
              </a:extLst>
            </p:cNvPr>
            <p:cNvCxnSpPr>
              <a:cxnSpLocks/>
            </p:cNvCxnSpPr>
            <p:nvPr/>
          </p:nvCxnSpPr>
          <p:spPr>
            <a:xfrm>
              <a:off x="1210962" y="2777457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4F764CA8-C98A-A19C-E432-1D634671A983}"/>
                    </a:ext>
                  </a:extLst>
                </p:cNvPr>
                <p:cNvSpPr txBox="1"/>
                <p:nvPr/>
              </p:nvSpPr>
              <p:spPr>
                <a:xfrm>
                  <a:off x="1161535" y="2421924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4F764CA8-C98A-A19C-E432-1D634671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535" y="2421924"/>
                  <a:ext cx="81233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カギ線コネクタ 42">
              <a:extLst>
                <a:ext uri="{FF2B5EF4-FFF2-40B4-BE49-F238E27FC236}">
                  <a16:creationId xmlns:a16="http://schemas.microsoft.com/office/drawing/2014/main" id="{F204D4EE-E173-F98D-2120-9A21D5A9C06F}"/>
                </a:ext>
              </a:extLst>
            </p:cNvPr>
            <p:cNvCxnSpPr>
              <a:cxnSpLocks/>
              <a:stCxn id="12" idx="3"/>
              <a:endCxn id="14" idx="0"/>
            </p:cNvCxnSpPr>
            <p:nvPr/>
          </p:nvCxnSpPr>
          <p:spPr>
            <a:xfrm>
              <a:off x="5050463" y="2777457"/>
              <a:ext cx="1365576" cy="24457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カギ線コネクタ 46">
              <a:extLst>
                <a:ext uri="{FF2B5EF4-FFF2-40B4-BE49-F238E27FC236}">
                  <a16:creationId xmlns:a16="http://schemas.microsoft.com/office/drawing/2014/main" id="{E5224498-DB86-087B-9E17-03D02DCDF859}"/>
                </a:ext>
              </a:extLst>
            </p:cNvPr>
            <p:cNvCxnSpPr>
              <a:cxnSpLocks/>
              <a:stCxn id="13" idx="3"/>
              <a:endCxn id="14" idx="2"/>
            </p:cNvCxnSpPr>
            <p:nvPr/>
          </p:nvCxnSpPr>
          <p:spPr>
            <a:xfrm flipV="1">
              <a:off x="5050463" y="3756561"/>
              <a:ext cx="1365576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A18EC6B1-3491-4114-E03B-858DEBA85A75}"/>
                    </a:ext>
                  </a:extLst>
                </p:cNvPr>
                <p:cNvSpPr txBox="1"/>
                <p:nvPr/>
              </p:nvSpPr>
              <p:spPr>
                <a:xfrm>
                  <a:off x="5750037" y="2407822"/>
                  <a:ext cx="51334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A18EC6B1-3491-4114-E03B-858DEBA85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0037" y="2407822"/>
                  <a:ext cx="51334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605B0398-ECE0-C2C0-EC2A-1873FCF52229}"/>
                    </a:ext>
                  </a:extLst>
                </p:cNvPr>
                <p:cNvSpPr txBox="1"/>
                <p:nvPr/>
              </p:nvSpPr>
              <p:spPr>
                <a:xfrm>
                  <a:off x="5780194" y="3945086"/>
                  <a:ext cx="3458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605B0398-ECE0-C2C0-EC2A-1873FCF522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0194" y="3945086"/>
                  <a:ext cx="34586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6754F683-8B4F-9B19-5C43-AF0782B2AB23}"/>
                    </a:ext>
                  </a:extLst>
                </p:cNvPr>
                <p:cNvSpPr txBox="1"/>
                <p:nvPr/>
              </p:nvSpPr>
              <p:spPr>
                <a:xfrm>
                  <a:off x="9325176" y="1106127"/>
                  <a:ext cx="4063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6754F683-8B4F-9B19-5C43-AF0782B2AB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25176" y="1106127"/>
                  <a:ext cx="40639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49F00871-1D8D-92F9-FF55-937AFE38FF08}"/>
                </a:ext>
              </a:extLst>
            </p:cNvPr>
            <p:cNvCxnSpPr>
              <a:cxnSpLocks/>
            </p:cNvCxnSpPr>
            <p:nvPr/>
          </p:nvCxnSpPr>
          <p:spPr>
            <a:xfrm>
              <a:off x="9016505" y="1506818"/>
              <a:ext cx="0" cy="15752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円/楕円 59">
              <a:extLst>
                <a:ext uri="{FF2B5EF4-FFF2-40B4-BE49-F238E27FC236}">
                  <a16:creationId xmlns:a16="http://schemas.microsoft.com/office/drawing/2014/main" id="{52AA93F7-A2A6-07B2-60B2-64EA80B1E5E7}"/>
                </a:ext>
              </a:extLst>
            </p:cNvPr>
            <p:cNvSpPr/>
            <p:nvPr/>
          </p:nvSpPr>
          <p:spPr>
            <a:xfrm>
              <a:off x="8991217" y="1470817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ABC2085-B6A7-05CB-0881-D85AAE4A1514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321244" y="3389295"/>
              <a:ext cx="937476" cy="1270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1B11DF33-69DD-8FF9-C302-AC270A60FED1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6862483" y="3756561"/>
              <a:ext cx="0" cy="106102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3D4D0BD3-0D78-2F64-280E-EEE8676674B6}"/>
                    </a:ext>
                  </a:extLst>
                </p:cNvPr>
                <p:cNvSpPr txBox="1"/>
                <p:nvPr/>
              </p:nvSpPr>
              <p:spPr>
                <a:xfrm>
                  <a:off x="7586179" y="3016347"/>
                  <a:ext cx="513340" cy="378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3D4D0BD3-0D78-2F64-280E-EEE867667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6179" y="3016347"/>
                  <a:ext cx="513340" cy="378630"/>
                </a:xfrm>
                <a:prstGeom prst="rect">
                  <a:avLst/>
                </a:prstGeom>
                <a:blipFill>
                  <a:blip r:embed="rId9"/>
                  <a:stretch>
                    <a:fillRect t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D77FF916-A6C0-84A7-E17E-D15B6CA512D7}"/>
                    </a:ext>
                  </a:extLst>
                </p:cNvPr>
                <p:cNvSpPr txBox="1"/>
                <p:nvPr/>
              </p:nvSpPr>
              <p:spPr>
                <a:xfrm>
                  <a:off x="6727737" y="4239527"/>
                  <a:ext cx="654852" cy="378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D77FF916-A6C0-84A7-E17E-D15B6CA512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737" y="4239527"/>
                  <a:ext cx="654852" cy="378630"/>
                </a:xfrm>
                <a:prstGeom prst="rect">
                  <a:avLst/>
                </a:prstGeom>
                <a:blipFill>
                  <a:blip r:embed="rId10"/>
                  <a:stretch>
                    <a:fillRect t="-645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17E2437B-256F-472F-17DF-722B3942F652}"/>
                </a:ext>
              </a:extLst>
            </p:cNvPr>
            <p:cNvCxnSpPr>
              <a:cxnSpLocks/>
            </p:cNvCxnSpPr>
            <p:nvPr/>
          </p:nvCxnSpPr>
          <p:spPr>
            <a:xfrm>
              <a:off x="9731569" y="3373346"/>
              <a:ext cx="1117663" cy="222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BE4DF952-AFD2-8E76-C48E-F4B0FBB6194A}"/>
                </a:ext>
              </a:extLst>
            </p:cNvPr>
            <p:cNvCxnSpPr>
              <a:cxnSpLocks/>
              <a:endCxn id="15" idx="3"/>
            </p:cNvCxnSpPr>
            <p:nvPr/>
          </p:nvCxnSpPr>
          <p:spPr>
            <a:xfrm flipH="1">
              <a:off x="7598907" y="5114778"/>
              <a:ext cx="26914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a16:creationId xmlns:a16="http://schemas.microsoft.com/office/drawing/2014/main" id="{0E91260A-608B-9E75-CD7C-32765D9A7C77}"/>
                </a:ext>
              </a:extLst>
            </p:cNvPr>
            <p:cNvCxnSpPr>
              <a:cxnSpLocks/>
            </p:cNvCxnSpPr>
            <p:nvPr/>
          </p:nvCxnSpPr>
          <p:spPr>
            <a:xfrm>
              <a:off x="10273828" y="3373346"/>
              <a:ext cx="0" cy="172899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FA1C7B1A-6F57-F934-AE54-69E35CD87B83}"/>
                    </a:ext>
                  </a:extLst>
                </p:cNvPr>
                <p:cNvSpPr txBox="1"/>
                <p:nvPr/>
              </p:nvSpPr>
              <p:spPr>
                <a:xfrm>
                  <a:off x="10305540" y="3027411"/>
                  <a:ext cx="3808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FA1C7B1A-6F57-F934-AE54-69E35CD87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5540" y="3027411"/>
                  <a:ext cx="38081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円/楕円 91">
              <a:extLst>
                <a:ext uri="{FF2B5EF4-FFF2-40B4-BE49-F238E27FC236}">
                  <a16:creationId xmlns:a16="http://schemas.microsoft.com/office/drawing/2014/main" id="{7C90D3FF-BEED-092F-9977-4A95F73AE09E}"/>
                </a:ext>
              </a:extLst>
            </p:cNvPr>
            <p:cNvSpPr/>
            <p:nvPr/>
          </p:nvSpPr>
          <p:spPr>
            <a:xfrm>
              <a:off x="10237828" y="3365389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1629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A887476B-B504-D961-CF44-87D8C4AC7F80}"/>
              </a:ext>
            </a:extLst>
          </p:cNvPr>
          <p:cNvSpPr/>
          <p:nvPr/>
        </p:nvSpPr>
        <p:spPr>
          <a:xfrm>
            <a:off x="4897629" y="5021397"/>
            <a:ext cx="2275368" cy="956930"/>
          </a:xfrm>
          <a:prstGeom prst="round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9961B82-6CA2-11E8-63C0-8FB31E7AAFD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6370" y="1296365"/>
            <a:ext cx="11312270" cy="4549579"/>
            <a:chOff x="666370" y="1296365"/>
            <a:chExt cx="11312270" cy="4549579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69B8CFB9-3EE2-7FD6-6FD0-81EE731DFD1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029075" y="3536821"/>
              <a:ext cx="2195384" cy="793092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Subject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(UVA/Padova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33E9AA3-8A4A-0768-783D-10BA35672FB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712321" y="1931662"/>
              <a:ext cx="1952849" cy="734540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35DC7AA0-9DB6-78A9-70AC-83E0D668A83F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2244780" y="2938800"/>
              <a:ext cx="6094482" cy="1989135"/>
              <a:chOff x="3047283" y="2904075"/>
              <a:chExt cx="6094482" cy="1989135"/>
            </a:xfrm>
          </p:grpSpPr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D788DBA3-9147-82CA-36BE-48CEE55D920C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047283" y="2904075"/>
                <a:ext cx="6094482" cy="1989135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36EB6BFF-2872-3F0B-4662-0D97C3102E6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175590" y="3899127"/>
                <a:ext cx="1952849" cy="734540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Subcutaneous</a:t>
                </a: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Insulin</a:t>
                </a:r>
              </a:p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Kinetic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DF45FADA-EE35-4D13-8CE4-61A06B5FCF0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190795" y="3307271"/>
                <a:ext cx="1810410" cy="734532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Core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(Bergman model)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3" name="カギ線コネクタ 12">
                <a:extLst>
                  <a:ext uri="{FF2B5EF4-FFF2-40B4-BE49-F238E27FC236}">
                    <a16:creationId xmlns:a16="http://schemas.microsoft.com/office/drawing/2014/main" id="{C925BCA5-8017-917F-21AC-6AAED48A28C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7" idx="3"/>
                <a:endCxn id="8" idx="2"/>
              </p:cNvCxnSpPr>
              <p:nvPr/>
            </p:nvCxnSpPr>
            <p:spPr>
              <a:xfrm flipV="1">
                <a:off x="5128439" y="4041803"/>
                <a:ext cx="967561" cy="224594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305665B6-7EAA-B33E-A011-65DE5A30E5D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215243" y="3307271"/>
                <a:ext cx="1810410" cy="734532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Nonlinear</a:t>
                </a: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Programing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801FEEF3-56E4-AE3A-F66C-E8125E87AB4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336463" y="2937939"/>
                <a:ext cx="1805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/>
                  <a:t>Nonlinear MPC</a:t>
                </a:r>
                <a:endParaRPr kumimoji="1" lang="ja-JP" alt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34EFFAC-E569-D799-2CFE-8D3033625425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001906" y="1966727"/>
                  <a:ext cx="648059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34EFFAC-E569-D799-2CFE-8D3033625425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1906" y="1966727"/>
                  <a:ext cx="648059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テキスト ボックス 57">
                  <a:extLst>
                    <a:ext uri="{FF2B5EF4-FFF2-40B4-BE49-F238E27FC236}">
                      <a16:creationId xmlns:a16="http://schemas.microsoft.com/office/drawing/2014/main" id="{6AFB9704-070A-D042-91BA-9265A08C5AC7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10034169" y="1612983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58" name="テキスト ボックス 57">
                  <a:extLst>
                    <a:ext uri="{FF2B5EF4-FFF2-40B4-BE49-F238E27FC236}">
                      <a16:creationId xmlns:a16="http://schemas.microsoft.com/office/drawing/2014/main" id="{6AFB9704-070A-D042-91BA-9265A08C5AC7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4169" y="1612983"/>
                  <a:ext cx="81233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8167024E-60DE-742F-9F66-45A11A95A9D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6" idx="3"/>
              <a:endCxn id="3" idx="1"/>
            </p:cNvCxnSpPr>
            <p:nvPr/>
          </p:nvCxnSpPr>
          <p:spPr>
            <a:xfrm flipV="1">
              <a:off x="8339262" y="3933367"/>
              <a:ext cx="68981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31B8921D-A561-6FC3-F76F-3E9C957441A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38679" y="5214256"/>
              <a:ext cx="1756657" cy="631688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Extended Kalman filter</a:t>
              </a:r>
            </a:p>
          </p:txBody>
        </p:sp>
        <p:cxnSp>
          <p:nvCxnSpPr>
            <p:cNvPr id="66" name="カギ線コネクタ 65">
              <a:extLst>
                <a:ext uri="{FF2B5EF4-FFF2-40B4-BE49-F238E27FC236}">
                  <a16:creationId xmlns:a16="http://schemas.microsoft.com/office/drawing/2014/main" id="{CCF1FE39-CC61-E96F-12FD-9C90C20ED7FB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" idx="3"/>
            </p:cNvCxnSpPr>
            <p:nvPr/>
          </p:nvCxnSpPr>
          <p:spPr>
            <a:xfrm flipH="1">
              <a:off x="6995336" y="3933367"/>
              <a:ext cx="4229123" cy="1760272"/>
            </a:xfrm>
            <a:prstGeom prst="bentConnector3">
              <a:avLst>
                <a:gd name="adj1" fmla="val -540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DFC352B7-7927-2DE3-1D08-217F9904BCD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rot="10800000" flipV="1">
              <a:off x="6995336" y="3933367"/>
              <a:ext cx="1688832" cy="1472010"/>
            </a:xfrm>
            <a:prstGeom prst="bentConnector3">
              <a:avLst>
                <a:gd name="adj1" fmla="val 65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テキスト ボックス 73">
                  <a:extLst>
                    <a:ext uri="{FF2B5EF4-FFF2-40B4-BE49-F238E27FC236}">
                      <a16:creationId xmlns:a16="http://schemas.microsoft.com/office/drawing/2014/main" id="{9FDA9973-9DCF-AE99-4F98-E6956E59CEFE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8381703" y="3586482"/>
                  <a:ext cx="561500" cy="2984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𝑚𝑝𝑐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74" name="テキスト ボックス 73">
                  <a:extLst>
                    <a:ext uri="{FF2B5EF4-FFF2-40B4-BE49-F238E27FC236}">
                      <a16:creationId xmlns:a16="http://schemas.microsoft.com/office/drawing/2014/main" id="{9FDA9973-9DCF-AE99-4F98-E6956E59CEFE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1703" y="3586482"/>
                  <a:ext cx="561500" cy="298415"/>
                </a:xfrm>
                <a:prstGeom prst="rect">
                  <a:avLst/>
                </a:prstGeom>
                <a:blipFill>
                  <a:blip r:embed="rId5"/>
                  <a:stretch>
                    <a:fillRect l="-4444" r="-2222" b="-2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テキスト ボックス 74">
                  <a:extLst>
                    <a:ext uri="{FF2B5EF4-FFF2-40B4-BE49-F238E27FC236}">
                      <a16:creationId xmlns:a16="http://schemas.microsoft.com/office/drawing/2014/main" id="{CC83AA41-DA11-9576-A0AD-900FD8E7C2B6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11490686" y="3656368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75" name="テキスト ボックス 74">
                  <a:extLst>
                    <a:ext uri="{FF2B5EF4-FFF2-40B4-BE49-F238E27FC236}">
                      <a16:creationId xmlns:a16="http://schemas.microsoft.com/office/drawing/2014/main" id="{CC83AA41-DA11-9576-A0AD-900FD8E7C2B6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90686" y="3656368"/>
                  <a:ext cx="22172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1053" r="-10526"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50349986-A90A-AFCF-4624-C12BD347F9D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rot="10800000">
              <a:off x="2244780" y="4522090"/>
              <a:ext cx="2993900" cy="916761"/>
            </a:xfrm>
            <a:prstGeom prst="bentConnector3">
              <a:avLst>
                <a:gd name="adj1" fmla="val 11533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BD00C7EF-FF0D-8573-20CA-F2BF761707E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0126767" y="1296365"/>
              <a:ext cx="0" cy="225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0C522CAA-070B-AEE0-DE27-45FD4C8D549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endCxn id="6" idx="3"/>
            </p:cNvCxnSpPr>
            <p:nvPr/>
          </p:nvCxnSpPr>
          <p:spPr>
            <a:xfrm flipH="1">
              <a:off x="6665170" y="2298932"/>
              <a:ext cx="34615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円/楕円 96">
              <a:extLst>
                <a:ext uri="{FF2B5EF4-FFF2-40B4-BE49-F238E27FC236}">
                  <a16:creationId xmlns:a16="http://schemas.microsoft.com/office/drawing/2014/main" id="{894A0E35-E11A-82D3-5917-FC6051558DEC}"/>
                </a:ext>
              </a:extLst>
            </p:cNvPr>
            <p:cNvSpPr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90768" y="2262931"/>
              <a:ext cx="72000" cy="72001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9" name="カギ線コネクタ 98">
              <a:extLst>
                <a:ext uri="{FF2B5EF4-FFF2-40B4-BE49-F238E27FC236}">
                  <a16:creationId xmlns:a16="http://schemas.microsoft.com/office/drawing/2014/main" id="{DF5FA035-754E-8CF8-440A-F74CBE797D24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" idx="1"/>
            </p:cNvCxnSpPr>
            <p:nvPr/>
          </p:nvCxnSpPr>
          <p:spPr>
            <a:xfrm rot="10800000" flipH="1" flipV="1">
              <a:off x="4712321" y="2298932"/>
              <a:ext cx="526358" cy="3471948"/>
            </a:xfrm>
            <a:prstGeom prst="bentConnector4">
              <a:avLst>
                <a:gd name="adj1" fmla="val -618644"/>
                <a:gd name="adj2" fmla="val 100062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6A63A33D-5255-7D80-7D0C-698AFB29E7D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453480" y="4076528"/>
              <a:ext cx="7912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1EB33FF0-3AC0-7E5B-F59B-47EF6E6A2F11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" idx="3"/>
            </p:cNvCxnSpPr>
            <p:nvPr/>
          </p:nvCxnSpPr>
          <p:spPr>
            <a:xfrm>
              <a:off x="11224459" y="3933367"/>
              <a:ext cx="7541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D5FFFEFB-A69F-8142-7E20-B37C1E4E2A5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666370" y="3614840"/>
              <a:ext cx="15742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テキスト ボックス 109">
                  <a:extLst>
                    <a:ext uri="{FF2B5EF4-FFF2-40B4-BE49-F238E27FC236}">
                      <a16:creationId xmlns:a16="http://schemas.microsoft.com/office/drawing/2014/main" id="{4BDAC5DB-32E2-5FC1-E68E-0F2E891DE56B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956521" y="5166843"/>
                  <a:ext cx="1779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̂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110" name="テキスト ボックス 109">
                  <a:extLst>
                    <a:ext uri="{FF2B5EF4-FFF2-40B4-BE49-F238E27FC236}">
                      <a16:creationId xmlns:a16="http://schemas.microsoft.com/office/drawing/2014/main" id="{4BDAC5DB-32E2-5FC1-E68E-0F2E891DE56B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6521" y="5166843"/>
                  <a:ext cx="17793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6667" r="-26667"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1" name="テキスト ボックス 110">
                  <a:extLst>
                    <a:ext uri="{FF2B5EF4-FFF2-40B4-BE49-F238E27FC236}">
                      <a16:creationId xmlns:a16="http://schemas.microsoft.com/office/drawing/2014/main" id="{7B4D38FE-EB13-DA17-7BEF-90D8A0C3BBD1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17023" y="3237572"/>
                  <a:ext cx="501035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𝑟𝑒𝑓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111" name="テキスト ボックス 110">
                  <a:extLst>
                    <a:ext uri="{FF2B5EF4-FFF2-40B4-BE49-F238E27FC236}">
                      <a16:creationId xmlns:a16="http://schemas.microsoft.com/office/drawing/2014/main" id="{7B4D38FE-EB13-DA17-7BEF-90D8A0C3BBD1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023" y="3237572"/>
                  <a:ext cx="501035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10000" r="-7500" b="-2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16828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05">
                <a:extLst>
                  <a:ext uri="{FF2B5EF4-FFF2-40B4-BE49-F238E27FC236}">
                    <a16:creationId xmlns:a16="http://schemas.microsoft.com/office/drawing/2014/main" id="{4062773A-75EB-BF17-2692-2A060830ACC8}"/>
                  </a:ext>
                </a:extLst>
              </p:cNvPr>
              <p:cNvSpPr txBox="1"/>
              <p:nvPr/>
            </p:nvSpPr>
            <p:spPr>
              <a:xfrm>
                <a:off x="788769" y="636783"/>
                <a:ext cx="8123621" cy="8842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ja-JP" altLang="en-US" b="0" i="1" smtClean="0">
                                  <a:latin typeface="Cambria Math" panose="02040503050406030204" pitchFamily="18" charset="0"/>
                                </a:rPr>
                                <m:t>　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b="0" i="0" smtClean="0">
                                  <a:latin typeface="Cambria Math" panose="02040503050406030204" pitchFamily="18" charset="0"/>
                                </a:rPr>
                                <m:t>mode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 0)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                                (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mode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1)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JP" dirty="0"/>
              </a:p>
            </p:txBody>
          </p:sp>
        </mc:Choice>
        <mc:Fallback xmlns="">
          <p:sp>
            <p:nvSpPr>
              <p:cNvPr id="5" name="TextBox 405">
                <a:extLst>
                  <a:ext uri="{FF2B5EF4-FFF2-40B4-BE49-F238E27FC236}">
                    <a16:creationId xmlns:a16="http://schemas.microsoft.com/office/drawing/2014/main" id="{4062773A-75EB-BF17-2692-2A060830A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69" y="636783"/>
                <a:ext cx="8123621" cy="884281"/>
              </a:xfrm>
              <a:prstGeom prst="rect">
                <a:avLst/>
              </a:prstGeom>
              <a:blipFill>
                <a:blip r:embed="rId2"/>
                <a:stretch>
                  <a:fillRect l="-3276" t="-225000" b="-31944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383">
                <a:extLst>
                  <a:ext uri="{FF2B5EF4-FFF2-40B4-BE49-F238E27FC236}">
                    <a16:creationId xmlns:a16="http://schemas.microsoft.com/office/drawing/2014/main" id="{97734043-6121-B54D-8AD5-8AD21F25F8B0}"/>
                  </a:ext>
                </a:extLst>
              </p:cNvPr>
              <p:cNvSpPr txBox="1"/>
              <p:nvPr/>
            </p:nvSpPr>
            <p:spPr>
              <a:xfrm>
                <a:off x="1129664" y="2592991"/>
                <a:ext cx="4731344" cy="8842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)=0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)=1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JP" sz="1600" dirty="0"/>
              </a:p>
            </p:txBody>
          </p:sp>
        </mc:Choice>
        <mc:Fallback xmlns="">
          <p:sp>
            <p:nvSpPr>
              <p:cNvPr id="6" name="TextBox 383">
                <a:extLst>
                  <a:ext uri="{FF2B5EF4-FFF2-40B4-BE49-F238E27FC236}">
                    <a16:creationId xmlns:a16="http://schemas.microsoft.com/office/drawing/2014/main" id="{97734043-6121-B54D-8AD5-8AD21F25F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664" y="2592991"/>
                <a:ext cx="4731344" cy="884281"/>
              </a:xfrm>
              <a:prstGeom prst="rect">
                <a:avLst/>
              </a:prstGeom>
              <a:blipFill>
                <a:blip r:embed="rId3"/>
                <a:stretch>
                  <a:fillRect l="-10963" t="-232857" r="-1604" b="-33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84">
                <a:extLst>
                  <a:ext uri="{FF2B5EF4-FFF2-40B4-BE49-F238E27FC236}">
                    <a16:creationId xmlns:a16="http://schemas.microsoft.com/office/drawing/2014/main" id="{4AEE9D72-BAE3-B94E-238F-76C29DEAE30A}"/>
                  </a:ext>
                </a:extLst>
              </p:cNvPr>
              <p:cNvSpPr txBox="1"/>
              <p:nvPr/>
            </p:nvSpPr>
            <p:spPr>
              <a:xfrm>
                <a:off x="1129664" y="4700317"/>
                <a:ext cx="2983810" cy="5866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JP" dirty="0"/>
              </a:p>
            </p:txBody>
          </p:sp>
        </mc:Choice>
        <mc:Fallback xmlns="">
          <p:sp>
            <p:nvSpPr>
              <p:cNvPr id="7" name="TextBox 384">
                <a:extLst>
                  <a:ext uri="{FF2B5EF4-FFF2-40B4-BE49-F238E27FC236}">
                    <a16:creationId xmlns:a16="http://schemas.microsoft.com/office/drawing/2014/main" id="{4AEE9D72-BAE3-B94E-238F-76C29DEAE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664" y="4700317"/>
                <a:ext cx="2983810" cy="586699"/>
              </a:xfrm>
              <a:prstGeom prst="rect">
                <a:avLst/>
              </a:prstGeom>
              <a:blipFill>
                <a:blip r:embed="rId4"/>
                <a:stretch>
                  <a:fillRect b="-170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399">
                <a:extLst>
                  <a:ext uri="{FF2B5EF4-FFF2-40B4-BE49-F238E27FC236}">
                    <a16:creationId xmlns:a16="http://schemas.microsoft.com/office/drawing/2014/main" id="{47C9607B-4030-1198-2CFA-B1AA99844540}"/>
                  </a:ext>
                </a:extLst>
              </p:cNvPr>
              <p:cNvSpPr txBox="1"/>
              <p:nvPr/>
            </p:nvSpPr>
            <p:spPr>
              <a:xfrm>
                <a:off x="584415" y="1618827"/>
                <a:ext cx="3503918" cy="871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JP" sz="1600" dirty="0"/>
              </a:p>
            </p:txBody>
          </p:sp>
        </mc:Choice>
        <mc:Fallback xmlns="">
          <p:sp>
            <p:nvSpPr>
              <p:cNvPr id="8" name="TextBox 399">
                <a:extLst>
                  <a:ext uri="{FF2B5EF4-FFF2-40B4-BE49-F238E27FC236}">
                    <a16:creationId xmlns:a16="http://schemas.microsoft.com/office/drawing/2014/main" id="{47C9607B-4030-1198-2CFA-B1AA99844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415" y="1618827"/>
                <a:ext cx="3503918" cy="871457"/>
              </a:xfrm>
              <a:prstGeom prst="rect">
                <a:avLst/>
              </a:prstGeom>
              <a:blipFill>
                <a:blip r:embed="rId5"/>
                <a:stretch>
                  <a:fillRect t="-94286" b="-14857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404">
                <a:extLst>
                  <a:ext uri="{FF2B5EF4-FFF2-40B4-BE49-F238E27FC236}">
                    <a16:creationId xmlns:a16="http://schemas.microsoft.com/office/drawing/2014/main" id="{D22B2661-4C85-FD6A-32E0-01DE88002FCE}"/>
                  </a:ext>
                </a:extLst>
              </p:cNvPr>
              <p:cNvSpPr txBox="1"/>
              <p:nvPr/>
            </p:nvSpPr>
            <p:spPr>
              <a:xfrm>
                <a:off x="1120620" y="3713329"/>
                <a:ext cx="4289444" cy="8358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JP" sz="1600" dirty="0"/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0 0 1 1 0 0 0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JP" i="1" dirty="0">
                    <a:latin typeface="Cambria Math" panose="02040503050406030204" pitchFamily="18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1 0 0 0 0 0 0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JP" sz="1600" i="1" dirty="0">
                    <a:latin typeface="Cambria Math" panose="02040503050406030204" pitchFamily="18" charset="0"/>
                  </a:rPr>
                  <a:t>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endParaRPr lang="en-JP" sz="1600" dirty="0"/>
              </a:p>
            </p:txBody>
          </p:sp>
        </mc:Choice>
        <mc:Fallback xmlns="">
          <p:sp>
            <p:nvSpPr>
              <p:cNvPr id="9" name="TextBox 404">
                <a:extLst>
                  <a:ext uri="{FF2B5EF4-FFF2-40B4-BE49-F238E27FC236}">
                    <a16:creationId xmlns:a16="http://schemas.microsoft.com/office/drawing/2014/main" id="{D22B2661-4C85-FD6A-32E0-01DE88002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620" y="3713329"/>
                <a:ext cx="4289444" cy="835870"/>
              </a:xfrm>
              <a:prstGeom prst="rect">
                <a:avLst/>
              </a:prstGeom>
              <a:blipFill>
                <a:blip r:embed="rId6"/>
                <a:stretch>
                  <a:fillRect l="-2071" t="-14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407">
            <a:extLst>
              <a:ext uri="{FF2B5EF4-FFF2-40B4-BE49-F238E27FC236}">
                <a16:creationId xmlns:a16="http://schemas.microsoft.com/office/drawing/2014/main" id="{FD73BDEA-3E98-6766-9BE7-1983375D4910}"/>
              </a:ext>
            </a:extLst>
          </p:cNvPr>
          <p:cNvGrpSpPr/>
          <p:nvPr/>
        </p:nvGrpSpPr>
        <p:grpSpPr>
          <a:xfrm>
            <a:off x="6242614" y="2965892"/>
            <a:ext cx="5339552" cy="3468849"/>
            <a:chOff x="492246" y="2763288"/>
            <a:chExt cx="6971214" cy="3735506"/>
          </a:xfrm>
        </p:grpSpPr>
        <p:grpSp>
          <p:nvGrpSpPr>
            <p:cNvPr id="11" name="グループ化 91">
              <a:extLst>
                <a:ext uri="{FF2B5EF4-FFF2-40B4-BE49-F238E27FC236}">
                  <a16:creationId xmlns:a16="http://schemas.microsoft.com/office/drawing/2014/main" id="{EFACD701-2AB5-C157-2767-5710CB808D72}"/>
                </a:ext>
              </a:extLst>
            </p:cNvPr>
            <p:cNvGrpSpPr/>
            <p:nvPr/>
          </p:nvGrpSpPr>
          <p:grpSpPr>
            <a:xfrm>
              <a:off x="1650590" y="2897727"/>
              <a:ext cx="2636019" cy="1235034"/>
              <a:chOff x="1074479" y="1180107"/>
              <a:chExt cx="2636019" cy="1235034"/>
            </a:xfrm>
          </p:grpSpPr>
          <p:sp>
            <p:nvSpPr>
              <p:cNvPr id="30" name="角丸四角形 28">
                <a:extLst>
                  <a:ext uri="{FF2B5EF4-FFF2-40B4-BE49-F238E27FC236}">
                    <a16:creationId xmlns:a16="http://schemas.microsoft.com/office/drawing/2014/main" id="{A05DFE2F-FA44-EEF6-117E-74DD2FEE68F2}"/>
                  </a:ext>
                </a:extLst>
              </p:cNvPr>
              <p:cNvSpPr/>
              <p:nvPr/>
            </p:nvSpPr>
            <p:spPr>
              <a:xfrm>
                <a:off x="1074479" y="1180107"/>
                <a:ext cx="2163040" cy="123503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200"/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8C71F86A-1835-DAEC-6F40-F1A28994015E}"/>
                  </a:ext>
                </a:extLst>
              </p:cNvPr>
              <p:cNvSpPr txBox="1"/>
              <p:nvPr/>
            </p:nvSpPr>
            <p:spPr>
              <a:xfrm>
                <a:off x="1216679" y="1218058"/>
                <a:ext cx="2493819" cy="551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b="1" dirty="0"/>
                  <a:t>Subject (UVA/Padova Model)</a:t>
                </a:r>
                <a:endParaRPr lang="ja-JP" altLang="en-US" sz="1600" b="1"/>
              </a:p>
            </p:txBody>
          </p:sp>
        </p:grpSp>
        <p:sp>
          <p:nvSpPr>
            <p:cNvPr id="12" name="テキスト ボックス 93">
              <a:extLst>
                <a:ext uri="{FF2B5EF4-FFF2-40B4-BE49-F238E27FC236}">
                  <a16:creationId xmlns:a16="http://schemas.microsoft.com/office/drawing/2014/main" id="{3DEEB9A9-6CF1-8624-9971-4C10907D4222}"/>
                </a:ext>
              </a:extLst>
            </p:cNvPr>
            <p:cNvSpPr txBox="1"/>
            <p:nvPr/>
          </p:nvSpPr>
          <p:spPr>
            <a:xfrm>
              <a:off x="492246" y="3030598"/>
              <a:ext cx="676700" cy="31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600" b="1" dirty="0"/>
                <a:t>Input</a:t>
              </a:r>
              <a:endParaRPr lang="ja-JP" altLang="en-US" sz="1600" b="1"/>
            </a:p>
          </p:txBody>
        </p:sp>
        <p:cxnSp>
          <p:nvCxnSpPr>
            <p:cNvPr id="13" name="直線矢印コネクタ 94">
              <a:extLst>
                <a:ext uri="{FF2B5EF4-FFF2-40B4-BE49-F238E27FC236}">
                  <a16:creationId xmlns:a16="http://schemas.microsoft.com/office/drawing/2014/main" id="{10F03FB8-FF19-FE51-F037-FA83CBE5D4F6}"/>
                </a:ext>
              </a:extLst>
            </p:cNvPr>
            <p:cNvCxnSpPr/>
            <p:nvPr/>
          </p:nvCxnSpPr>
          <p:spPr>
            <a:xfrm>
              <a:off x="567469" y="3492262"/>
              <a:ext cx="108312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矢印コネクタ 99">
              <a:extLst>
                <a:ext uri="{FF2B5EF4-FFF2-40B4-BE49-F238E27FC236}">
                  <a16:creationId xmlns:a16="http://schemas.microsoft.com/office/drawing/2014/main" id="{D8A896FC-5CE2-B646-C265-A2C0BE3F270B}"/>
                </a:ext>
              </a:extLst>
            </p:cNvPr>
            <p:cNvCxnSpPr/>
            <p:nvPr/>
          </p:nvCxnSpPr>
          <p:spPr>
            <a:xfrm>
              <a:off x="4524347" y="3592324"/>
              <a:ext cx="0" cy="1557652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03">
              <a:extLst>
                <a:ext uri="{FF2B5EF4-FFF2-40B4-BE49-F238E27FC236}">
                  <a16:creationId xmlns:a16="http://schemas.microsoft.com/office/drawing/2014/main" id="{88040747-12FF-A55B-E6DF-83C92B51E100}"/>
                </a:ext>
              </a:extLst>
            </p:cNvPr>
            <p:cNvCxnSpPr/>
            <p:nvPr/>
          </p:nvCxnSpPr>
          <p:spPr>
            <a:xfrm>
              <a:off x="3813630" y="3499881"/>
              <a:ext cx="12231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円/楕円 111">
              <a:extLst>
                <a:ext uri="{FF2B5EF4-FFF2-40B4-BE49-F238E27FC236}">
                  <a16:creationId xmlns:a16="http://schemas.microsoft.com/office/drawing/2014/main" id="{6141A2B9-2A49-2896-3760-5E4D8B76538F}"/>
                </a:ext>
              </a:extLst>
            </p:cNvPr>
            <p:cNvSpPr/>
            <p:nvPr/>
          </p:nvSpPr>
          <p:spPr>
            <a:xfrm>
              <a:off x="4447267" y="3422801"/>
              <a:ext cx="154161" cy="154161"/>
            </a:xfrm>
            <a:prstGeom prst="ellipse">
              <a:avLst/>
            </a:prstGeom>
            <a:solidFill>
              <a:schemeClr val="tx1"/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200"/>
            </a:p>
          </p:txBody>
        </p:sp>
        <p:cxnSp>
          <p:nvCxnSpPr>
            <p:cNvPr id="17" name="直線矢印コネクタ 130">
              <a:extLst>
                <a:ext uri="{FF2B5EF4-FFF2-40B4-BE49-F238E27FC236}">
                  <a16:creationId xmlns:a16="http://schemas.microsoft.com/office/drawing/2014/main" id="{C7811525-FBC4-56A2-4211-BC1C6067C310}"/>
                </a:ext>
              </a:extLst>
            </p:cNvPr>
            <p:cNvCxnSpPr>
              <a:stCxn id="21" idx="2"/>
            </p:cNvCxnSpPr>
            <p:nvPr/>
          </p:nvCxnSpPr>
          <p:spPr>
            <a:xfrm>
              <a:off x="5966722" y="4589678"/>
              <a:ext cx="4143" cy="580889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グループ化 138">
              <a:extLst>
                <a:ext uri="{FF2B5EF4-FFF2-40B4-BE49-F238E27FC236}">
                  <a16:creationId xmlns:a16="http://schemas.microsoft.com/office/drawing/2014/main" id="{DAA016FD-F02C-56E0-DCE8-51658CCD5883}"/>
                </a:ext>
              </a:extLst>
            </p:cNvPr>
            <p:cNvGrpSpPr/>
            <p:nvPr/>
          </p:nvGrpSpPr>
          <p:grpSpPr>
            <a:xfrm>
              <a:off x="3343067" y="5189686"/>
              <a:ext cx="3611630" cy="1309108"/>
              <a:chOff x="4289083" y="8237024"/>
              <a:chExt cx="3611630" cy="1309108"/>
            </a:xfrm>
          </p:grpSpPr>
          <p:grpSp>
            <p:nvGrpSpPr>
              <p:cNvPr id="25" name="グループ化 139">
                <a:extLst>
                  <a:ext uri="{FF2B5EF4-FFF2-40B4-BE49-F238E27FC236}">
                    <a16:creationId xmlns:a16="http://schemas.microsoft.com/office/drawing/2014/main" id="{8797F719-230B-9C03-D232-5AEAE01AF172}"/>
                  </a:ext>
                </a:extLst>
              </p:cNvPr>
              <p:cNvGrpSpPr/>
              <p:nvPr/>
            </p:nvGrpSpPr>
            <p:grpSpPr>
              <a:xfrm>
                <a:off x="4289083" y="8237024"/>
                <a:ext cx="3611630" cy="1309108"/>
                <a:chOff x="4289083" y="8260008"/>
                <a:chExt cx="3611630" cy="1309108"/>
              </a:xfrm>
            </p:grpSpPr>
            <p:sp>
              <p:nvSpPr>
                <p:cNvPr id="27" name="角丸四角形 141">
                  <a:extLst>
                    <a:ext uri="{FF2B5EF4-FFF2-40B4-BE49-F238E27FC236}">
                      <a16:creationId xmlns:a16="http://schemas.microsoft.com/office/drawing/2014/main" id="{FDAEA3CE-A202-3902-8A92-65C55D916597}"/>
                    </a:ext>
                  </a:extLst>
                </p:cNvPr>
                <p:cNvSpPr/>
                <p:nvPr/>
              </p:nvSpPr>
              <p:spPr>
                <a:xfrm>
                  <a:off x="4289083" y="8260008"/>
                  <a:ext cx="3490927" cy="1309108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200"/>
                </a:p>
              </p:txBody>
            </p:sp>
            <p:sp>
              <p:nvSpPr>
                <p:cNvPr id="28" name="テキスト ボックス 142">
                  <a:extLst>
                    <a:ext uri="{FF2B5EF4-FFF2-40B4-BE49-F238E27FC236}">
                      <a16:creationId xmlns:a16="http://schemas.microsoft.com/office/drawing/2014/main" id="{7D27B85E-8881-6E38-70B8-C94EADA13C84}"/>
                    </a:ext>
                  </a:extLst>
                </p:cNvPr>
                <p:cNvSpPr txBox="1"/>
                <p:nvPr/>
              </p:nvSpPr>
              <p:spPr>
                <a:xfrm>
                  <a:off x="4473674" y="8294099"/>
                  <a:ext cx="3427039" cy="319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1600" b="1" dirty="0"/>
                    <a:t>Parameter Estimation</a:t>
                  </a:r>
                  <a:endParaRPr lang="ja-JP" altLang="en-US" sz="1600" b="1"/>
                </a:p>
              </p:txBody>
            </p:sp>
            <p:sp>
              <p:nvSpPr>
                <p:cNvPr id="29" name="角丸四角形 143">
                  <a:extLst>
                    <a:ext uri="{FF2B5EF4-FFF2-40B4-BE49-F238E27FC236}">
                      <a16:creationId xmlns:a16="http://schemas.microsoft.com/office/drawing/2014/main" id="{2039E6AC-BA06-F5F2-39E4-EE5FDB546D68}"/>
                    </a:ext>
                  </a:extLst>
                </p:cNvPr>
                <p:cNvSpPr/>
                <p:nvPr/>
              </p:nvSpPr>
              <p:spPr>
                <a:xfrm>
                  <a:off x="4694198" y="8776287"/>
                  <a:ext cx="2718860" cy="659537"/>
                </a:xfrm>
                <a:prstGeom prst="round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200"/>
                </a:p>
              </p:txBody>
            </p:sp>
          </p:grpSp>
          <p:sp>
            <p:nvSpPr>
              <p:cNvPr id="26" name="テキスト ボックス 140">
                <a:extLst>
                  <a:ext uri="{FF2B5EF4-FFF2-40B4-BE49-F238E27FC236}">
                    <a16:creationId xmlns:a16="http://schemas.microsoft.com/office/drawing/2014/main" id="{54ECFBFC-1506-0221-DEFA-4CF3917CAF4A}"/>
                  </a:ext>
                </a:extLst>
              </p:cNvPr>
              <p:cNvSpPr txBox="1"/>
              <p:nvPr/>
            </p:nvSpPr>
            <p:spPr>
              <a:xfrm>
                <a:off x="5328057" y="8863648"/>
                <a:ext cx="1666516" cy="319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b="1" dirty="0"/>
                  <a:t>SSOGMM</a:t>
                </a:r>
                <a:endParaRPr lang="ja-JP" altLang="en-US" sz="1600" b="1"/>
              </a:p>
            </p:txBody>
          </p:sp>
        </p:grpSp>
        <p:cxnSp>
          <p:nvCxnSpPr>
            <p:cNvPr id="19" name="直線矢印コネクタ 144">
              <a:extLst>
                <a:ext uri="{FF2B5EF4-FFF2-40B4-BE49-F238E27FC236}">
                  <a16:creationId xmlns:a16="http://schemas.microsoft.com/office/drawing/2014/main" id="{4CE97991-EE88-5600-0DAE-C72A8EFDFADB}"/>
                </a:ext>
              </a:extLst>
            </p:cNvPr>
            <p:cNvCxnSpPr/>
            <p:nvPr/>
          </p:nvCxnSpPr>
          <p:spPr>
            <a:xfrm>
              <a:off x="6833995" y="5844240"/>
              <a:ext cx="62946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45">
                  <a:extLst>
                    <a:ext uri="{FF2B5EF4-FFF2-40B4-BE49-F238E27FC236}">
                      <a16:creationId xmlns:a16="http://schemas.microsoft.com/office/drawing/2014/main" id="{F3904DB0-02CE-39DD-9744-DD3D00569253}"/>
                    </a:ext>
                  </a:extLst>
                </p:cNvPr>
                <p:cNvSpPr txBox="1"/>
                <p:nvPr/>
              </p:nvSpPr>
              <p:spPr>
                <a:xfrm>
                  <a:off x="7061851" y="5446978"/>
                  <a:ext cx="253992" cy="23223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1600"/>
                </a:p>
              </p:txBody>
            </p:sp>
          </mc:Choice>
          <mc:Fallback xmlns="">
            <p:sp>
              <p:nvSpPr>
                <p:cNvPr id="20" name="テキスト ボックス 145">
                  <a:extLst>
                    <a:ext uri="{FF2B5EF4-FFF2-40B4-BE49-F238E27FC236}">
                      <a16:creationId xmlns:a16="http://schemas.microsoft.com/office/drawing/2014/main" id="{F3904DB0-02CE-39DD-9744-DD3D005692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1851" y="5446978"/>
                  <a:ext cx="253992" cy="232236"/>
                </a:xfrm>
                <a:prstGeom prst="rect">
                  <a:avLst/>
                </a:prstGeom>
                <a:blipFill>
                  <a:blip r:embed="rId7"/>
                  <a:stretch>
                    <a:fillRect l="-40000" r="-26667" b="-2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角丸四角形 168">
              <a:extLst>
                <a:ext uri="{FF2B5EF4-FFF2-40B4-BE49-F238E27FC236}">
                  <a16:creationId xmlns:a16="http://schemas.microsoft.com/office/drawing/2014/main" id="{626151C9-A1EB-4DA0-E99F-85C28718C0A5}"/>
                </a:ext>
              </a:extLst>
            </p:cNvPr>
            <p:cNvSpPr/>
            <p:nvPr/>
          </p:nvSpPr>
          <p:spPr>
            <a:xfrm>
              <a:off x="5045235" y="2763288"/>
              <a:ext cx="1842973" cy="182639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200"/>
            </a:p>
          </p:txBody>
        </p:sp>
        <p:sp>
          <p:nvSpPr>
            <p:cNvPr id="22" name="テキスト ボックス 169">
              <a:extLst>
                <a:ext uri="{FF2B5EF4-FFF2-40B4-BE49-F238E27FC236}">
                  <a16:creationId xmlns:a16="http://schemas.microsoft.com/office/drawing/2014/main" id="{C9B057F9-3118-45B2-A782-5EAF444AC887}"/>
                </a:ext>
              </a:extLst>
            </p:cNvPr>
            <p:cNvSpPr txBox="1"/>
            <p:nvPr/>
          </p:nvSpPr>
          <p:spPr>
            <a:xfrm>
              <a:off x="5193632" y="3199429"/>
              <a:ext cx="1897657" cy="6096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b="1" dirty="0"/>
                <a:t>Mode </a:t>
              </a:r>
              <a:br>
                <a:rPr lang="en-US" altLang="ja-JP" b="1" dirty="0"/>
              </a:br>
              <a:r>
                <a:rPr lang="en-US" altLang="ja-JP" b="1" dirty="0"/>
                <a:t>Estimator</a:t>
              </a:r>
              <a:endParaRPr lang="ja-JP" altLang="en-US"/>
            </a:p>
          </p:txBody>
        </p:sp>
        <p:sp>
          <p:nvSpPr>
            <p:cNvPr id="23" name="テキスト ボックス 93">
              <a:extLst>
                <a:ext uri="{FF2B5EF4-FFF2-40B4-BE49-F238E27FC236}">
                  <a16:creationId xmlns:a16="http://schemas.microsoft.com/office/drawing/2014/main" id="{C534665F-17CF-82BD-2E7D-C454ECFA671F}"/>
                </a:ext>
              </a:extLst>
            </p:cNvPr>
            <p:cNvSpPr txBox="1"/>
            <p:nvPr/>
          </p:nvSpPr>
          <p:spPr>
            <a:xfrm>
              <a:off x="3801038" y="3005609"/>
              <a:ext cx="949710" cy="31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600" b="1" dirty="0"/>
                <a:t>Glucose</a:t>
              </a:r>
              <a:endParaRPr lang="ja-JP" altLang="en-US" sz="1600" b="1"/>
            </a:p>
          </p:txBody>
        </p:sp>
        <p:sp>
          <p:nvSpPr>
            <p:cNvPr id="24" name="テキスト ボックス 93">
              <a:extLst>
                <a:ext uri="{FF2B5EF4-FFF2-40B4-BE49-F238E27FC236}">
                  <a16:creationId xmlns:a16="http://schemas.microsoft.com/office/drawing/2014/main" id="{679466FF-D6CF-65CC-F692-0B998C961E05}"/>
                </a:ext>
              </a:extLst>
            </p:cNvPr>
            <p:cNvSpPr txBox="1"/>
            <p:nvPr/>
          </p:nvSpPr>
          <p:spPr>
            <a:xfrm>
              <a:off x="6080291" y="4649290"/>
              <a:ext cx="716578" cy="31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600" b="1" dirty="0"/>
                <a:t>Mode</a:t>
              </a:r>
              <a:endParaRPr lang="ja-JP" altLang="en-US" sz="1600" b="1"/>
            </a:p>
          </p:txBody>
        </p:sp>
      </p:grpSp>
    </p:spTree>
    <p:extLst>
      <p:ext uri="{BB962C8B-B14F-4D97-AF65-F5344CB8AC3E}">
        <p14:creationId xmlns:p14="http://schemas.microsoft.com/office/powerpoint/2010/main" val="216376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142</Words>
  <Application>Microsoft Macintosh PowerPoint</Application>
  <PresentationFormat>ワイド画面</PresentationFormat>
  <Paragraphs>69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Hiragino Kaku Gothic ProN W3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田辺　裕翔</dc:creator>
  <cp:lastModifiedBy>田辺　裕翔</cp:lastModifiedBy>
  <cp:revision>7</cp:revision>
  <dcterms:created xsi:type="dcterms:W3CDTF">2025-11-28T05:01:36Z</dcterms:created>
  <dcterms:modified xsi:type="dcterms:W3CDTF">2025-12-01T06:56:04Z</dcterms:modified>
</cp:coreProperties>
</file>