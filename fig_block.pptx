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6" r:id="rId4"/>
    <p:sldId id="259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>
      <p:cViewPr varScale="1">
        <p:scale>
          <a:sx n="86" d="100"/>
          <a:sy n="86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555FC-1C24-D242-9DBA-D8E21E687854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3AF47-5DE5-2442-9382-352522030B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869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3AF47-5DE5-2442-9382-352522030BC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89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Uva/</a:t>
            </a:r>
            <a:r>
              <a:rPr kumimoji="1" lang="en-US" altLang="ja-JP" dirty="0" err="1"/>
              <a:t>padova</a:t>
            </a:r>
            <a:r>
              <a:rPr kumimoji="1" lang="en-US" altLang="ja-JP" dirty="0"/>
              <a:t> </a:t>
            </a:r>
            <a:r>
              <a:rPr kumimoji="1" lang="en-US" altLang="ja-JP"/>
              <a:t>schematic diagram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5A8268-EDFD-7C4D-910B-5F90A453743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35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437290-0E8C-E788-667E-CE4210729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63AB59-F97A-E6DE-1C46-FB4B342A9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80A9FB-0B75-2AD7-F138-77F12F8A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4FFDB5-AFAB-D999-7D39-1978B52B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8AE655-901E-1D98-A180-37C6C467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443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A524A2-E5BD-EABF-7D8D-E1CCBF67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A7AFC2-63C5-3AE4-8221-FEA9054AD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C80442-E99D-7AE6-F221-6B21234F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1890E0-E128-3287-DC94-BE8A3A79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2ADFE5-8508-791F-3491-5E2406815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303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A174F-76B4-6726-7A24-9A62A1FE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205164-76EB-9A17-B4E1-746FFE6E6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382C2F-E526-6109-12F9-3A80F88A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E9C520-5092-0832-1C50-CB6BEAB6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702FDA-953D-041B-6301-8BB50C5E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36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43994-CA8F-4AC0-F78A-99E8B4FC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73950C-0946-103C-A3E8-3CBCC3BD0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5957FF-994D-D649-CEEC-4EFB25848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896DFF-5CDF-AA63-8174-36CC44962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2BCAE1-327A-4887-8FC6-CD5C534A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92FDDF-1D44-0F97-30D0-A8DCAC70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650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8A680E-AC27-210F-14AF-91B3F372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936AA2-99FE-4C38-B1D0-613CD8EDD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923DB1-168A-BBD6-FD6B-2296FA7D5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C27C0E5-AC3B-3F37-59B1-D16C5E415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C22B99E-7D3A-E746-BC0D-B561787E4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D33D7F-ADB7-135E-A477-28915FDFB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83C925-DCDE-5EF3-16DC-BD1E5AFF6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DA1A1B9-1C4A-8678-3C5B-5CC071EC0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80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533C4-2257-FC05-A42A-197B3435F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D7D4308-1525-DC5C-1D4C-9B861568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6F4020-A0AF-9003-E8BA-6F3A39A6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C0F44F-EFAC-B0A4-C6A7-BD657204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249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1860B4E-CCB4-026C-1794-17341B3C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708962-1229-EDFE-FE23-311A1CA9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3C176F-297B-185E-403B-EADCACBB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69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D08C9-8954-E0A7-3F76-7227B8F5E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B4B7F8-47DE-4267-6C70-F294B780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59C264-D16F-0CDE-79B9-980A8DF88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108F78-2946-C951-4EC1-B211B184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BBD874-B92B-A420-419C-5C0F78C0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3CBA39-4912-1086-88E1-3BA1E522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45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80E0B-73D6-86FB-CF37-A9EA23B95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084CE7-0A1C-704E-6171-1380D3AE9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B20A49-7C2E-8E47-8AE0-A08B94012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C1E5D5-AD40-2E05-EBEC-F838FF87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26A44-8AD2-C49B-1949-712DF62C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E0029D-4C26-40F3-47C6-49FCE3FB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7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B5555-F0CE-6EC6-C54E-C13F49DFB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14D059-D361-E7A0-4A1D-03E1504A6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EB1EDD-D437-8DEE-F9CD-712EE6E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DA0ACD-059E-7DDA-158D-10D977B7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4E81F6-D263-F479-8EE8-DCC357D2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4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96B576-0F9B-BF36-9A2D-31854EEA0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CBE04A-0042-DCB0-D08B-134AAF419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61AA22-342D-4E06-8303-6ED2EC50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5B7EBF-01ED-93D0-BF32-EECF104B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BC7C8-876A-AE2C-E5D0-4993831B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82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CFC32A-6E7B-68CF-6CFF-2D56BBAD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D8E867-4352-D270-AFFD-543BC203C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F9E13F-13B1-F594-13EE-4204C07B4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FA69C-DAD2-554C-9FC0-6F806BE9F0DF}" type="datetimeFigureOut">
              <a:rPr kumimoji="1" lang="ja-JP" altLang="en-US" smtClean="0"/>
              <a:t>2025/12/2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8DD08D-7AB2-FDDC-197D-77D2F3236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4AC273-17F8-A786-8848-13425B46A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E1998-13DF-CF4A-AF46-DB9CD29F96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599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18" Type="http://schemas.openxmlformats.org/officeDocument/2006/relationships/image" Target="../media/image75.png"/><Relationship Id="rId3" Type="http://schemas.openxmlformats.org/officeDocument/2006/relationships/image" Target="../media/image60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1.png"/><Relationship Id="rId7" Type="http://schemas.openxmlformats.org/officeDocument/2006/relationships/image" Target="../media/image110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1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BFC2C77-6511-50FC-B05D-6D69FC7CF846}"/>
              </a:ext>
            </a:extLst>
          </p:cNvPr>
          <p:cNvGrpSpPr/>
          <p:nvPr/>
        </p:nvGrpSpPr>
        <p:grpSpPr>
          <a:xfrm>
            <a:off x="2867114" y="2676606"/>
            <a:ext cx="6800954" cy="1939314"/>
            <a:chOff x="2867114" y="2676606"/>
            <a:chExt cx="6800954" cy="1939314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5D4B432-56CD-66FC-5721-0C37C68C375D}"/>
                </a:ext>
              </a:extLst>
            </p:cNvPr>
            <p:cNvSpPr/>
            <p:nvPr/>
          </p:nvSpPr>
          <p:spPr>
            <a:xfrm>
              <a:off x="3968160" y="2676606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48B35F4-2A48-45A2-622E-ABB70A75C173}"/>
                </a:ext>
              </a:extLst>
            </p:cNvPr>
            <p:cNvSpPr/>
            <p:nvPr/>
          </p:nvSpPr>
          <p:spPr>
            <a:xfrm>
              <a:off x="3968160" y="3805058"/>
              <a:ext cx="2027641" cy="81086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Kinetic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E084AA3A-6B76-3B79-1CE5-9B66CCD97AB2}"/>
                </a:ext>
              </a:extLst>
            </p:cNvPr>
            <p:cNvSpPr/>
            <p:nvPr/>
          </p:nvSpPr>
          <p:spPr>
            <a:xfrm>
              <a:off x="7009621" y="3143369"/>
              <a:ext cx="2027641" cy="101701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Core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(Bergman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22FA7B4-0C60-E56E-09C0-966175A319E9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3082037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5C54B51D-CCC4-5A26-AEFA-FD7C3C9BD46E}"/>
                    </a:ext>
                  </a:extLst>
                </p:cNvPr>
                <p:cNvSpPr txBox="1"/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5C54B51D-CCC4-5A26-AEFA-FD7C3C9BD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7114" y="2676606"/>
                  <a:ext cx="909809" cy="51137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5F99FF0D-55C5-4ECF-2F99-505147AAD403}"/>
                    </a:ext>
                  </a:extLst>
                </p:cNvPr>
                <p:cNvSpPr txBox="1"/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5F99FF0D-55C5-4ECF-2F99-505147AAD4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1256" y="2945434"/>
                  <a:ext cx="574942" cy="51137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1CCA9E03-B3FB-A11B-6E43-837F144C10D3}"/>
                    </a:ext>
                  </a:extLst>
                </p:cNvPr>
                <p:cNvSpPr txBox="1"/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1CCA9E03-B3FB-A11B-6E43-837F144C10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802" y="3959438"/>
                  <a:ext cx="387364" cy="51137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0B1FFBF-8BEE-8990-8E12-3F069AC84244}"/>
                    </a:ext>
                  </a:extLst>
                </p:cNvPr>
                <p:cNvSpPr txBox="1"/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17" name="テキスト ボックス 16">
                  <a:extLst>
                    <a:ext uri="{FF2B5EF4-FFF2-40B4-BE49-F238E27FC236}">
                      <a16:creationId xmlns:a16="http://schemas.microsoft.com/office/drawing/2014/main" id="{B0B1FFBF-8BEE-8990-8E12-3F069AC842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3380" y="3767675"/>
                  <a:ext cx="517276" cy="38352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E8CC5D06-97E8-B1DC-6F25-1EC84505E6A0}"/>
                </a:ext>
              </a:extLst>
            </p:cNvPr>
            <p:cNvCxnSpPr>
              <a:cxnSpLocks/>
            </p:cNvCxnSpPr>
            <p:nvPr/>
          </p:nvCxnSpPr>
          <p:spPr>
            <a:xfrm>
              <a:off x="9037262" y="3645125"/>
              <a:ext cx="630806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812E6A73-63FC-A4CB-46EB-D73C5078096B}"/>
                    </a:ext>
                  </a:extLst>
                </p:cNvPr>
                <p:cNvSpPr txBox="1"/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812E6A73-63FC-A4CB-46EB-D73C50780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8499" y="3362220"/>
                  <a:ext cx="248332" cy="383527"/>
                </a:xfrm>
                <a:prstGeom prst="rect">
                  <a:avLst/>
                </a:prstGeom>
                <a:blipFill>
                  <a:blip r:embed="rId6"/>
                  <a:stretch>
                    <a:fillRect l="-14634" r="-97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A2250CED-3F4D-6006-E208-12ACF870EA1A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328639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E336E1A4-FF22-58AD-E28E-2C0245DCCAF8}"/>
                </a:ext>
              </a:extLst>
            </p:cNvPr>
            <p:cNvCxnSpPr>
              <a:cxnSpLocks/>
            </p:cNvCxnSpPr>
            <p:nvPr/>
          </p:nvCxnSpPr>
          <p:spPr>
            <a:xfrm>
              <a:off x="5995801" y="3937510"/>
              <a:ext cx="102105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9B3F2889-7AB2-06CC-74F5-F345633C8D32}"/>
                </a:ext>
              </a:extLst>
            </p:cNvPr>
            <p:cNvCxnSpPr>
              <a:cxnSpLocks/>
            </p:cNvCxnSpPr>
            <p:nvPr/>
          </p:nvCxnSpPr>
          <p:spPr>
            <a:xfrm>
              <a:off x="3367668" y="4160971"/>
              <a:ext cx="600492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396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93DC598-3187-4708-238A-F30350C28946}"/>
              </a:ext>
            </a:extLst>
          </p:cNvPr>
          <p:cNvGrpSpPr/>
          <p:nvPr/>
        </p:nvGrpSpPr>
        <p:grpSpPr>
          <a:xfrm>
            <a:off x="1252151" y="708454"/>
            <a:ext cx="9687697" cy="5441092"/>
            <a:chOff x="1161535" y="421149"/>
            <a:chExt cx="9687697" cy="5441092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586AB81-FE0B-4705-08D0-681D56BD356B}"/>
                </a:ext>
              </a:extLst>
            </p:cNvPr>
            <p:cNvSpPr/>
            <p:nvPr/>
          </p:nvSpPr>
          <p:spPr>
            <a:xfrm>
              <a:off x="4657060" y="1072608"/>
              <a:ext cx="1810410" cy="868421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UVA/Padova</a:t>
              </a:r>
              <a:endParaRPr kumimoji="1" lang="ja-JP" altLang="en-US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EB489FAF-3AFB-9C1C-A11E-B5EAD8043181}"/>
                </a:ext>
              </a:extLst>
            </p:cNvPr>
            <p:cNvCxnSpPr/>
            <p:nvPr/>
          </p:nvCxnSpPr>
          <p:spPr>
            <a:xfrm>
              <a:off x="5528356" y="421149"/>
              <a:ext cx="0" cy="6514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BECD6097-D75B-31F5-A424-BAD20AB65038}"/>
                    </a:ext>
                  </a:extLst>
                </p:cNvPr>
                <p:cNvSpPr txBox="1"/>
                <p:nvPr/>
              </p:nvSpPr>
              <p:spPr>
                <a:xfrm>
                  <a:off x="5563962" y="576331"/>
                  <a:ext cx="7783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latin typeface="Cambria Math" panose="02040503050406030204" pitchFamily="18" charset="0"/>
                                <a:ea typeface="Hiragino Kaku Gothic ProN W3" panose="020B0300000000000000" pitchFamily="34" charset="-128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Hiragino Kaku Gothic ProN W3" panose="020B0300000000000000" pitchFamily="34" charset="-128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Hiragino Kaku Gothic ProN W3" panose="020B0300000000000000" pitchFamily="34" charset="-128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b="1">
                    <a:latin typeface="Cambria Math" panose="02040503050406030204" pitchFamily="18" charset="0"/>
                    <a:ea typeface="Hiragino Kaku Gothic ProN W3" panose="020B0300000000000000" pitchFamily="34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BECD6097-D75B-31F5-A424-BAD20AB65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3962" y="576331"/>
                  <a:ext cx="778327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7CB7C583-6313-02B5-B157-CD78CA8B9436}"/>
                </a:ext>
              </a:extLst>
            </p:cNvPr>
            <p:cNvCxnSpPr>
              <a:cxnSpLocks/>
            </p:cNvCxnSpPr>
            <p:nvPr/>
          </p:nvCxnSpPr>
          <p:spPr>
            <a:xfrm>
              <a:off x="6467470" y="1506818"/>
              <a:ext cx="32640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7722DA65-AB01-2CAD-C15B-262D00B0E698}"/>
                </a:ext>
              </a:extLst>
            </p:cNvPr>
            <p:cNvSpPr/>
            <p:nvPr/>
          </p:nvSpPr>
          <p:spPr>
            <a:xfrm>
              <a:off x="3097614" y="2410187"/>
              <a:ext cx="1952849" cy="73454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C1114A2-700E-0B19-FB3B-9D181DD85265}"/>
                </a:ext>
              </a:extLst>
            </p:cNvPr>
            <p:cNvSpPr/>
            <p:nvPr/>
          </p:nvSpPr>
          <p:spPr>
            <a:xfrm>
              <a:off x="3097614" y="3613885"/>
              <a:ext cx="1952849" cy="73454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Kinetic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6DCADB57-2EB7-5125-4735-DF44579B6BF2}"/>
                </a:ext>
              </a:extLst>
            </p:cNvPr>
            <p:cNvSpPr/>
            <p:nvPr/>
          </p:nvSpPr>
          <p:spPr>
            <a:xfrm>
              <a:off x="5510834" y="3022029"/>
              <a:ext cx="1810410" cy="734532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Core </a:t>
              </a:r>
              <a:r>
                <a:rPr kumimoji="1"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(Bergman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EA210733-5BDA-4BB3-218A-79D5DC0A3E1C}"/>
                </a:ext>
              </a:extLst>
            </p:cNvPr>
            <p:cNvSpPr/>
            <p:nvPr/>
          </p:nvSpPr>
          <p:spPr>
            <a:xfrm>
              <a:off x="6126058" y="4817583"/>
              <a:ext cx="1472849" cy="59438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controller</a:t>
              </a: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36D3A9F5-3CE5-3401-C859-538801C15F41}"/>
                </a:ext>
              </a:extLst>
            </p:cNvPr>
            <p:cNvSpPr/>
            <p:nvPr/>
          </p:nvSpPr>
          <p:spPr>
            <a:xfrm>
              <a:off x="8258720" y="3082111"/>
              <a:ext cx="1472849" cy="59438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estimator</a:t>
              </a:r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846356A3-5E7B-1F75-8E51-628A00599508}"/>
                </a:ext>
              </a:extLst>
            </p:cNvPr>
            <p:cNvCxnSpPr>
              <a:cxnSpLocks/>
            </p:cNvCxnSpPr>
            <p:nvPr/>
          </p:nvCxnSpPr>
          <p:spPr>
            <a:xfrm>
              <a:off x="2129385" y="1475459"/>
              <a:ext cx="25276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7B6DCB8-2F76-7DFF-20DF-6B468E9475C1}"/>
                </a:ext>
              </a:extLst>
            </p:cNvPr>
            <p:cNvCxnSpPr>
              <a:cxnSpLocks/>
            </p:cNvCxnSpPr>
            <p:nvPr/>
          </p:nvCxnSpPr>
          <p:spPr>
            <a:xfrm>
              <a:off x="2129385" y="1475459"/>
              <a:ext cx="0" cy="363931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920F10B3-276F-59BC-A49E-A3116249CC3B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2129385" y="5114778"/>
              <a:ext cx="399667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2735856F-58A1-29B7-C400-EB7E6EE929BA}"/>
                </a:ext>
              </a:extLst>
            </p:cNvPr>
            <p:cNvCxnSpPr>
              <a:cxnSpLocks/>
            </p:cNvCxnSpPr>
            <p:nvPr/>
          </p:nvCxnSpPr>
          <p:spPr>
            <a:xfrm>
              <a:off x="2129385" y="3981155"/>
              <a:ext cx="968229" cy="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F660AC16-1D1A-34C0-498B-9C7C5F3AD72B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6862482" y="5411972"/>
              <a:ext cx="1" cy="4502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EA7716E7-A7A9-28D2-5A1B-44F23D9203A6}"/>
                    </a:ext>
                  </a:extLst>
                </p:cNvPr>
                <p:cNvSpPr txBox="1"/>
                <p:nvPr/>
              </p:nvSpPr>
              <p:spPr>
                <a:xfrm>
                  <a:off x="5050463" y="4709378"/>
                  <a:ext cx="646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EA7716E7-A7A9-28D2-5A1B-44F23D9203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0463" y="4709378"/>
                  <a:ext cx="64652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C05715D9-CFDC-B600-EABD-2330ED3A2C3F}"/>
                    </a:ext>
                  </a:extLst>
                </p:cNvPr>
                <p:cNvSpPr txBox="1"/>
                <p:nvPr/>
              </p:nvSpPr>
              <p:spPr>
                <a:xfrm>
                  <a:off x="6741048" y="5492909"/>
                  <a:ext cx="5684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C05715D9-CFDC-B600-EABD-2330ED3A2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1048" y="5492909"/>
                  <a:ext cx="56840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677D28B4-6E60-66DF-B6D6-188DD1CC18F5}"/>
                </a:ext>
              </a:extLst>
            </p:cNvPr>
            <p:cNvSpPr/>
            <p:nvPr/>
          </p:nvSpPr>
          <p:spPr>
            <a:xfrm>
              <a:off x="2101098" y="3947296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5816A7E7-C22F-D8BE-BCC6-EB92DEAAD34E}"/>
                </a:ext>
              </a:extLst>
            </p:cNvPr>
            <p:cNvCxnSpPr>
              <a:cxnSpLocks/>
            </p:cNvCxnSpPr>
            <p:nvPr/>
          </p:nvCxnSpPr>
          <p:spPr>
            <a:xfrm>
              <a:off x="1210962" y="2777457"/>
              <a:ext cx="1886652" cy="12700"/>
            </a:xfrm>
            <a:prstGeom prst="straightConnector1">
              <a:avLst/>
            </a:prstGeom>
            <a:ln>
              <a:round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4F764CA8-C98A-A19C-E432-1D634671A983}"/>
                    </a:ext>
                  </a:extLst>
                </p:cNvPr>
                <p:cNvSpPr txBox="1"/>
                <p:nvPr/>
              </p:nvSpPr>
              <p:spPr>
                <a:xfrm>
                  <a:off x="1161535" y="2421924"/>
                  <a:ext cx="8123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1" name="テキスト ボックス 40">
                  <a:extLst>
                    <a:ext uri="{FF2B5EF4-FFF2-40B4-BE49-F238E27FC236}">
                      <a16:creationId xmlns:a16="http://schemas.microsoft.com/office/drawing/2014/main" id="{4F764CA8-C98A-A19C-E432-1D634671A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535" y="2421924"/>
                  <a:ext cx="81233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カギ線コネクタ 42">
              <a:extLst>
                <a:ext uri="{FF2B5EF4-FFF2-40B4-BE49-F238E27FC236}">
                  <a16:creationId xmlns:a16="http://schemas.microsoft.com/office/drawing/2014/main" id="{F204D4EE-E173-F98D-2120-9A21D5A9C06F}"/>
                </a:ext>
              </a:extLst>
            </p:cNvPr>
            <p:cNvCxnSpPr>
              <a:cxnSpLocks/>
              <a:stCxn id="12" idx="3"/>
              <a:endCxn id="14" idx="0"/>
            </p:cNvCxnSpPr>
            <p:nvPr/>
          </p:nvCxnSpPr>
          <p:spPr>
            <a:xfrm>
              <a:off x="5050463" y="2777457"/>
              <a:ext cx="1365576" cy="244572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カギ線コネクタ 46">
              <a:extLst>
                <a:ext uri="{FF2B5EF4-FFF2-40B4-BE49-F238E27FC236}">
                  <a16:creationId xmlns:a16="http://schemas.microsoft.com/office/drawing/2014/main" id="{E5224498-DB86-087B-9E17-03D02DCDF859}"/>
                </a:ext>
              </a:extLst>
            </p:cNvPr>
            <p:cNvCxnSpPr>
              <a:cxnSpLocks/>
              <a:stCxn id="13" idx="3"/>
              <a:endCxn id="14" idx="2"/>
            </p:cNvCxnSpPr>
            <p:nvPr/>
          </p:nvCxnSpPr>
          <p:spPr>
            <a:xfrm flipV="1">
              <a:off x="5050463" y="3756561"/>
              <a:ext cx="1365576" cy="224594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18EC6B1-3491-4114-E03B-858DEBA85A75}"/>
                    </a:ext>
                  </a:extLst>
                </p:cNvPr>
                <p:cNvSpPr txBox="1"/>
                <p:nvPr/>
              </p:nvSpPr>
              <p:spPr>
                <a:xfrm>
                  <a:off x="5750037" y="2407822"/>
                  <a:ext cx="513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A18EC6B1-3491-4114-E03B-858DEBA85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0037" y="2407822"/>
                  <a:ext cx="51334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605B0398-ECE0-C2C0-EC2A-1873FCF52229}"/>
                    </a:ext>
                  </a:extLst>
                </p:cNvPr>
                <p:cNvSpPr txBox="1"/>
                <p:nvPr/>
              </p:nvSpPr>
              <p:spPr>
                <a:xfrm>
                  <a:off x="5780194" y="3945086"/>
                  <a:ext cx="345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605B0398-ECE0-C2C0-EC2A-1873FCF52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0194" y="3945086"/>
                  <a:ext cx="34586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6754F683-8B4F-9B19-5C43-AF0782B2AB23}"/>
                    </a:ext>
                  </a:extLst>
                </p:cNvPr>
                <p:cNvSpPr txBox="1"/>
                <p:nvPr/>
              </p:nvSpPr>
              <p:spPr>
                <a:xfrm>
                  <a:off x="9325176" y="1106127"/>
                  <a:ext cx="4063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6754F683-8B4F-9B19-5C43-AF0782B2A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25176" y="1106127"/>
                  <a:ext cx="40639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49F00871-1D8D-92F9-FF55-937AFE38FF08}"/>
                </a:ext>
              </a:extLst>
            </p:cNvPr>
            <p:cNvCxnSpPr>
              <a:cxnSpLocks/>
            </p:cNvCxnSpPr>
            <p:nvPr/>
          </p:nvCxnSpPr>
          <p:spPr>
            <a:xfrm>
              <a:off x="9016505" y="1506818"/>
              <a:ext cx="0" cy="15752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円/楕円 59">
              <a:extLst>
                <a:ext uri="{FF2B5EF4-FFF2-40B4-BE49-F238E27FC236}">
                  <a16:creationId xmlns:a16="http://schemas.microsoft.com/office/drawing/2014/main" id="{52AA93F7-A2A6-07B2-60B2-64EA80B1E5E7}"/>
                </a:ext>
              </a:extLst>
            </p:cNvPr>
            <p:cNvSpPr/>
            <p:nvPr/>
          </p:nvSpPr>
          <p:spPr>
            <a:xfrm>
              <a:off x="8991217" y="1470817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5ABC2085-B6A7-05CB-0881-D85AAE4A1514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7321244" y="3389295"/>
              <a:ext cx="937476" cy="1270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1B11DF33-69DD-8FF9-C302-AC270A60FED1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6862483" y="3756561"/>
              <a:ext cx="0" cy="106102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3D4D0BD3-0D78-2F64-280E-EEE8676674B6}"/>
                    </a:ext>
                  </a:extLst>
                </p:cNvPr>
                <p:cNvSpPr txBox="1"/>
                <p:nvPr/>
              </p:nvSpPr>
              <p:spPr>
                <a:xfrm>
                  <a:off x="7586179" y="3016347"/>
                  <a:ext cx="513340" cy="378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3D4D0BD3-0D78-2F64-280E-EEE867667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6179" y="3016347"/>
                  <a:ext cx="513340" cy="378630"/>
                </a:xfrm>
                <a:prstGeom prst="rect">
                  <a:avLst/>
                </a:prstGeom>
                <a:blipFill>
                  <a:blip r:embed="rId9"/>
                  <a:stretch>
                    <a:fillRect t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D77FF916-A6C0-84A7-E17E-D15B6CA512D7}"/>
                    </a:ext>
                  </a:extLst>
                </p:cNvPr>
                <p:cNvSpPr txBox="1"/>
                <p:nvPr/>
              </p:nvSpPr>
              <p:spPr>
                <a:xfrm>
                  <a:off x="6727737" y="4239527"/>
                  <a:ext cx="654852" cy="378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69" name="テキスト ボックス 68">
                  <a:extLst>
                    <a:ext uri="{FF2B5EF4-FFF2-40B4-BE49-F238E27FC236}">
                      <a16:creationId xmlns:a16="http://schemas.microsoft.com/office/drawing/2014/main" id="{D77FF916-A6C0-84A7-E17E-D15B6CA51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737" y="4239527"/>
                  <a:ext cx="654852" cy="378630"/>
                </a:xfrm>
                <a:prstGeom prst="rect">
                  <a:avLst/>
                </a:prstGeom>
                <a:blipFill>
                  <a:blip r:embed="rId10"/>
                  <a:stretch>
                    <a:fillRect t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直線矢印コネクタ 70">
              <a:extLst>
                <a:ext uri="{FF2B5EF4-FFF2-40B4-BE49-F238E27FC236}">
                  <a16:creationId xmlns:a16="http://schemas.microsoft.com/office/drawing/2014/main" id="{17E2437B-256F-472F-17DF-722B3942F652}"/>
                </a:ext>
              </a:extLst>
            </p:cNvPr>
            <p:cNvCxnSpPr>
              <a:cxnSpLocks/>
            </p:cNvCxnSpPr>
            <p:nvPr/>
          </p:nvCxnSpPr>
          <p:spPr>
            <a:xfrm>
              <a:off x="9731569" y="3373346"/>
              <a:ext cx="1117663" cy="222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BE4DF952-AFD2-8E76-C48E-F4B0FBB6194A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H="1">
              <a:off x="7598907" y="5114778"/>
              <a:ext cx="26914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0E91260A-608B-9E75-CD7C-32765D9A7C7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3828" y="3373346"/>
              <a:ext cx="0" cy="172899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FA1C7B1A-6F57-F934-AE54-69E35CD87B83}"/>
                    </a:ext>
                  </a:extLst>
                </p:cNvPr>
                <p:cNvSpPr txBox="1"/>
                <p:nvPr/>
              </p:nvSpPr>
              <p:spPr>
                <a:xfrm>
                  <a:off x="10305540" y="3027411"/>
                  <a:ext cx="3808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kumimoji="1"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FA1C7B1A-6F57-F934-AE54-69E35CD87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5540" y="3027411"/>
                  <a:ext cx="38081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2" name="円/楕円 91">
              <a:extLst>
                <a:ext uri="{FF2B5EF4-FFF2-40B4-BE49-F238E27FC236}">
                  <a16:creationId xmlns:a16="http://schemas.microsoft.com/office/drawing/2014/main" id="{7C90D3FF-BEED-092F-9977-4A95F73AE09E}"/>
                </a:ext>
              </a:extLst>
            </p:cNvPr>
            <p:cNvSpPr/>
            <p:nvPr/>
          </p:nvSpPr>
          <p:spPr>
            <a:xfrm>
              <a:off x="10237828" y="3365389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1629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A887476B-B504-D961-CF44-87D8C4AC7F80}"/>
              </a:ext>
            </a:extLst>
          </p:cNvPr>
          <p:cNvSpPr/>
          <p:nvPr/>
        </p:nvSpPr>
        <p:spPr>
          <a:xfrm>
            <a:off x="4897629" y="5021397"/>
            <a:ext cx="2275368" cy="956930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9961B82-6CA2-11E8-63C0-8FB31E7AAFD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66370" y="1296365"/>
            <a:ext cx="11312270" cy="4549579"/>
            <a:chOff x="666370" y="1296365"/>
            <a:chExt cx="11312270" cy="454957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9B8CFB9-3EE2-7FD6-6FD0-81EE731DFD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029075" y="3536821"/>
              <a:ext cx="2195384" cy="793092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Subject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(UVA/Padova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933E9AA3-8A4A-0768-783D-10BA35672F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12321" y="1931662"/>
              <a:ext cx="1952849" cy="734540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35DC7AA0-9DB6-78A9-70AC-83E0D668A83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44780" y="2938800"/>
              <a:ext cx="6094482" cy="1989135"/>
              <a:chOff x="3047283" y="2904075"/>
              <a:chExt cx="6094482" cy="1989135"/>
            </a:xfrm>
          </p:grpSpPr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D788DBA3-9147-82CA-36BE-48CEE55D920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7283" y="2904075"/>
                <a:ext cx="6094482" cy="1989135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36EB6BFF-2872-3F0B-4662-0D97C3102E6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75590" y="3899127"/>
                <a:ext cx="1952849" cy="734540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Subcutaneous</a:t>
                </a: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Insulin</a:t>
                </a:r>
              </a:p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Kinetic </a:t>
                </a:r>
                <a:r>
                  <a:rPr kumimoji="1" lang="en-US" altLang="ja-JP" sz="1400" b="1" dirty="0" err="1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submodel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DF45FADA-EE35-4D13-8CE4-61A06B5FCF0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0795" y="3307271"/>
                <a:ext cx="1810410" cy="734532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Core </a:t>
                </a:r>
                <a:r>
                  <a:rPr kumimoji="1" lang="en-US" altLang="ja-JP" sz="1400" b="1" dirty="0" err="1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submodel</a:t>
                </a:r>
                <a:endPara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(Bergman model)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13" name="カギ線コネクタ 12">
                <a:extLst>
                  <a:ext uri="{FF2B5EF4-FFF2-40B4-BE49-F238E27FC236}">
                    <a16:creationId xmlns:a16="http://schemas.microsoft.com/office/drawing/2014/main" id="{C925BCA5-8017-917F-21AC-6AAED48A28CB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stCxn id="7" idx="3"/>
                <a:endCxn id="8" idx="2"/>
              </p:cNvCxnSpPr>
              <p:nvPr/>
            </p:nvCxnSpPr>
            <p:spPr>
              <a:xfrm flipV="1">
                <a:off x="5128439" y="4041803"/>
                <a:ext cx="967561" cy="22459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305665B6-7EAA-B33E-A011-65DE5A30E5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15243" y="3307271"/>
                <a:ext cx="1810410" cy="734532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Nonlinear</a:t>
                </a: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Programing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01FEEF3-56E4-AE3A-F66C-E8125E87AB4B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336463" y="2937939"/>
                <a:ext cx="1805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Nonlinear MPC</a:t>
                </a:r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34EFFAC-E569-D799-2CFE-8D303362542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001906" y="1966727"/>
                  <a:ext cx="64805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34EFFAC-E569-D799-2CFE-8D3033625425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906" y="1966727"/>
                  <a:ext cx="648059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6AFB9704-070A-D042-91BA-9265A08C5AC7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0034169" y="1612983"/>
                  <a:ext cx="8123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6AFB9704-070A-D042-91BA-9265A08C5AC7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4169" y="1612983"/>
                  <a:ext cx="81233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8167024E-60DE-742F-9F66-45A11A95A9D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6" idx="3"/>
              <a:endCxn id="3" idx="1"/>
            </p:cNvCxnSpPr>
            <p:nvPr/>
          </p:nvCxnSpPr>
          <p:spPr>
            <a:xfrm flipV="1">
              <a:off x="8339262" y="3933367"/>
              <a:ext cx="68981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31B8921D-A561-6FC3-F76F-3E9C957441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38679" y="5214256"/>
              <a:ext cx="1756657" cy="631688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Extended Kalman filter</a:t>
              </a:r>
            </a:p>
          </p:txBody>
        </p:sp>
        <p:cxnSp>
          <p:nvCxnSpPr>
            <p:cNvPr id="66" name="カギ線コネクタ 65">
              <a:extLst>
                <a:ext uri="{FF2B5EF4-FFF2-40B4-BE49-F238E27FC236}">
                  <a16:creationId xmlns:a16="http://schemas.microsoft.com/office/drawing/2014/main" id="{CCF1FE39-CC61-E96F-12FD-9C90C20ED7F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" idx="3"/>
            </p:cNvCxnSpPr>
            <p:nvPr/>
          </p:nvCxnSpPr>
          <p:spPr>
            <a:xfrm flipH="1">
              <a:off x="6995336" y="3933367"/>
              <a:ext cx="4229123" cy="1760272"/>
            </a:xfrm>
            <a:prstGeom prst="bentConnector3">
              <a:avLst>
                <a:gd name="adj1" fmla="val -540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カギ線コネクタ 71">
              <a:extLst>
                <a:ext uri="{FF2B5EF4-FFF2-40B4-BE49-F238E27FC236}">
                  <a16:creationId xmlns:a16="http://schemas.microsoft.com/office/drawing/2014/main" id="{DFC352B7-7927-2DE3-1D08-217F9904BCD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0800000" flipV="1">
              <a:off x="6995336" y="3933367"/>
              <a:ext cx="1688832" cy="1472010"/>
            </a:xfrm>
            <a:prstGeom prst="bentConnector3">
              <a:avLst>
                <a:gd name="adj1" fmla="val 65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テキスト ボックス 73">
                  <a:extLst>
                    <a:ext uri="{FF2B5EF4-FFF2-40B4-BE49-F238E27FC236}">
                      <a16:creationId xmlns:a16="http://schemas.microsoft.com/office/drawing/2014/main" id="{9FDA9973-9DCF-AE99-4F98-E6956E59CE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8381703" y="3586482"/>
                  <a:ext cx="561500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𝑚𝑝𝑐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74" name="テキスト ボックス 73">
                  <a:extLst>
                    <a:ext uri="{FF2B5EF4-FFF2-40B4-BE49-F238E27FC236}">
                      <a16:creationId xmlns:a16="http://schemas.microsoft.com/office/drawing/2014/main" id="{9FDA9973-9DCF-AE99-4F98-E6956E59CEFE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703" y="3586482"/>
                  <a:ext cx="561500" cy="298415"/>
                </a:xfrm>
                <a:prstGeom prst="rect">
                  <a:avLst/>
                </a:prstGeom>
                <a:blipFill>
                  <a:blip r:embed="rId5"/>
                  <a:stretch>
                    <a:fillRect l="-4444" r="-2222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CC83AA41-DA11-9576-A0AD-900FD8E7C2B6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1490686" y="3656368"/>
                  <a:ext cx="221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CC83AA41-DA11-9576-A0AD-900FD8E7C2B6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0686" y="3656368"/>
                  <a:ext cx="22172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053" r="-10526"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カギ線コネクタ 78">
              <a:extLst>
                <a:ext uri="{FF2B5EF4-FFF2-40B4-BE49-F238E27FC236}">
                  <a16:creationId xmlns:a16="http://schemas.microsoft.com/office/drawing/2014/main" id="{50349986-A90A-AFCF-4624-C12BD347F9D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rot="10800000">
              <a:off x="2244780" y="4522090"/>
              <a:ext cx="2993900" cy="916761"/>
            </a:xfrm>
            <a:prstGeom prst="bentConnector3">
              <a:avLst>
                <a:gd name="adj1" fmla="val 11533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BD00C7EF-FF0D-8573-20CA-F2BF761707E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0126767" y="1296365"/>
              <a:ext cx="0" cy="225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0C522CAA-070B-AEE0-DE27-45FD4C8D549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6" idx="3"/>
            </p:cNvCxnSpPr>
            <p:nvPr/>
          </p:nvCxnSpPr>
          <p:spPr>
            <a:xfrm flipH="1">
              <a:off x="6665170" y="2298932"/>
              <a:ext cx="3461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円/楕円 96">
              <a:extLst>
                <a:ext uri="{FF2B5EF4-FFF2-40B4-BE49-F238E27FC236}">
                  <a16:creationId xmlns:a16="http://schemas.microsoft.com/office/drawing/2014/main" id="{894A0E35-E11A-82D3-5917-FC6051558DE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10090768" y="2262931"/>
              <a:ext cx="72000" cy="7200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9" name="カギ線コネクタ 98">
              <a:extLst>
                <a:ext uri="{FF2B5EF4-FFF2-40B4-BE49-F238E27FC236}">
                  <a16:creationId xmlns:a16="http://schemas.microsoft.com/office/drawing/2014/main" id="{DF5FA035-754E-8CF8-440A-F74CBE797D2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6" idx="1"/>
            </p:cNvCxnSpPr>
            <p:nvPr/>
          </p:nvCxnSpPr>
          <p:spPr>
            <a:xfrm rot="10800000" flipH="1" flipV="1">
              <a:off x="4712321" y="2298932"/>
              <a:ext cx="526358" cy="3471948"/>
            </a:xfrm>
            <a:prstGeom prst="bentConnector4">
              <a:avLst>
                <a:gd name="adj1" fmla="val -618644"/>
                <a:gd name="adj2" fmla="val 10006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6A63A33D-5255-7D80-7D0C-698AFB29E7D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453480" y="4076528"/>
              <a:ext cx="7912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線矢印コネクタ 104">
              <a:extLst>
                <a:ext uri="{FF2B5EF4-FFF2-40B4-BE49-F238E27FC236}">
                  <a16:creationId xmlns:a16="http://schemas.microsoft.com/office/drawing/2014/main" id="{1EB33FF0-3AC0-7E5B-F59B-47EF6E6A2F11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" idx="3"/>
            </p:cNvCxnSpPr>
            <p:nvPr/>
          </p:nvCxnSpPr>
          <p:spPr>
            <a:xfrm>
              <a:off x="11224459" y="3933367"/>
              <a:ext cx="7541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矢印コネクタ 108">
              <a:extLst>
                <a:ext uri="{FF2B5EF4-FFF2-40B4-BE49-F238E27FC236}">
                  <a16:creationId xmlns:a16="http://schemas.microsoft.com/office/drawing/2014/main" id="{D5FFFEFB-A69F-8142-7E20-B37C1E4E2A5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666370" y="3614840"/>
              <a:ext cx="15742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4BDAC5DB-32E2-5FC1-E68E-0F2E891DE56B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56521" y="5166843"/>
                  <a:ext cx="1779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̂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4BDAC5DB-32E2-5FC1-E68E-0F2E891DE56B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6521" y="5166843"/>
                  <a:ext cx="1779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6667" r="-26667"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テキスト ボックス 110">
                  <a:extLst>
                    <a:ext uri="{FF2B5EF4-FFF2-40B4-BE49-F238E27FC236}">
                      <a16:creationId xmlns:a16="http://schemas.microsoft.com/office/drawing/2014/main" id="{7B4D38FE-EB13-DA17-7BEF-90D8A0C3BBD1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17023" y="3237572"/>
                  <a:ext cx="501035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11" name="テキスト ボックス 110">
                  <a:extLst>
                    <a:ext uri="{FF2B5EF4-FFF2-40B4-BE49-F238E27FC236}">
                      <a16:creationId xmlns:a16="http://schemas.microsoft.com/office/drawing/2014/main" id="{7B4D38FE-EB13-DA17-7BEF-90D8A0C3BBD1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023" y="3237572"/>
                  <a:ext cx="501035" cy="299249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500" b="-2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1682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05">
                <a:extLst>
                  <a:ext uri="{FF2B5EF4-FFF2-40B4-BE49-F238E27FC236}">
                    <a16:creationId xmlns:a16="http://schemas.microsoft.com/office/drawing/2014/main" id="{4062773A-75EB-BF17-2692-2A060830ACC8}"/>
                  </a:ext>
                </a:extLst>
              </p:cNvPr>
              <p:cNvSpPr txBox="1"/>
              <p:nvPr/>
            </p:nvSpPr>
            <p:spPr>
              <a:xfrm>
                <a:off x="788769" y="636783"/>
                <a:ext cx="8123621" cy="8842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𝑆𝑥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ja-JP" altLang="en-US" b="0" i="1" smtClean="0">
                                  <a:latin typeface="Cambria Math" panose="02040503050406030204" pitchFamily="18" charset="0"/>
                                </a:rPr>
                                <m:t>　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mode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                                  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mode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JP" dirty="0"/>
              </a:p>
            </p:txBody>
          </p:sp>
        </mc:Choice>
        <mc:Fallback xmlns="">
          <p:sp>
            <p:nvSpPr>
              <p:cNvPr id="5" name="TextBox 405">
                <a:extLst>
                  <a:ext uri="{FF2B5EF4-FFF2-40B4-BE49-F238E27FC236}">
                    <a16:creationId xmlns:a16="http://schemas.microsoft.com/office/drawing/2014/main" id="{4062773A-75EB-BF17-2692-2A060830A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69" y="636783"/>
                <a:ext cx="8123621" cy="884281"/>
              </a:xfrm>
              <a:prstGeom prst="rect">
                <a:avLst/>
              </a:prstGeom>
              <a:blipFill>
                <a:blip r:embed="rId2"/>
                <a:stretch>
                  <a:fillRect l="-3276" t="-225000" b="-3194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383">
                <a:extLst>
                  <a:ext uri="{FF2B5EF4-FFF2-40B4-BE49-F238E27FC236}">
                    <a16:creationId xmlns:a16="http://schemas.microsoft.com/office/drawing/2014/main" id="{97734043-6121-B54D-8AD5-8AD21F25F8B0}"/>
                  </a:ext>
                </a:extLst>
              </p:cNvPr>
              <p:cNvSpPr txBox="1"/>
              <p:nvPr/>
            </p:nvSpPr>
            <p:spPr>
              <a:xfrm>
                <a:off x="1129664" y="2592991"/>
                <a:ext cx="4731344" cy="8842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JP" sz="1600" dirty="0"/>
              </a:p>
            </p:txBody>
          </p:sp>
        </mc:Choice>
        <mc:Fallback xmlns="">
          <p:sp>
            <p:nvSpPr>
              <p:cNvPr id="6" name="TextBox 383">
                <a:extLst>
                  <a:ext uri="{FF2B5EF4-FFF2-40B4-BE49-F238E27FC236}">
                    <a16:creationId xmlns:a16="http://schemas.microsoft.com/office/drawing/2014/main" id="{97734043-6121-B54D-8AD5-8AD21F25F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664" y="2592991"/>
                <a:ext cx="4731344" cy="884281"/>
              </a:xfrm>
              <a:prstGeom prst="rect">
                <a:avLst/>
              </a:prstGeom>
              <a:blipFill>
                <a:blip r:embed="rId3"/>
                <a:stretch>
                  <a:fillRect l="-10963" t="-232857" r="-1604" b="-33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384">
                <a:extLst>
                  <a:ext uri="{FF2B5EF4-FFF2-40B4-BE49-F238E27FC236}">
                    <a16:creationId xmlns:a16="http://schemas.microsoft.com/office/drawing/2014/main" id="{4AEE9D72-BAE3-B94E-238F-76C29DEAE30A}"/>
                  </a:ext>
                </a:extLst>
              </p:cNvPr>
              <p:cNvSpPr txBox="1"/>
              <p:nvPr/>
            </p:nvSpPr>
            <p:spPr>
              <a:xfrm>
                <a:off x="1129664" y="4700317"/>
                <a:ext cx="2983810" cy="5866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JP" dirty="0"/>
              </a:p>
            </p:txBody>
          </p:sp>
        </mc:Choice>
        <mc:Fallback xmlns="">
          <p:sp>
            <p:nvSpPr>
              <p:cNvPr id="7" name="TextBox 384">
                <a:extLst>
                  <a:ext uri="{FF2B5EF4-FFF2-40B4-BE49-F238E27FC236}">
                    <a16:creationId xmlns:a16="http://schemas.microsoft.com/office/drawing/2014/main" id="{4AEE9D72-BAE3-B94E-238F-76C29DEAE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664" y="4700317"/>
                <a:ext cx="2983810" cy="586699"/>
              </a:xfrm>
              <a:prstGeom prst="rect">
                <a:avLst/>
              </a:prstGeom>
              <a:blipFill>
                <a:blip r:embed="rId4"/>
                <a:stretch>
                  <a:fillRect b="-170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399">
                <a:extLst>
                  <a:ext uri="{FF2B5EF4-FFF2-40B4-BE49-F238E27FC236}">
                    <a16:creationId xmlns:a16="http://schemas.microsoft.com/office/drawing/2014/main" id="{47C9607B-4030-1198-2CFA-B1AA99844540}"/>
                  </a:ext>
                </a:extLst>
              </p:cNvPr>
              <p:cNvSpPr txBox="1"/>
              <p:nvPr/>
            </p:nvSpPr>
            <p:spPr>
              <a:xfrm>
                <a:off x="584415" y="1618827"/>
                <a:ext cx="3503918" cy="871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JP" sz="1600" dirty="0"/>
              </a:p>
            </p:txBody>
          </p:sp>
        </mc:Choice>
        <mc:Fallback xmlns="">
          <p:sp>
            <p:nvSpPr>
              <p:cNvPr id="8" name="TextBox 399">
                <a:extLst>
                  <a:ext uri="{FF2B5EF4-FFF2-40B4-BE49-F238E27FC236}">
                    <a16:creationId xmlns:a16="http://schemas.microsoft.com/office/drawing/2014/main" id="{47C9607B-4030-1198-2CFA-B1AA99844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15" y="1618827"/>
                <a:ext cx="3503918" cy="871457"/>
              </a:xfrm>
              <a:prstGeom prst="rect">
                <a:avLst/>
              </a:prstGeom>
              <a:blipFill>
                <a:blip r:embed="rId5"/>
                <a:stretch>
                  <a:fillRect t="-94286" b="-14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404">
                <a:extLst>
                  <a:ext uri="{FF2B5EF4-FFF2-40B4-BE49-F238E27FC236}">
                    <a16:creationId xmlns:a16="http://schemas.microsoft.com/office/drawing/2014/main" id="{D22B2661-4C85-FD6A-32E0-01DE88002FCE}"/>
                  </a:ext>
                </a:extLst>
              </p:cNvPr>
              <p:cNvSpPr txBox="1"/>
              <p:nvPr/>
            </p:nvSpPr>
            <p:spPr>
              <a:xfrm>
                <a:off x="1120620" y="3713329"/>
                <a:ext cx="4289444" cy="8358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JP" sz="1600" dirty="0"/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JP" i="1" dirty="0">
                    <a:latin typeface="Cambria Math" panose="02040503050406030204" pitchFamily="18" charset="0"/>
                  </a:rPr>
                  <a:t>C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JP" sz="1600" i="1" dirty="0">
                    <a:latin typeface="Cambria Math" panose="02040503050406030204" pitchFamily="18" charset="0"/>
                  </a:rPr>
                  <a:t> </a:t>
                </a:r>
                <a:endParaRPr lang="en-US" sz="1600" i="1" dirty="0">
                  <a:latin typeface="Cambria Math" panose="02040503050406030204" pitchFamily="18" charset="0"/>
                </a:endParaRPr>
              </a:p>
              <a:p>
                <a:endParaRPr lang="en-JP" sz="1600" dirty="0"/>
              </a:p>
            </p:txBody>
          </p:sp>
        </mc:Choice>
        <mc:Fallback xmlns="">
          <p:sp>
            <p:nvSpPr>
              <p:cNvPr id="9" name="TextBox 404">
                <a:extLst>
                  <a:ext uri="{FF2B5EF4-FFF2-40B4-BE49-F238E27FC236}">
                    <a16:creationId xmlns:a16="http://schemas.microsoft.com/office/drawing/2014/main" id="{D22B2661-4C85-FD6A-32E0-01DE88002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620" y="3713329"/>
                <a:ext cx="4289444" cy="835870"/>
              </a:xfrm>
              <a:prstGeom prst="rect">
                <a:avLst/>
              </a:prstGeom>
              <a:blipFill>
                <a:blip r:embed="rId6"/>
                <a:stretch>
                  <a:fillRect l="-2071" t="-14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407">
            <a:extLst>
              <a:ext uri="{FF2B5EF4-FFF2-40B4-BE49-F238E27FC236}">
                <a16:creationId xmlns:a16="http://schemas.microsoft.com/office/drawing/2014/main" id="{FD73BDEA-3E98-6766-9BE7-1983375D4910}"/>
              </a:ext>
            </a:extLst>
          </p:cNvPr>
          <p:cNvGrpSpPr/>
          <p:nvPr/>
        </p:nvGrpSpPr>
        <p:grpSpPr>
          <a:xfrm>
            <a:off x="6242614" y="2965892"/>
            <a:ext cx="5339552" cy="3468849"/>
            <a:chOff x="492246" y="2763288"/>
            <a:chExt cx="6971214" cy="3735506"/>
          </a:xfrm>
        </p:grpSpPr>
        <p:grpSp>
          <p:nvGrpSpPr>
            <p:cNvPr id="11" name="グループ化 91">
              <a:extLst>
                <a:ext uri="{FF2B5EF4-FFF2-40B4-BE49-F238E27FC236}">
                  <a16:creationId xmlns:a16="http://schemas.microsoft.com/office/drawing/2014/main" id="{EFACD701-2AB5-C157-2767-5710CB808D72}"/>
                </a:ext>
              </a:extLst>
            </p:cNvPr>
            <p:cNvGrpSpPr/>
            <p:nvPr/>
          </p:nvGrpSpPr>
          <p:grpSpPr>
            <a:xfrm>
              <a:off x="1650590" y="2897727"/>
              <a:ext cx="2636019" cy="1235034"/>
              <a:chOff x="1074479" y="1180107"/>
              <a:chExt cx="2636019" cy="1235034"/>
            </a:xfrm>
          </p:grpSpPr>
          <p:sp>
            <p:nvSpPr>
              <p:cNvPr id="30" name="角丸四角形 28">
                <a:extLst>
                  <a:ext uri="{FF2B5EF4-FFF2-40B4-BE49-F238E27FC236}">
                    <a16:creationId xmlns:a16="http://schemas.microsoft.com/office/drawing/2014/main" id="{A05DFE2F-FA44-EEF6-117E-74DD2FEE68F2}"/>
                  </a:ext>
                </a:extLst>
              </p:cNvPr>
              <p:cNvSpPr/>
              <p:nvPr/>
            </p:nvSpPr>
            <p:spPr>
              <a:xfrm>
                <a:off x="1074479" y="1180107"/>
                <a:ext cx="2163040" cy="123503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200"/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8C71F86A-1835-DAEC-6F40-F1A28994015E}"/>
                  </a:ext>
                </a:extLst>
              </p:cNvPr>
              <p:cNvSpPr txBox="1"/>
              <p:nvPr/>
            </p:nvSpPr>
            <p:spPr>
              <a:xfrm>
                <a:off x="1216679" y="1218058"/>
                <a:ext cx="2493819" cy="551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b="1" dirty="0"/>
                  <a:t>Subject (UVA/Padova Model)</a:t>
                </a:r>
                <a:endParaRPr lang="ja-JP" altLang="en-US" sz="1600" b="1"/>
              </a:p>
            </p:txBody>
          </p:sp>
        </p:grpSp>
        <p:sp>
          <p:nvSpPr>
            <p:cNvPr id="12" name="テキスト ボックス 93">
              <a:extLst>
                <a:ext uri="{FF2B5EF4-FFF2-40B4-BE49-F238E27FC236}">
                  <a16:creationId xmlns:a16="http://schemas.microsoft.com/office/drawing/2014/main" id="{3DEEB9A9-6CF1-8624-9971-4C10907D4222}"/>
                </a:ext>
              </a:extLst>
            </p:cNvPr>
            <p:cNvSpPr txBox="1"/>
            <p:nvPr/>
          </p:nvSpPr>
          <p:spPr>
            <a:xfrm>
              <a:off x="492246" y="3030598"/>
              <a:ext cx="676700" cy="319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/>
                <a:t>Input</a:t>
              </a:r>
              <a:endParaRPr lang="ja-JP" altLang="en-US" sz="1600" b="1"/>
            </a:p>
          </p:txBody>
        </p:sp>
        <p:cxnSp>
          <p:nvCxnSpPr>
            <p:cNvPr id="13" name="直線矢印コネクタ 94">
              <a:extLst>
                <a:ext uri="{FF2B5EF4-FFF2-40B4-BE49-F238E27FC236}">
                  <a16:creationId xmlns:a16="http://schemas.microsoft.com/office/drawing/2014/main" id="{10F03FB8-FF19-FE51-F037-FA83CBE5D4F6}"/>
                </a:ext>
              </a:extLst>
            </p:cNvPr>
            <p:cNvCxnSpPr/>
            <p:nvPr/>
          </p:nvCxnSpPr>
          <p:spPr>
            <a:xfrm>
              <a:off x="567469" y="3492262"/>
              <a:ext cx="108312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99">
              <a:extLst>
                <a:ext uri="{FF2B5EF4-FFF2-40B4-BE49-F238E27FC236}">
                  <a16:creationId xmlns:a16="http://schemas.microsoft.com/office/drawing/2014/main" id="{D8A896FC-5CE2-B646-C265-A2C0BE3F270B}"/>
                </a:ext>
              </a:extLst>
            </p:cNvPr>
            <p:cNvCxnSpPr/>
            <p:nvPr/>
          </p:nvCxnSpPr>
          <p:spPr>
            <a:xfrm>
              <a:off x="4524347" y="3592324"/>
              <a:ext cx="0" cy="1557652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03">
              <a:extLst>
                <a:ext uri="{FF2B5EF4-FFF2-40B4-BE49-F238E27FC236}">
                  <a16:creationId xmlns:a16="http://schemas.microsoft.com/office/drawing/2014/main" id="{88040747-12FF-A55B-E6DF-83C92B51E100}"/>
                </a:ext>
              </a:extLst>
            </p:cNvPr>
            <p:cNvCxnSpPr/>
            <p:nvPr/>
          </p:nvCxnSpPr>
          <p:spPr>
            <a:xfrm>
              <a:off x="3813630" y="3499881"/>
              <a:ext cx="12231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円/楕円 111">
              <a:extLst>
                <a:ext uri="{FF2B5EF4-FFF2-40B4-BE49-F238E27FC236}">
                  <a16:creationId xmlns:a16="http://schemas.microsoft.com/office/drawing/2014/main" id="{6141A2B9-2A49-2896-3760-5E4D8B76538F}"/>
                </a:ext>
              </a:extLst>
            </p:cNvPr>
            <p:cNvSpPr/>
            <p:nvPr/>
          </p:nvSpPr>
          <p:spPr>
            <a:xfrm>
              <a:off x="4447267" y="3422801"/>
              <a:ext cx="154161" cy="154161"/>
            </a:xfrm>
            <a:prstGeom prst="ellipse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200"/>
            </a:p>
          </p:txBody>
        </p:sp>
        <p:cxnSp>
          <p:nvCxnSpPr>
            <p:cNvPr id="17" name="直線矢印コネクタ 130">
              <a:extLst>
                <a:ext uri="{FF2B5EF4-FFF2-40B4-BE49-F238E27FC236}">
                  <a16:creationId xmlns:a16="http://schemas.microsoft.com/office/drawing/2014/main" id="{C7811525-FBC4-56A2-4211-BC1C6067C310}"/>
                </a:ext>
              </a:extLst>
            </p:cNvPr>
            <p:cNvCxnSpPr>
              <a:stCxn id="21" idx="2"/>
            </p:cNvCxnSpPr>
            <p:nvPr/>
          </p:nvCxnSpPr>
          <p:spPr>
            <a:xfrm>
              <a:off x="5966722" y="4589678"/>
              <a:ext cx="4143" cy="580889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グループ化 138">
              <a:extLst>
                <a:ext uri="{FF2B5EF4-FFF2-40B4-BE49-F238E27FC236}">
                  <a16:creationId xmlns:a16="http://schemas.microsoft.com/office/drawing/2014/main" id="{DAA016FD-F02C-56E0-DCE8-51658CCD5883}"/>
                </a:ext>
              </a:extLst>
            </p:cNvPr>
            <p:cNvGrpSpPr/>
            <p:nvPr/>
          </p:nvGrpSpPr>
          <p:grpSpPr>
            <a:xfrm>
              <a:off x="3343067" y="5189686"/>
              <a:ext cx="3611630" cy="1309108"/>
              <a:chOff x="4289083" y="8237024"/>
              <a:chExt cx="3611630" cy="1309108"/>
            </a:xfrm>
          </p:grpSpPr>
          <p:grpSp>
            <p:nvGrpSpPr>
              <p:cNvPr id="25" name="グループ化 139">
                <a:extLst>
                  <a:ext uri="{FF2B5EF4-FFF2-40B4-BE49-F238E27FC236}">
                    <a16:creationId xmlns:a16="http://schemas.microsoft.com/office/drawing/2014/main" id="{8797F719-230B-9C03-D232-5AEAE01AF172}"/>
                  </a:ext>
                </a:extLst>
              </p:cNvPr>
              <p:cNvGrpSpPr/>
              <p:nvPr/>
            </p:nvGrpSpPr>
            <p:grpSpPr>
              <a:xfrm>
                <a:off x="4289083" y="8237024"/>
                <a:ext cx="3611630" cy="1309108"/>
                <a:chOff x="4289083" y="8260008"/>
                <a:chExt cx="3611630" cy="1309108"/>
              </a:xfrm>
            </p:grpSpPr>
            <p:sp>
              <p:nvSpPr>
                <p:cNvPr id="27" name="角丸四角形 141">
                  <a:extLst>
                    <a:ext uri="{FF2B5EF4-FFF2-40B4-BE49-F238E27FC236}">
                      <a16:creationId xmlns:a16="http://schemas.microsoft.com/office/drawing/2014/main" id="{FDAEA3CE-A202-3902-8A92-65C55D916597}"/>
                    </a:ext>
                  </a:extLst>
                </p:cNvPr>
                <p:cNvSpPr/>
                <p:nvPr/>
              </p:nvSpPr>
              <p:spPr>
                <a:xfrm>
                  <a:off x="4289083" y="8260008"/>
                  <a:ext cx="3490927" cy="1309108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200"/>
                </a:p>
              </p:txBody>
            </p:sp>
            <p:sp>
              <p:nvSpPr>
                <p:cNvPr id="28" name="テキスト ボックス 142">
                  <a:extLst>
                    <a:ext uri="{FF2B5EF4-FFF2-40B4-BE49-F238E27FC236}">
                      <a16:creationId xmlns:a16="http://schemas.microsoft.com/office/drawing/2014/main" id="{7D27B85E-8881-6E38-70B8-C94EADA13C84}"/>
                    </a:ext>
                  </a:extLst>
                </p:cNvPr>
                <p:cNvSpPr txBox="1"/>
                <p:nvPr/>
              </p:nvSpPr>
              <p:spPr>
                <a:xfrm>
                  <a:off x="4473674" y="8294099"/>
                  <a:ext cx="3427039" cy="3193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ja-JP" sz="1600" b="1" dirty="0"/>
                    <a:t>Parameter Estimation</a:t>
                  </a:r>
                  <a:endParaRPr lang="ja-JP" altLang="en-US" sz="1600" b="1"/>
                </a:p>
              </p:txBody>
            </p:sp>
            <p:sp>
              <p:nvSpPr>
                <p:cNvPr id="29" name="角丸四角形 143">
                  <a:extLst>
                    <a:ext uri="{FF2B5EF4-FFF2-40B4-BE49-F238E27FC236}">
                      <a16:creationId xmlns:a16="http://schemas.microsoft.com/office/drawing/2014/main" id="{2039E6AC-BA06-F5F2-39E4-EE5FDB546D68}"/>
                    </a:ext>
                  </a:extLst>
                </p:cNvPr>
                <p:cNvSpPr/>
                <p:nvPr/>
              </p:nvSpPr>
              <p:spPr>
                <a:xfrm>
                  <a:off x="4694198" y="8776287"/>
                  <a:ext cx="2718860" cy="659537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200"/>
                </a:p>
              </p:txBody>
            </p:sp>
          </p:grpSp>
          <p:sp>
            <p:nvSpPr>
              <p:cNvPr id="26" name="テキスト ボックス 140">
                <a:extLst>
                  <a:ext uri="{FF2B5EF4-FFF2-40B4-BE49-F238E27FC236}">
                    <a16:creationId xmlns:a16="http://schemas.microsoft.com/office/drawing/2014/main" id="{54ECFBFC-1506-0221-DEFA-4CF3917CAF4A}"/>
                  </a:ext>
                </a:extLst>
              </p:cNvPr>
              <p:cNvSpPr txBox="1"/>
              <p:nvPr/>
            </p:nvSpPr>
            <p:spPr>
              <a:xfrm>
                <a:off x="5328057" y="8863648"/>
                <a:ext cx="1666516" cy="319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b="1" dirty="0"/>
                  <a:t>SSOGMM</a:t>
                </a:r>
                <a:endParaRPr lang="ja-JP" altLang="en-US" sz="1600" b="1"/>
              </a:p>
            </p:txBody>
          </p:sp>
        </p:grpSp>
        <p:cxnSp>
          <p:nvCxnSpPr>
            <p:cNvPr id="19" name="直線矢印コネクタ 144">
              <a:extLst>
                <a:ext uri="{FF2B5EF4-FFF2-40B4-BE49-F238E27FC236}">
                  <a16:creationId xmlns:a16="http://schemas.microsoft.com/office/drawing/2014/main" id="{4CE97991-EE88-5600-0DAE-C72A8EFDFADB}"/>
                </a:ext>
              </a:extLst>
            </p:cNvPr>
            <p:cNvCxnSpPr/>
            <p:nvPr/>
          </p:nvCxnSpPr>
          <p:spPr>
            <a:xfrm>
              <a:off x="6833995" y="5844240"/>
              <a:ext cx="629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45">
                  <a:extLst>
                    <a:ext uri="{FF2B5EF4-FFF2-40B4-BE49-F238E27FC236}">
                      <a16:creationId xmlns:a16="http://schemas.microsoft.com/office/drawing/2014/main" id="{F3904DB0-02CE-39DD-9744-DD3D00569253}"/>
                    </a:ext>
                  </a:extLst>
                </p:cNvPr>
                <p:cNvSpPr txBox="1"/>
                <p:nvPr/>
              </p:nvSpPr>
              <p:spPr>
                <a:xfrm>
                  <a:off x="7061851" y="5446978"/>
                  <a:ext cx="253992" cy="2322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ja-JP" altLang="en-US" sz="1600"/>
                </a:p>
              </p:txBody>
            </p:sp>
          </mc:Choice>
          <mc:Fallback xmlns="">
            <p:sp>
              <p:nvSpPr>
                <p:cNvPr id="20" name="テキスト ボックス 145">
                  <a:extLst>
                    <a:ext uri="{FF2B5EF4-FFF2-40B4-BE49-F238E27FC236}">
                      <a16:creationId xmlns:a16="http://schemas.microsoft.com/office/drawing/2014/main" id="{F3904DB0-02CE-39DD-9744-DD3D005692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1851" y="5446978"/>
                  <a:ext cx="253992" cy="232236"/>
                </a:xfrm>
                <a:prstGeom prst="rect">
                  <a:avLst/>
                </a:prstGeom>
                <a:blipFill>
                  <a:blip r:embed="rId7"/>
                  <a:stretch>
                    <a:fillRect l="-40000" r="-26667" b="-2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角丸四角形 168">
              <a:extLst>
                <a:ext uri="{FF2B5EF4-FFF2-40B4-BE49-F238E27FC236}">
                  <a16:creationId xmlns:a16="http://schemas.microsoft.com/office/drawing/2014/main" id="{626151C9-A1EB-4DA0-E99F-85C28718C0A5}"/>
                </a:ext>
              </a:extLst>
            </p:cNvPr>
            <p:cNvSpPr/>
            <p:nvPr/>
          </p:nvSpPr>
          <p:spPr>
            <a:xfrm>
              <a:off x="5045235" y="2763288"/>
              <a:ext cx="1842973" cy="1826390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200"/>
            </a:p>
          </p:txBody>
        </p:sp>
        <p:sp>
          <p:nvSpPr>
            <p:cNvPr id="22" name="テキスト ボックス 169">
              <a:extLst>
                <a:ext uri="{FF2B5EF4-FFF2-40B4-BE49-F238E27FC236}">
                  <a16:creationId xmlns:a16="http://schemas.microsoft.com/office/drawing/2014/main" id="{C9B057F9-3118-45B2-A782-5EAF444AC887}"/>
                </a:ext>
              </a:extLst>
            </p:cNvPr>
            <p:cNvSpPr txBox="1"/>
            <p:nvPr/>
          </p:nvSpPr>
          <p:spPr>
            <a:xfrm>
              <a:off x="5193632" y="3199429"/>
              <a:ext cx="1897657" cy="609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b="1" dirty="0"/>
                <a:t>Mode </a:t>
              </a:r>
              <a:br>
                <a:rPr lang="en-US" altLang="ja-JP" b="1" dirty="0"/>
              </a:br>
              <a:r>
                <a:rPr lang="en-US" altLang="ja-JP" b="1" dirty="0"/>
                <a:t>Estimator</a:t>
              </a:r>
              <a:endParaRPr lang="ja-JP" altLang="en-US"/>
            </a:p>
          </p:txBody>
        </p:sp>
        <p:sp>
          <p:nvSpPr>
            <p:cNvPr id="23" name="テキスト ボックス 93">
              <a:extLst>
                <a:ext uri="{FF2B5EF4-FFF2-40B4-BE49-F238E27FC236}">
                  <a16:creationId xmlns:a16="http://schemas.microsoft.com/office/drawing/2014/main" id="{C534665F-17CF-82BD-2E7D-C454ECFA671F}"/>
                </a:ext>
              </a:extLst>
            </p:cNvPr>
            <p:cNvSpPr txBox="1"/>
            <p:nvPr/>
          </p:nvSpPr>
          <p:spPr>
            <a:xfrm>
              <a:off x="3801038" y="3005609"/>
              <a:ext cx="949710" cy="319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/>
                <a:t>Glucose</a:t>
              </a:r>
              <a:endParaRPr lang="ja-JP" altLang="en-US" sz="1600" b="1"/>
            </a:p>
          </p:txBody>
        </p:sp>
        <p:sp>
          <p:nvSpPr>
            <p:cNvPr id="24" name="テキスト ボックス 93">
              <a:extLst>
                <a:ext uri="{FF2B5EF4-FFF2-40B4-BE49-F238E27FC236}">
                  <a16:creationId xmlns:a16="http://schemas.microsoft.com/office/drawing/2014/main" id="{679466FF-D6CF-65CC-F692-0B998C961E05}"/>
                </a:ext>
              </a:extLst>
            </p:cNvPr>
            <p:cNvSpPr txBox="1"/>
            <p:nvPr/>
          </p:nvSpPr>
          <p:spPr>
            <a:xfrm>
              <a:off x="6080291" y="4649290"/>
              <a:ext cx="716578" cy="319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/>
                <a:t>Mode</a:t>
              </a:r>
              <a:endParaRPr lang="ja-JP" alt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216376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51994-31ED-C1CE-9A98-902F1F3F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グループ化 138">
            <a:extLst>
              <a:ext uri="{FF2B5EF4-FFF2-40B4-BE49-F238E27FC236}">
                <a16:creationId xmlns:a16="http://schemas.microsoft.com/office/drawing/2014/main" id="{0645DA81-0C31-B71D-4D04-27FF3B10F86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45329" y="248441"/>
            <a:ext cx="7794165" cy="6213784"/>
            <a:chOff x="1645329" y="248441"/>
            <a:chExt cx="7794165" cy="6213784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370E2FA5-25D8-51E8-E0CF-1FDF0EEACA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01783" y="3492190"/>
              <a:ext cx="1883626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256B09F8-F1B6-46D4-060D-07435EAB70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32188" y="3492190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F7F047B6-FE45-F3A4-FA8E-7866C84AF6A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32188" y="1936125"/>
              <a:ext cx="1655819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Glucose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4E26454-62B5-A701-7685-03E346FC0D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753522" y="1988677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Muscle and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adipose tissues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EB58372-586A-D97C-EACF-18ED875426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6528" y="1956709"/>
              <a:ext cx="1311631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LIVER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20BE72D6-3529-5215-B844-30B9C14B58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80738" y="651335"/>
              <a:ext cx="2078640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tract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C3196D1-A996-DF08-899E-2E51191931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22475" y="1074386"/>
              <a:ext cx="1531047" cy="33510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Renal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8CC9939-CD1B-AADE-E2AF-9DAEC61DDC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53278" y="356078"/>
              <a:ext cx="2986216" cy="383355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Brain and erythrocytes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CFB68CC-69CE-A244-FA41-6CE6170C5C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32188" y="4785530"/>
              <a:ext cx="1655819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Glucagon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F10C92F-6448-8A8B-D871-C210981645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13194" y="4785530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Alpha-cell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4437E01D-17CA-EFB6-3B96-DF774367A8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013194" y="5695515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Glucagon</a:t>
              </a: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B7F9DA07-C82D-59D6-6FFE-0D16A5A38277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7" idx="3"/>
            </p:cNvCxnSpPr>
            <p:nvPr/>
          </p:nvCxnSpPr>
          <p:spPr>
            <a:xfrm>
              <a:off x="4418159" y="2340064"/>
              <a:ext cx="1014029" cy="3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81DE0830-BB30-1CB7-09D2-FF3979FFF5E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88006" y="2428813"/>
              <a:ext cx="6655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899876C-C614-29D0-BBDD-9E6347A46BC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59378" y="1006298"/>
              <a:ext cx="444654" cy="929827"/>
              <a:chOff x="5159378" y="1006298"/>
              <a:chExt cx="444654" cy="929827"/>
            </a:xfrm>
          </p:grpSpPr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9DFDAA7-A431-84FE-09A2-CB44764F44C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159378" y="1006298"/>
                <a:ext cx="44465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52736315-6E77-864D-A923-D2B64945B9B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5604032" y="1006298"/>
                <a:ext cx="0" cy="9298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98A4A4B7-8320-DC53-F31B-344F8519953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949206" y="547756"/>
              <a:ext cx="504072" cy="1388369"/>
              <a:chOff x="5949206" y="547756"/>
              <a:chExt cx="504072" cy="1388369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611D6914-78F4-5D3E-7B7C-D1FF9A5A30D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flipV="1">
                <a:off x="5954812" y="547756"/>
                <a:ext cx="0" cy="13883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直線矢印コネクタ 29">
                <a:extLst>
                  <a:ext uri="{FF2B5EF4-FFF2-40B4-BE49-F238E27FC236}">
                    <a16:creationId xmlns:a16="http://schemas.microsoft.com/office/drawing/2014/main" id="{BEC33001-CCB0-8D2A-11D2-2FEE104A605D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  <a:endCxn id="10" idx="1"/>
              </p:cNvCxnSpPr>
              <p:nvPr/>
            </p:nvCxnSpPr>
            <p:spPr>
              <a:xfrm>
                <a:off x="5949206" y="547756"/>
                <a:ext cx="5040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16F0A0F5-EC10-1362-BACE-65313BC4450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537785" y="1409495"/>
              <a:ext cx="0" cy="526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BF9E0711-CC5E-F5CA-8A35-8A1FE5C1F92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9" idx="2"/>
            </p:cNvCxnSpPr>
            <p:nvPr/>
          </p:nvCxnSpPr>
          <p:spPr>
            <a:xfrm flipV="1">
              <a:off x="6987998" y="1409495"/>
              <a:ext cx="1" cy="52663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DEE8B95E-9FDE-634A-B5F5-5070D96EE82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88006" y="2213351"/>
              <a:ext cx="665516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4586A139-8B22-110D-F0EA-E41F5D73F43E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2" idx="3"/>
              <a:endCxn id="3" idx="1"/>
            </p:cNvCxnSpPr>
            <p:nvPr/>
          </p:nvCxnSpPr>
          <p:spPr>
            <a:xfrm>
              <a:off x="4685409" y="3875545"/>
              <a:ext cx="7467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D8EFAB3C-745C-EBC5-53D2-A08966298A1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088006" y="3875545"/>
              <a:ext cx="1194496" cy="1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8B76EDD2-B68D-AD13-29B4-50A5D3EAF15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" idx="0"/>
            </p:cNvCxnSpPr>
            <p:nvPr/>
          </p:nvCxnSpPr>
          <p:spPr>
            <a:xfrm flipV="1">
              <a:off x="6260097" y="3291840"/>
              <a:ext cx="0" cy="20035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カギ線コネクタ 51">
              <a:extLst>
                <a:ext uri="{FF2B5EF4-FFF2-40B4-BE49-F238E27FC236}">
                  <a16:creationId xmlns:a16="http://schemas.microsoft.com/office/drawing/2014/main" id="{03F42795-979C-DB87-84AB-1BB4FD2A9B1F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55" idx="2"/>
              <a:endCxn id="7" idx="2"/>
            </p:cNvCxnSpPr>
            <p:nvPr/>
          </p:nvCxnSpPr>
          <p:spPr>
            <a:xfrm rot="10800000">
              <a:off x="3762345" y="2723419"/>
              <a:ext cx="2461753" cy="550354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カギ線コネクタ 53">
              <a:extLst>
                <a:ext uri="{FF2B5EF4-FFF2-40B4-BE49-F238E27FC236}">
                  <a16:creationId xmlns:a16="http://schemas.microsoft.com/office/drawing/2014/main" id="{D0564C69-2DF6-1651-0031-673D3BD0CE36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55" idx="6"/>
              <a:endCxn id="5" idx="2"/>
            </p:cNvCxnSpPr>
            <p:nvPr/>
          </p:nvCxnSpPr>
          <p:spPr>
            <a:xfrm flipV="1">
              <a:off x="6296097" y="2755387"/>
              <a:ext cx="2285334" cy="518386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円/楕円 54">
              <a:extLst>
                <a:ext uri="{FF2B5EF4-FFF2-40B4-BE49-F238E27FC236}">
                  <a16:creationId xmlns:a16="http://schemas.microsoft.com/office/drawing/2014/main" id="{10946CBB-FE92-5EAB-3074-7A034629078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24097" y="3237773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>
              <a:extLst>
                <a:ext uri="{FF2B5EF4-FFF2-40B4-BE49-F238E27FC236}">
                  <a16:creationId xmlns:a16="http://schemas.microsoft.com/office/drawing/2014/main" id="{8F4B8D99-2A71-73DE-4548-B97331CC290E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224097" y="2866458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5F85FFCB-8CB0-05C0-A7DA-513285AC787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6260097" y="2702835"/>
              <a:ext cx="0" cy="20035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E8A68DAE-4DC2-A5AF-74C8-7E68AD129B43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72" idx="6"/>
            </p:cNvCxnSpPr>
            <p:nvPr/>
          </p:nvCxnSpPr>
          <p:spPr>
            <a:xfrm>
              <a:off x="6296097" y="2902458"/>
              <a:ext cx="188841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109079B7-EBDF-482D-58A6-509AE359B2F0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8184515" y="2755387"/>
              <a:ext cx="0" cy="14707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959D07F6-1337-363F-7FF8-A616E5ECF23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72" idx="2"/>
            </p:cNvCxnSpPr>
            <p:nvPr/>
          </p:nvCxnSpPr>
          <p:spPr>
            <a:xfrm>
              <a:off x="2629912" y="2902031"/>
              <a:ext cx="3594185" cy="42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線コネクタ 88">
              <a:extLst>
                <a:ext uri="{FF2B5EF4-FFF2-40B4-BE49-F238E27FC236}">
                  <a16:creationId xmlns:a16="http://schemas.microsoft.com/office/drawing/2014/main" id="{FFCDF10F-DE24-EA5E-82B6-0697B5D770C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623037" y="2902458"/>
              <a:ext cx="0" cy="2266427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線矢印コネクタ 91">
              <a:extLst>
                <a:ext uri="{FF2B5EF4-FFF2-40B4-BE49-F238E27FC236}">
                  <a16:creationId xmlns:a16="http://schemas.microsoft.com/office/drawing/2014/main" id="{CDA56AA4-6CE7-78C8-B506-B938BEA3C6F8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12" idx="1"/>
            </p:cNvCxnSpPr>
            <p:nvPr/>
          </p:nvCxnSpPr>
          <p:spPr>
            <a:xfrm>
              <a:off x="2629912" y="5168885"/>
              <a:ext cx="383282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線矢印コネクタ 93">
              <a:extLst>
                <a:ext uri="{FF2B5EF4-FFF2-40B4-BE49-F238E27FC236}">
                  <a16:creationId xmlns:a16="http://schemas.microsoft.com/office/drawing/2014/main" id="{1DAA10E5-B074-F826-BE3E-D7F2ED7C355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3358682" y="2723419"/>
              <a:ext cx="0" cy="17861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円/楕円 94">
              <a:extLst>
                <a:ext uri="{FF2B5EF4-FFF2-40B4-BE49-F238E27FC236}">
                  <a16:creationId xmlns:a16="http://schemas.microsoft.com/office/drawing/2014/main" id="{11FF9719-D197-F085-E53F-8F327CC33BA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322682" y="2865668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8" name="直線矢印コネクタ 97">
              <a:extLst>
                <a:ext uri="{FF2B5EF4-FFF2-40B4-BE49-F238E27FC236}">
                  <a16:creationId xmlns:a16="http://schemas.microsoft.com/office/drawing/2014/main" id="{A7D00C63-E68D-CD82-F1D0-F49671B892F0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2" idx="3"/>
              <a:endCxn id="11" idx="1"/>
            </p:cNvCxnSpPr>
            <p:nvPr/>
          </p:nvCxnSpPr>
          <p:spPr>
            <a:xfrm>
              <a:off x="4669012" y="5168885"/>
              <a:ext cx="7631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カギ線コネクタ 99">
              <a:extLst>
                <a:ext uri="{FF2B5EF4-FFF2-40B4-BE49-F238E27FC236}">
                  <a16:creationId xmlns:a16="http://schemas.microsoft.com/office/drawing/2014/main" id="{3933751B-D5A3-E409-CD3C-329B31E64A2B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3" idx="2"/>
              <a:endCxn id="12" idx="0"/>
            </p:cNvCxnSpPr>
            <p:nvPr/>
          </p:nvCxnSpPr>
          <p:spPr>
            <a:xfrm rot="5400000">
              <a:off x="4787285" y="3312718"/>
              <a:ext cx="526630" cy="2418994"/>
            </a:xfrm>
            <a:prstGeom prst="bentConnector3">
              <a:avLst>
                <a:gd name="adj1" fmla="val 50000"/>
              </a:avLst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22918D29-BE12-B469-858C-DF471CD312E4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3" idx="3"/>
            </p:cNvCxnSpPr>
            <p:nvPr/>
          </p:nvCxnSpPr>
          <p:spPr>
            <a:xfrm>
              <a:off x="4669012" y="6078870"/>
              <a:ext cx="118314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線矢印コネクタ 106">
              <a:extLst>
                <a:ext uri="{FF2B5EF4-FFF2-40B4-BE49-F238E27FC236}">
                  <a16:creationId xmlns:a16="http://schemas.microsoft.com/office/drawing/2014/main" id="{F9513065-AD29-7415-88A7-B47CDBB2A77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5872480" y="5552240"/>
              <a:ext cx="0" cy="526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カギ線コネクタ 108">
              <a:extLst>
                <a:ext uri="{FF2B5EF4-FFF2-40B4-BE49-F238E27FC236}">
                  <a16:creationId xmlns:a16="http://schemas.microsoft.com/office/drawing/2014/main" id="{E94292DA-A1DD-4A7A-0E63-7965BE05439C}"/>
                </a:ext>
              </a:extLst>
            </p:cNvPr>
            <p:cNvCxnSpPr>
              <a:cxnSpLocks noGrp="1" noRot="1" noMove="1" noResize="1" noEditPoints="1" noAdjustHandles="1" noChangeArrowheads="1" noChangeShapeType="1"/>
              <a:stCxn id="11" idx="2"/>
              <a:endCxn id="7" idx="1"/>
            </p:cNvCxnSpPr>
            <p:nvPr/>
          </p:nvCxnSpPr>
          <p:spPr>
            <a:xfrm rot="5400000" flipH="1">
              <a:off x="3077225" y="2369367"/>
              <a:ext cx="3212176" cy="3153570"/>
            </a:xfrm>
            <a:prstGeom prst="bentConnector4">
              <a:avLst>
                <a:gd name="adj1" fmla="val -31788"/>
                <a:gd name="adj2" fmla="val 126902"/>
              </a:avLst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線矢印コネクタ 111">
              <a:extLst>
                <a:ext uri="{FF2B5EF4-FFF2-40B4-BE49-F238E27FC236}">
                  <a16:creationId xmlns:a16="http://schemas.microsoft.com/office/drawing/2014/main" id="{183B256A-CA79-F6D9-AEFE-2D4C0FBDCEE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088006" y="5158756"/>
              <a:ext cx="1194496" cy="1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89D2D710-FCA6-2D81-0510-348AD739C0EA}"/>
                </a:ext>
              </a:extLst>
            </p:cNvPr>
            <p:cNvCxnSpPr>
              <a:cxnSpLocks noGrp="1" noRot="1" noMove="1" noResize="1" noEditPoints="1" noAdjustHandles="1" noChangeArrowheads="1" noChangeShapeType="1"/>
              <a:endCxn id="8" idx="1"/>
            </p:cNvCxnSpPr>
            <p:nvPr/>
          </p:nvCxnSpPr>
          <p:spPr>
            <a:xfrm>
              <a:off x="1808480" y="1034690"/>
              <a:ext cx="1272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線矢印コネクタ 115">
              <a:extLst>
                <a:ext uri="{FF2B5EF4-FFF2-40B4-BE49-F238E27FC236}">
                  <a16:creationId xmlns:a16="http://schemas.microsoft.com/office/drawing/2014/main" id="{1F86F35E-15F3-D4F5-A55F-2832D506F11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676400" y="3875545"/>
              <a:ext cx="1145153" cy="1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テキスト ボックス 117">
                  <a:extLst>
                    <a:ext uri="{FF2B5EF4-FFF2-40B4-BE49-F238E27FC236}">
                      <a16:creationId xmlns:a16="http://schemas.microsoft.com/office/drawing/2014/main" id="{EBD6B057-4C9A-9F1C-A258-1FB8BCBE00D0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189986" y="715245"/>
                  <a:ext cx="3939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118" name="テキスト ボックス 117">
                  <a:extLst>
                    <a:ext uri="{FF2B5EF4-FFF2-40B4-BE49-F238E27FC236}">
                      <a16:creationId xmlns:a16="http://schemas.microsoft.com/office/drawing/2014/main" id="{EBD6B057-4C9A-9F1C-A258-1FB8BCBE00D0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986" y="715245"/>
                  <a:ext cx="39391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125" b="-86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E24743C2-FE07-FFDE-28EB-272F97CDB65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550004" y="2055158"/>
                  <a:ext cx="5041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𝐸𝐺𝑃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E24743C2-FE07-FFDE-28EB-272F97CDB65C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0004" y="2055158"/>
                  <a:ext cx="504177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0000" r="-7500" b="-86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A513DF73-3A96-F07B-2BBB-3C71CE08A283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41677" y="248441"/>
                  <a:ext cx="3442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A513DF73-3A96-F07B-2BBB-3C71CE08A283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1677" y="248441"/>
                  <a:ext cx="34426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4815" r="-3704" b="-173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B20C92A4-1BF5-A1C6-00D0-338C6DCCC9B5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285937" y="1560586"/>
                  <a:ext cx="21903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B20C92A4-1BF5-A1C6-00D0-338C6DCCC9B5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5937" y="1560586"/>
                  <a:ext cx="21903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789" r="-15789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テキスト ボックス 122">
                  <a:extLst>
                    <a:ext uri="{FF2B5EF4-FFF2-40B4-BE49-F238E27FC236}">
                      <a16:creationId xmlns:a16="http://schemas.microsoft.com/office/drawing/2014/main" id="{21841AD7-AF90-5540-7747-57C00E7C77CD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672527" y="1611434"/>
                  <a:ext cx="315471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3" name="テキスト ボックス 122">
                  <a:extLst>
                    <a:ext uri="{FF2B5EF4-FFF2-40B4-BE49-F238E27FC236}">
                      <a16:creationId xmlns:a16="http://schemas.microsoft.com/office/drawing/2014/main" id="{21841AD7-AF90-5540-7747-57C00E7C77CD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2527" y="1611434"/>
                  <a:ext cx="315471" cy="298415"/>
                </a:xfrm>
                <a:prstGeom prst="rect">
                  <a:avLst/>
                </a:prstGeom>
                <a:blipFill>
                  <a:blip r:embed="rId7"/>
                  <a:stretch>
                    <a:fillRect l="-15385" r="-3846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テキスト ボックス 123">
                  <a:extLst>
                    <a:ext uri="{FF2B5EF4-FFF2-40B4-BE49-F238E27FC236}">
                      <a16:creationId xmlns:a16="http://schemas.microsoft.com/office/drawing/2014/main" id="{2E770358-9AD6-1F75-497C-7DEA7060DA43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161116" y="2422569"/>
                  <a:ext cx="3919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4" name="テキスト ボックス 123">
                  <a:extLst>
                    <a:ext uri="{FF2B5EF4-FFF2-40B4-BE49-F238E27FC236}">
                      <a16:creationId xmlns:a16="http://schemas.microsoft.com/office/drawing/2014/main" id="{2E770358-9AD6-1F75-497C-7DEA7060DA43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1116" y="2422569"/>
                  <a:ext cx="391902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2903" r="-3226" b="-173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テキスト ボックス 124">
                  <a:extLst>
                    <a:ext uri="{FF2B5EF4-FFF2-40B4-BE49-F238E27FC236}">
                      <a16:creationId xmlns:a16="http://schemas.microsoft.com/office/drawing/2014/main" id="{720598FC-760E-0843-AE1C-59113C79EB93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7260374" y="1891363"/>
                  <a:ext cx="2926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5" name="テキスト ボックス 124">
                  <a:extLst>
                    <a:ext uri="{FF2B5EF4-FFF2-40B4-BE49-F238E27FC236}">
                      <a16:creationId xmlns:a16="http://schemas.microsoft.com/office/drawing/2014/main" id="{720598FC-760E-0843-AE1C-59113C79EB93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0374" y="1891363"/>
                  <a:ext cx="29264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2500" r="-4167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52CFAD19-5F47-5252-7EEC-7EFFCECB02B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769721" y="3558742"/>
                  <a:ext cx="3896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52CFAD19-5F47-5252-7EEC-7EFFCECB02BE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9721" y="3558742"/>
                  <a:ext cx="38965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9375" r="-3125" b="-181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E33055A9-5026-A8B9-035B-35D170A938D2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762390" y="5789160"/>
                  <a:ext cx="4888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27" name="テキスト ボックス 126">
                  <a:extLst>
                    <a:ext uri="{FF2B5EF4-FFF2-40B4-BE49-F238E27FC236}">
                      <a16:creationId xmlns:a16="http://schemas.microsoft.com/office/drawing/2014/main" id="{E33055A9-5026-A8B9-035B-35D170A938D2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2390" y="5789160"/>
                  <a:ext cx="48885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7500" b="-1363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テキスト ボックス 128">
              <a:extLst>
                <a:ext uri="{FF2B5EF4-FFF2-40B4-BE49-F238E27FC236}">
                  <a16:creationId xmlns:a16="http://schemas.microsoft.com/office/drawing/2014/main" id="{3DD773BA-E796-2D09-726F-2D87489D5B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357067" y="5004868"/>
              <a:ext cx="76623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1000" b="1" dirty="0"/>
                <a:t>Degradation</a:t>
              </a:r>
              <a:endParaRPr kumimoji="1" lang="ja-JP" altLang="en-US" sz="1000" b="1"/>
            </a:p>
          </p:txBody>
        </p:sp>
        <p:sp>
          <p:nvSpPr>
            <p:cNvPr id="130" name="テキスト ボックス 129">
              <a:extLst>
                <a:ext uri="{FF2B5EF4-FFF2-40B4-BE49-F238E27FC236}">
                  <a16:creationId xmlns:a16="http://schemas.microsoft.com/office/drawing/2014/main" id="{541A2624-E015-429B-1FE6-84ECDF0EE5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406696" y="3697241"/>
              <a:ext cx="76623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1000" b="1" dirty="0"/>
                <a:t>Degradation</a:t>
              </a:r>
              <a:endParaRPr kumimoji="1" lang="ja-JP" altLang="en-US" sz="10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テキスト ボックス 130">
                  <a:extLst>
                    <a:ext uri="{FF2B5EF4-FFF2-40B4-BE49-F238E27FC236}">
                      <a16:creationId xmlns:a16="http://schemas.microsoft.com/office/drawing/2014/main" id="{D4EDF3CD-3723-BD98-4E38-1190DFE52C19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5977407" y="3253735"/>
                  <a:ext cx="1611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1" name="テキスト ボックス 130">
                  <a:extLst>
                    <a:ext uri="{FF2B5EF4-FFF2-40B4-BE49-F238E27FC236}">
                      <a16:creationId xmlns:a16="http://schemas.microsoft.com/office/drawing/2014/main" id="{D4EDF3CD-3723-BD98-4E38-1190DFE52C19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7407" y="3253735"/>
                  <a:ext cx="16119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1429" r="-21429"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テキスト ボックス 131">
                  <a:extLst>
                    <a:ext uri="{FF2B5EF4-FFF2-40B4-BE49-F238E27FC236}">
                      <a16:creationId xmlns:a16="http://schemas.microsoft.com/office/drawing/2014/main" id="{84723B7C-2831-DD2E-BA3C-2CAA7522DCC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645329" y="3547233"/>
                  <a:ext cx="4618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2" name="テキスト ボックス 131">
                  <a:extLst>
                    <a:ext uri="{FF2B5EF4-FFF2-40B4-BE49-F238E27FC236}">
                      <a16:creationId xmlns:a16="http://schemas.microsoft.com/office/drawing/2014/main" id="{84723B7C-2831-DD2E-BA3C-2CAA7522DCCC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5329" y="3547233"/>
                  <a:ext cx="46185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5263" r="-2632" b="-181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テキスト ボックス 132">
                  <a:extLst>
                    <a:ext uri="{FF2B5EF4-FFF2-40B4-BE49-F238E27FC236}">
                      <a16:creationId xmlns:a16="http://schemas.microsoft.com/office/drawing/2014/main" id="{421F2915-18A0-8A17-4D93-CF27EC8CABE2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731576" y="715245"/>
                  <a:ext cx="627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3" name="テキスト ボックス 132">
                  <a:extLst>
                    <a:ext uri="{FF2B5EF4-FFF2-40B4-BE49-F238E27FC236}">
                      <a16:creationId xmlns:a16="http://schemas.microsoft.com/office/drawing/2014/main" id="{421F2915-18A0-8A17-4D93-CF27EC8CABE2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576" y="715245"/>
                  <a:ext cx="627672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8000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テキスト ボックス 133">
                  <a:extLst>
                    <a:ext uri="{FF2B5EF4-FFF2-40B4-BE49-F238E27FC236}">
                      <a16:creationId xmlns:a16="http://schemas.microsoft.com/office/drawing/2014/main" id="{7032C0D8-F786-DB4F-2FA5-4336F2581E52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350161" y="2672355"/>
                  <a:ext cx="221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4" name="テキスト ボックス 133">
                  <a:extLst>
                    <a:ext uri="{FF2B5EF4-FFF2-40B4-BE49-F238E27FC236}">
                      <a16:creationId xmlns:a16="http://schemas.microsoft.com/office/drawing/2014/main" id="{7032C0D8-F786-DB4F-2FA5-4336F2581E52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0161" y="2672355"/>
                  <a:ext cx="221727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2222" r="-16667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57C941E7-F4C2-3BFA-8059-A4C23F30BCD9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293609" y="4338816"/>
                  <a:ext cx="1611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57C941E7-F4C2-3BFA-8059-A4C23F30BCD9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609" y="4338816"/>
                  <a:ext cx="161198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21429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79FEA850-D4A7-CA71-98E5-055174BE99E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713765" y="4883950"/>
                  <a:ext cx="4762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79FEA850-D4A7-CA71-98E5-055174BE99EE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765" y="4883950"/>
                  <a:ext cx="476221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10526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C03A6BAF-8D4E-EF26-3BA0-820816EF17F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6319521" y="5658719"/>
                  <a:ext cx="2407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C03A6BAF-8D4E-EF26-3BA0-820816EF17FF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521" y="5658719"/>
                  <a:ext cx="240772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0000" r="-15000" b="-434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027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7323E-589C-F08A-0FB1-2BE24D5D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グループ化 122">
            <a:extLst>
              <a:ext uri="{FF2B5EF4-FFF2-40B4-BE49-F238E27FC236}">
                <a16:creationId xmlns:a16="http://schemas.microsoft.com/office/drawing/2014/main" id="{237195C0-2B7D-DEE1-5868-FED54BBCE443}"/>
              </a:ext>
            </a:extLst>
          </p:cNvPr>
          <p:cNvGrpSpPr/>
          <p:nvPr/>
        </p:nvGrpSpPr>
        <p:grpSpPr>
          <a:xfrm>
            <a:off x="563828" y="315646"/>
            <a:ext cx="10800545" cy="4010459"/>
            <a:chOff x="563828" y="315646"/>
            <a:chExt cx="10800545" cy="4010459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04BCDC73-C31C-B0D1-257B-DC6F5816CDA1}"/>
                </a:ext>
              </a:extLst>
            </p:cNvPr>
            <p:cNvSpPr/>
            <p:nvPr/>
          </p:nvSpPr>
          <p:spPr>
            <a:xfrm>
              <a:off x="4726662" y="3559395"/>
              <a:ext cx="1883626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54CC162-4A40-FC49-804E-51073FF411C2}"/>
                </a:ext>
              </a:extLst>
            </p:cNvPr>
            <p:cNvSpPr/>
            <p:nvPr/>
          </p:nvSpPr>
          <p:spPr>
            <a:xfrm>
              <a:off x="7357067" y="3559395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Insulin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B5A6017-D349-FDEE-36D1-92D58F0C3D2B}"/>
                </a:ext>
              </a:extLst>
            </p:cNvPr>
            <p:cNvSpPr/>
            <p:nvPr/>
          </p:nvSpPr>
          <p:spPr>
            <a:xfrm>
              <a:off x="7357067" y="2003330"/>
              <a:ext cx="1655819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Glucose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AC9B0CB-0F6A-729D-0BC1-55D21C36EB0D}"/>
                </a:ext>
              </a:extLst>
            </p:cNvPr>
            <p:cNvSpPr/>
            <p:nvPr/>
          </p:nvSpPr>
          <p:spPr>
            <a:xfrm>
              <a:off x="9678401" y="2055882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Muscle and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adipose tissues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A25F31D4-9756-2A9C-6705-1FAB7B0F6108}"/>
                </a:ext>
              </a:extLst>
            </p:cNvPr>
            <p:cNvSpPr/>
            <p:nvPr/>
          </p:nvSpPr>
          <p:spPr>
            <a:xfrm>
              <a:off x="5031407" y="2023914"/>
              <a:ext cx="1311631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LIVER</a:t>
              </a: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FEA0715-2307-0042-096E-B889DCECD087}"/>
                </a:ext>
              </a:extLst>
            </p:cNvPr>
            <p:cNvSpPr/>
            <p:nvPr/>
          </p:nvSpPr>
          <p:spPr>
            <a:xfrm>
              <a:off x="5005617" y="718540"/>
              <a:ext cx="2078640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tract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73F29DF-382D-05B8-6E03-083325A461F9}"/>
                </a:ext>
              </a:extLst>
            </p:cNvPr>
            <p:cNvSpPr/>
            <p:nvPr/>
          </p:nvSpPr>
          <p:spPr>
            <a:xfrm>
              <a:off x="8147354" y="1141591"/>
              <a:ext cx="1531047" cy="335109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Renal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AE645705-4C82-16CC-2308-4B025EDB5841}"/>
                </a:ext>
              </a:extLst>
            </p:cNvPr>
            <p:cNvSpPr/>
            <p:nvPr/>
          </p:nvSpPr>
          <p:spPr>
            <a:xfrm>
              <a:off x="8378157" y="423283"/>
              <a:ext cx="2986216" cy="383355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Brain and erythrocytes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6EF46CD-6DEB-7214-683A-C00A2A17B544}"/>
                </a:ext>
              </a:extLst>
            </p:cNvPr>
            <p:cNvSpPr/>
            <p:nvPr/>
          </p:nvSpPr>
          <p:spPr>
            <a:xfrm>
              <a:off x="2997581" y="2029443"/>
              <a:ext cx="1655819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Glucagon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system</a:t>
              </a:r>
              <a:endParaRPr kumimoji="1"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8ACBA3DF-3BD3-F9CE-C6C0-0D554E476714}"/>
                </a:ext>
              </a:extLst>
            </p:cNvPr>
            <p:cNvSpPr/>
            <p:nvPr/>
          </p:nvSpPr>
          <p:spPr>
            <a:xfrm>
              <a:off x="563828" y="2035324"/>
              <a:ext cx="1655818" cy="766710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Alpha-cell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B00687B-2056-7478-3B48-1CF276192695}"/>
                </a:ext>
              </a:extLst>
            </p:cNvPr>
            <p:cNvSpPr/>
            <p:nvPr/>
          </p:nvSpPr>
          <p:spPr>
            <a:xfrm>
              <a:off x="1566837" y="1249756"/>
              <a:ext cx="1539084" cy="623678"/>
            </a:xfrm>
            <a:prstGeom prst="rect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Subcutaneous</a:t>
              </a: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Glucagon</a:t>
              </a:r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2D2B1A73-F22E-A4B3-32A1-7059CED78201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6343038" y="2407269"/>
              <a:ext cx="10140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7DE5644C-670B-9A7B-127A-23ED2609E27F}"/>
                </a:ext>
              </a:extLst>
            </p:cNvPr>
            <p:cNvCxnSpPr/>
            <p:nvPr/>
          </p:nvCxnSpPr>
          <p:spPr>
            <a:xfrm>
              <a:off x="9012885" y="2496018"/>
              <a:ext cx="6655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3FCA5496-3DE3-9494-23E4-4B4CBF9CB817}"/>
                </a:ext>
              </a:extLst>
            </p:cNvPr>
            <p:cNvGrpSpPr/>
            <p:nvPr/>
          </p:nvGrpSpPr>
          <p:grpSpPr>
            <a:xfrm>
              <a:off x="7084257" y="1073503"/>
              <a:ext cx="444654" cy="929827"/>
              <a:chOff x="5159378" y="1006298"/>
              <a:chExt cx="444654" cy="929827"/>
            </a:xfrm>
          </p:grpSpPr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7FF0BD11-3381-7257-B7D3-5E1AD0401CD7}"/>
                  </a:ext>
                </a:extLst>
              </p:cNvPr>
              <p:cNvCxnSpPr/>
              <p:nvPr/>
            </p:nvCxnSpPr>
            <p:spPr>
              <a:xfrm>
                <a:off x="5159378" y="1006298"/>
                <a:ext cx="44465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線矢印コネクタ 64">
                <a:extLst>
                  <a:ext uri="{FF2B5EF4-FFF2-40B4-BE49-F238E27FC236}">
                    <a16:creationId xmlns:a16="http://schemas.microsoft.com/office/drawing/2014/main" id="{55D60BD9-AA2B-AD48-757F-A85B77E778A0}"/>
                  </a:ext>
                </a:extLst>
              </p:cNvPr>
              <p:cNvCxnSpPr/>
              <p:nvPr/>
            </p:nvCxnSpPr>
            <p:spPr>
              <a:xfrm>
                <a:off x="5604032" y="1006298"/>
                <a:ext cx="0" cy="9298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86900CD0-B6E8-DA8E-AD5F-CD0296940B7B}"/>
                </a:ext>
              </a:extLst>
            </p:cNvPr>
            <p:cNvGrpSpPr/>
            <p:nvPr/>
          </p:nvGrpSpPr>
          <p:grpSpPr>
            <a:xfrm>
              <a:off x="7874085" y="614961"/>
              <a:ext cx="504072" cy="1388369"/>
              <a:chOff x="5954812" y="547756"/>
              <a:chExt cx="504072" cy="1388369"/>
            </a:xfrm>
          </p:grpSpPr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D077EC3D-193D-0A89-6636-7BB2E9469B6B}"/>
                  </a:ext>
                </a:extLst>
              </p:cNvPr>
              <p:cNvCxnSpPr/>
              <p:nvPr/>
            </p:nvCxnSpPr>
            <p:spPr>
              <a:xfrm flipV="1">
                <a:off x="5954812" y="547756"/>
                <a:ext cx="0" cy="13883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線矢印コネクタ 62">
                <a:extLst>
                  <a:ext uri="{FF2B5EF4-FFF2-40B4-BE49-F238E27FC236}">
                    <a16:creationId xmlns:a16="http://schemas.microsoft.com/office/drawing/2014/main" id="{63EC8201-FB90-BDC9-8E73-1841DC4542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4812" y="547756"/>
                <a:ext cx="50407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9EBA550A-D177-5D54-CC2A-FED3282463B1}"/>
                </a:ext>
              </a:extLst>
            </p:cNvPr>
            <p:cNvCxnSpPr/>
            <p:nvPr/>
          </p:nvCxnSpPr>
          <p:spPr>
            <a:xfrm flipV="1">
              <a:off x="8462664" y="1476700"/>
              <a:ext cx="0" cy="5266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F2F1AB71-4BB0-8501-F0E1-37A214628378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8912877" y="1476700"/>
              <a:ext cx="1" cy="52663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09DFBED2-44A9-24B1-ED65-2B0DFC14C325}"/>
                </a:ext>
              </a:extLst>
            </p:cNvPr>
            <p:cNvCxnSpPr/>
            <p:nvPr/>
          </p:nvCxnSpPr>
          <p:spPr>
            <a:xfrm>
              <a:off x="9012885" y="2280556"/>
              <a:ext cx="665516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EB099682-0B7D-BE20-B797-EF62A94C6A64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6610288" y="3942750"/>
              <a:ext cx="7467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E4DC5BD9-C081-0D51-426D-4AFED2C534BA}"/>
                </a:ext>
              </a:extLst>
            </p:cNvPr>
            <p:cNvCxnSpPr/>
            <p:nvPr/>
          </p:nvCxnSpPr>
          <p:spPr>
            <a:xfrm flipV="1">
              <a:off x="9012885" y="3942750"/>
              <a:ext cx="1194496" cy="1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5DA950BF-68CC-978B-0656-8B0B63D96DAA}"/>
                </a:ext>
              </a:extLst>
            </p:cNvPr>
            <p:cNvCxnSpPr>
              <a:stCxn id="4" idx="0"/>
            </p:cNvCxnSpPr>
            <p:nvPr/>
          </p:nvCxnSpPr>
          <p:spPr>
            <a:xfrm flipV="1">
              <a:off x="8184976" y="3359045"/>
              <a:ext cx="0" cy="20035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カギ線コネクタ 51">
              <a:extLst>
                <a:ext uri="{FF2B5EF4-FFF2-40B4-BE49-F238E27FC236}">
                  <a16:creationId xmlns:a16="http://schemas.microsoft.com/office/drawing/2014/main" id="{24DBD345-9828-79C5-EC4C-970C93812731}"/>
                </a:ext>
              </a:extLst>
            </p:cNvPr>
            <p:cNvCxnSpPr>
              <a:stCxn id="26" idx="2"/>
              <a:endCxn id="7" idx="2"/>
            </p:cNvCxnSpPr>
            <p:nvPr/>
          </p:nvCxnSpPr>
          <p:spPr>
            <a:xfrm rot="10800000">
              <a:off x="5687224" y="2790624"/>
              <a:ext cx="2461753" cy="550354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カギ線コネクタ 53">
              <a:extLst>
                <a:ext uri="{FF2B5EF4-FFF2-40B4-BE49-F238E27FC236}">
                  <a16:creationId xmlns:a16="http://schemas.microsoft.com/office/drawing/2014/main" id="{A79268C1-97F7-4FE4-7A3B-77438D6C3E6E}"/>
                </a:ext>
              </a:extLst>
            </p:cNvPr>
            <p:cNvCxnSpPr>
              <a:stCxn id="26" idx="6"/>
              <a:endCxn id="6" idx="2"/>
            </p:cNvCxnSpPr>
            <p:nvPr/>
          </p:nvCxnSpPr>
          <p:spPr>
            <a:xfrm flipV="1">
              <a:off x="8220976" y="2822592"/>
              <a:ext cx="2285334" cy="504000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円/楕円 54">
              <a:extLst>
                <a:ext uri="{FF2B5EF4-FFF2-40B4-BE49-F238E27FC236}">
                  <a16:creationId xmlns:a16="http://schemas.microsoft.com/office/drawing/2014/main" id="{190AFD85-5AFD-A542-F15C-69AEC8CA4D88}"/>
                </a:ext>
              </a:extLst>
            </p:cNvPr>
            <p:cNvSpPr/>
            <p:nvPr/>
          </p:nvSpPr>
          <p:spPr>
            <a:xfrm>
              <a:off x="8148976" y="3304978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/楕円 71">
              <a:extLst>
                <a:ext uri="{FF2B5EF4-FFF2-40B4-BE49-F238E27FC236}">
                  <a16:creationId xmlns:a16="http://schemas.microsoft.com/office/drawing/2014/main" id="{C809990B-EE65-F8C3-CD9B-8FF9DB685DEA}"/>
                </a:ext>
              </a:extLst>
            </p:cNvPr>
            <p:cNvSpPr/>
            <p:nvPr/>
          </p:nvSpPr>
          <p:spPr>
            <a:xfrm>
              <a:off x="8148976" y="2995945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C84DDBAF-7F3B-6C9A-0948-40330ECD0C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84976" y="2802195"/>
              <a:ext cx="0" cy="20035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99475FA5-3A60-4581-C1EB-2B0C3C5663B4}"/>
                </a:ext>
              </a:extLst>
            </p:cNvPr>
            <p:cNvCxnSpPr>
              <a:cxnSpLocks/>
            </p:cNvCxnSpPr>
            <p:nvPr/>
          </p:nvCxnSpPr>
          <p:spPr>
            <a:xfrm>
              <a:off x="8220977" y="3035727"/>
              <a:ext cx="1888418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2E724D6-4852-466E-221B-7D36D305BC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97810" y="2819015"/>
              <a:ext cx="11585" cy="216712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83D13FF6-2495-3BB9-950F-F41CA2C94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900" y="3039419"/>
              <a:ext cx="641207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3C967AD9-74FD-700C-AD09-CBE068C1C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900" y="2790623"/>
              <a:ext cx="0" cy="258438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025D7535-1239-70D7-F046-66A637D251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3562" y="2790623"/>
              <a:ext cx="0" cy="244677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円/楕円 94">
              <a:extLst>
                <a:ext uri="{FF2B5EF4-FFF2-40B4-BE49-F238E27FC236}">
                  <a16:creationId xmlns:a16="http://schemas.microsoft.com/office/drawing/2014/main" id="{3F1A1F53-D0AA-DC29-356D-52CCFF3561C0}"/>
                </a:ext>
              </a:extLst>
            </p:cNvPr>
            <p:cNvSpPr/>
            <p:nvPr/>
          </p:nvSpPr>
          <p:spPr>
            <a:xfrm>
              <a:off x="5247562" y="3013061"/>
              <a:ext cx="72000" cy="72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12F639B0-DB44-C3BF-081A-E4998616835A}"/>
                </a:ext>
              </a:extLst>
            </p:cNvPr>
            <p:cNvCxnSpPr>
              <a:cxnSpLocks/>
              <a:stCxn id="12" idx="3"/>
              <a:endCxn id="11" idx="1"/>
            </p:cNvCxnSpPr>
            <p:nvPr/>
          </p:nvCxnSpPr>
          <p:spPr>
            <a:xfrm flipV="1">
              <a:off x="2219646" y="2412798"/>
              <a:ext cx="7779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B5060BC2-4F46-02E6-A158-E7600B5A461B}"/>
                </a:ext>
              </a:extLst>
            </p:cNvPr>
            <p:cNvCxnSpPr>
              <a:cxnSpLocks/>
            </p:cNvCxnSpPr>
            <p:nvPr/>
          </p:nvCxnSpPr>
          <p:spPr>
            <a:xfrm>
              <a:off x="3105921" y="1561595"/>
              <a:ext cx="72149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C01852AD-0A0A-3767-42AE-1677B0C99E3E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3825491" y="1558602"/>
              <a:ext cx="0" cy="4708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538FB0F2-8BDF-F77A-F4E9-B17BCDBEE889}"/>
                </a:ext>
              </a:extLst>
            </p:cNvPr>
            <p:cNvCxnSpPr>
              <a:endCxn id="8" idx="1"/>
            </p:cNvCxnSpPr>
            <p:nvPr/>
          </p:nvCxnSpPr>
          <p:spPr>
            <a:xfrm>
              <a:off x="3733359" y="1101895"/>
              <a:ext cx="12722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C452AC9E-F072-ABBB-5E41-E62D5C61DC20}"/>
                </a:ext>
              </a:extLst>
            </p:cNvPr>
            <p:cNvCxnSpPr/>
            <p:nvPr/>
          </p:nvCxnSpPr>
          <p:spPr>
            <a:xfrm flipV="1">
              <a:off x="3582773" y="3952879"/>
              <a:ext cx="1145153" cy="101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7C6E5D1D-81FB-F1D9-9449-2BC426B2A43F}"/>
                    </a:ext>
                  </a:extLst>
                </p:cNvPr>
                <p:cNvSpPr txBox="1"/>
                <p:nvPr/>
              </p:nvSpPr>
              <p:spPr>
                <a:xfrm>
                  <a:off x="7114865" y="782450"/>
                  <a:ext cx="39391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7C6E5D1D-81FB-F1D9-9449-2BC426B2A4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4865" y="782450"/>
                  <a:ext cx="393919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077" b="-86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7D8DAF0D-646A-9EC7-70C1-65DB39FB63D7}"/>
                    </a:ext>
                  </a:extLst>
                </p:cNvPr>
                <p:cNvSpPr txBox="1"/>
                <p:nvPr/>
              </p:nvSpPr>
              <p:spPr>
                <a:xfrm>
                  <a:off x="6474883" y="2122363"/>
                  <a:ext cx="50417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𝐸𝐺𝑃</m:t>
                        </m:r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7D8DAF0D-646A-9EC7-70C1-65DB39FB63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4883" y="2122363"/>
                  <a:ext cx="50417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8434" r="-9639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B5334768-3ECF-942E-C367-19E0E294A346}"/>
                    </a:ext>
                  </a:extLst>
                </p:cNvPr>
                <p:cNvSpPr txBox="1"/>
                <p:nvPr/>
              </p:nvSpPr>
              <p:spPr>
                <a:xfrm>
                  <a:off x="7866556" y="315646"/>
                  <a:ext cx="34426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b="0" dirty="0"/>
                </a:p>
              </p:txBody>
            </p:sp>
          </mc:Choice>
          <mc:Fallback xmlns="">
            <p:sp>
              <p:nvSpPr>
                <p:cNvPr id="46" name="テキスト ボックス 45">
                  <a:extLst>
                    <a:ext uri="{FF2B5EF4-FFF2-40B4-BE49-F238E27FC236}">
                      <a16:creationId xmlns:a16="http://schemas.microsoft.com/office/drawing/2014/main" id="{B5334768-3ECF-942E-C367-19E0E294A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6556" y="315646"/>
                  <a:ext cx="34426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281" r="-1754" b="-1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C0E6470F-0BF5-A391-5D87-B89E990B618C}"/>
                    </a:ext>
                  </a:extLst>
                </p:cNvPr>
                <p:cNvSpPr txBox="1"/>
                <p:nvPr/>
              </p:nvSpPr>
              <p:spPr>
                <a:xfrm>
                  <a:off x="8210816" y="1627791"/>
                  <a:ext cx="21903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C0E6470F-0BF5-A391-5D87-B89E990B6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816" y="1627791"/>
                  <a:ext cx="219034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000" r="-16667" b="-88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B1DA947B-9A7C-7244-BBB1-58634C6CEB5E}"/>
                    </a:ext>
                  </a:extLst>
                </p:cNvPr>
                <p:cNvSpPr txBox="1"/>
                <p:nvPr/>
              </p:nvSpPr>
              <p:spPr>
                <a:xfrm>
                  <a:off x="8597406" y="1678639"/>
                  <a:ext cx="315471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B1DA947B-9A7C-7244-BBB1-58634C6CE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7406" y="1678639"/>
                  <a:ext cx="315471" cy="298415"/>
                </a:xfrm>
                <a:prstGeom prst="rect">
                  <a:avLst/>
                </a:prstGeom>
                <a:blipFill>
                  <a:blip r:embed="rId6"/>
                  <a:stretch>
                    <a:fillRect l="-15385" r="-3846" b="-204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C4B83CF7-2F03-C89B-72B8-D389609B75EA}"/>
                    </a:ext>
                  </a:extLst>
                </p:cNvPr>
                <p:cNvSpPr txBox="1"/>
                <p:nvPr/>
              </p:nvSpPr>
              <p:spPr>
                <a:xfrm>
                  <a:off x="9085995" y="2489774"/>
                  <a:ext cx="39190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9" name="テキスト ボックス 48">
                  <a:extLst>
                    <a:ext uri="{FF2B5EF4-FFF2-40B4-BE49-F238E27FC236}">
                      <a16:creationId xmlns:a16="http://schemas.microsoft.com/office/drawing/2014/main" id="{C4B83CF7-2F03-C89B-72B8-D389609B7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5995" y="2489774"/>
                  <a:ext cx="391902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0769" r="-1538" b="-1521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446C8926-8469-AC36-C02B-38A570C1B439}"/>
                    </a:ext>
                  </a:extLst>
                </p:cNvPr>
                <p:cNvSpPr txBox="1"/>
                <p:nvPr/>
              </p:nvSpPr>
              <p:spPr>
                <a:xfrm>
                  <a:off x="9185253" y="1958568"/>
                  <a:ext cx="2926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446C8926-8469-AC36-C02B-38A570C1B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5253" y="1958568"/>
                  <a:ext cx="29264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67" r="-2083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AEAB4BB8-E62A-994B-A159-10B17CF3210C}"/>
                    </a:ext>
                  </a:extLst>
                </p:cNvPr>
                <p:cNvSpPr txBox="1"/>
                <p:nvPr/>
              </p:nvSpPr>
              <p:spPr>
                <a:xfrm>
                  <a:off x="6694600" y="3625947"/>
                  <a:ext cx="38965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𝑎𝑖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AEAB4BB8-E62A-994B-A159-10B17CF32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4600" y="3625947"/>
                  <a:ext cx="389657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0938" r="-1563" b="-1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0C05B516-E4DB-BA23-D20D-C0C529B8F834}"/>
                    </a:ext>
                  </a:extLst>
                </p:cNvPr>
                <p:cNvSpPr txBox="1"/>
                <p:nvPr/>
              </p:nvSpPr>
              <p:spPr>
                <a:xfrm>
                  <a:off x="3186151" y="1550847"/>
                  <a:ext cx="48885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52" name="テキスト ボックス 51">
                  <a:extLst>
                    <a:ext uri="{FF2B5EF4-FFF2-40B4-BE49-F238E27FC236}">
                      <a16:creationId xmlns:a16="http://schemas.microsoft.com/office/drawing/2014/main" id="{0C05B516-E4DB-BA23-D20D-C0C529B8F8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6151" y="1550847"/>
                  <a:ext cx="488852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0000" r="-1250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A13D6234-E6C0-0F4E-18B4-575CE37AB17F}"/>
                </a:ext>
              </a:extLst>
            </p:cNvPr>
            <p:cNvSpPr txBox="1"/>
            <p:nvPr/>
          </p:nvSpPr>
          <p:spPr>
            <a:xfrm>
              <a:off x="9331575" y="3764446"/>
              <a:ext cx="766235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1000" b="1" dirty="0"/>
                <a:t>Degradation</a:t>
              </a:r>
              <a:endParaRPr kumimoji="1" lang="ja-JP" altLang="en-US" sz="1000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A6C757F7-24A6-86BA-71D3-ED07BC653A6F}"/>
                    </a:ext>
                  </a:extLst>
                </p:cNvPr>
                <p:cNvSpPr txBox="1"/>
                <p:nvPr/>
              </p:nvSpPr>
              <p:spPr>
                <a:xfrm>
                  <a:off x="7902286" y="3320940"/>
                  <a:ext cx="1611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A6C757F7-24A6-86BA-71D3-ED07BC653A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2286" y="3320940"/>
                  <a:ext cx="161198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9630" r="-22222"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C8668FFC-3752-6D22-5D46-5E0B5F0C7F67}"/>
                    </a:ext>
                  </a:extLst>
                </p:cNvPr>
                <p:cNvSpPr txBox="1"/>
                <p:nvPr/>
              </p:nvSpPr>
              <p:spPr>
                <a:xfrm>
                  <a:off x="3656455" y="3633128"/>
                  <a:ext cx="4618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𝑖𝑛𝑠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C8668FFC-3752-6D22-5D46-5E0B5F0C7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455" y="3633128"/>
                  <a:ext cx="46185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5263" r="-1316" b="-155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テキスト ボックス 56">
                  <a:extLst>
                    <a:ext uri="{FF2B5EF4-FFF2-40B4-BE49-F238E27FC236}">
                      <a16:creationId xmlns:a16="http://schemas.microsoft.com/office/drawing/2014/main" id="{6A31BB64-ABD3-DE18-933F-AAB4C94CF31C}"/>
                    </a:ext>
                  </a:extLst>
                </p:cNvPr>
                <p:cNvSpPr txBox="1"/>
                <p:nvPr/>
              </p:nvSpPr>
              <p:spPr>
                <a:xfrm>
                  <a:off x="3656455" y="782450"/>
                  <a:ext cx="6276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7" name="テキスト ボックス 56">
                  <a:extLst>
                    <a:ext uri="{FF2B5EF4-FFF2-40B4-BE49-F238E27FC236}">
                      <a16:creationId xmlns:a16="http://schemas.microsoft.com/office/drawing/2014/main" id="{6A31BB64-ABD3-DE18-933F-AAB4C94CF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455" y="782450"/>
                  <a:ext cx="62767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7767" r="-971" b="-1521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BB4BF146-78A8-D715-B041-7214B36756A1}"/>
                    </a:ext>
                  </a:extLst>
                </p:cNvPr>
                <p:cNvSpPr txBox="1"/>
                <p:nvPr/>
              </p:nvSpPr>
              <p:spPr>
                <a:xfrm>
                  <a:off x="8275040" y="2739560"/>
                  <a:ext cx="221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BB4BF146-78A8-D715-B041-7214B3675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040" y="2739560"/>
                  <a:ext cx="221727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622" r="-16216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404863C7-AB49-4B94-169F-10D3D748E185}"/>
                    </a:ext>
                  </a:extLst>
                </p:cNvPr>
                <p:cNvSpPr txBox="1"/>
                <p:nvPr/>
              </p:nvSpPr>
              <p:spPr>
                <a:xfrm>
                  <a:off x="2278782" y="2056988"/>
                  <a:ext cx="4762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60" name="テキスト ボックス 59">
                  <a:extLst>
                    <a:ext uri="{FF2B5EF4-FFF2-40B4-BE49-F238E27FC236}">
                      <a16:creationId xmlns:a16="http://schemas.microsoft.com/office/drawing/2014/main" id="{404863C7-AB49-4B94-169F-10D3D748E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782" y="2056988"/>
                  <a:ext cx="47622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10256" b="-130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40C76C9-A000-EF91-1220-202EB0CECFAC}"/>
                    </a:ext>
                  </a:extLst>
                </p:cNvPr>
                <p:cNvSpPr txBox="1"/>
                <p:nvPr/>
              </p:nvSpPr>
              <p:spPr>
                <a:xfrm>
                  <a:off x="4672362" y="2158579"/>
                  <a:ext cx="2407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61" name="テキスト ボックス 60">
                  <a:extLst>
                    <a:ext uri="{FF2B5EF4-FFF2-40B4-BE49-F238E27FC236}">
                      <a16:creationId xmlns:a16="http://schemas.microsoft.com/office/drawing/2014/main" id="{140C76C9-A000-EF91-1220-202EB0CEC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2362" y="2158579"/>
                  <a:ext cx="240772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0000" r="-17500" b="-65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線矢印コネクタ 94">
              <a:extLst>
                <a:ext uri="{FF2B5EF4-FFF2-40B4-BE49-F238E27FC236}">
                  <a16:creationId xmlns:a16="http://schemas.microsoft.com/office/drawing/2014/main" id="{3CAA771E-9A73-5BFC-6BD0-87A64E7A3666}"/>
                </a:ext>
              </a:extLst>
            </p:cNvPr>
            <p:cNvCxnSpPr>
              <a:cxnSpLocks/>
              <a:stCxn id="11" idx="3"/>
              <a:endCxn id="7" idx="1"/>
            </p:cNvCxnSpPr>
            <p:nvPr/>
          </p:nvCxnSpPr>
          <p:spPr>
            <a:xfrm flipV="1">
              <a:off x="4653400" y="2407269"/>
              <a:ext cx="378007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D0A65BD2-1019-F829-AFB4-B3C77A79ADCA}"/>
                </a:ext>
              </a:extLst>
            </p:cNvPr>
            <p:cNvCxnSpPr>
              <a:cxnSpLocks/>
            </p:cNvCxnSpPr>
            <p:nvPr/>
          </p:nvCxnSpPr>
          <p:spPr>
            <a:xfrm>
              <a:off x="1391737" y="3323158"/>
              <a:ext cx="4276477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線矢印コネクタ 119">
              <a:extLst>
                <a:ext uri="{FF2B5EF4-FFF2-40B4-BE49-F238E27FC236}">
                  <a16:creationId xmlns:a16="http://schemas.microsoft.com/office/drawing/2014/main" id="{0D691829-E008-F3C8-1528-562F932EC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1737" y="2802034"/>
              <a:ext cx="0" cy="521124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311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241BD-B6D3-C22E-3C0A-39D1392D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85BC4B5-5C2B-6FD7-52D6-70060B559FE9}"/>
              </a:ext>
            </a:extLst>
          </p:cNvPr>
          <p:cNvSpPr/>
          <p:nvPr/>
        </p:nvSpPr>
        <p:spPr>
          <a:xfrm>
            <a:off x="3195189" y="3756790"/>
            <a:ext cx="2310564" cy="717781"/>
          </a:xfrm>
          <a:prstGeom prst="rect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Subject</a:t>
            </a:r>
          </a:p>
          <a:p>
            <a:pPr algn="ctr"/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(UVA/Padova Model</a:t>
            </a:r>
            <a:r>
              <a: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)</a:t>
            </a:r>
            <a:r>
              <a:rPr lang="ja-JP" altLang="en-US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rPr>
              <a:t>　</a:t>
            </a:r>
            <a:endParaRPr lang="en-US" altLang="ja-JP" sz="1400" b="1" dirty="0">
              <a:latin typeface="Hiragino Kaku Gothic ProN W3" panose="020B0300000000000000" pitchFamily="34" charset="-128"/>
              <a:ea typeface="Hiragino Kaku Gothic ProN W3" panose="020B0300000000000000" pitchFamily="34" charset="-128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2EFACA3-A988-659B-D023-5FC7CD64A51D}"/>
                  </a:ext>
                </a:extLst>
              </p:cNvPr>
              <p:cNvSpPr txBox="1"/>
              <p:nvPr/>
            </p:nvSpPr>
            <p:spPr>
              <a:xfrm>
                <a:off x="1520242" y="3977180"/>
                <a:ext cx="61805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𝑚𝑒𝑎𝑙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2EFACA3-A988-659B-D023-5FC7CD64A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242" y="3977180"/>
                <a:ext cx="618054" cy="276999"/>
              </a:xfrm>
              <a:prstGeom prst="rect">
                <a:avLst/>
              </a:prstGeom>
              <a:blipFill>
                <a:blip r:embed="rId2"/>
                <a:stretch>
                  <a:fillRect l="-13725" t="-2174" r="-53922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01877AF-0E02-24C6-C40A-6A5277C5090F}"/>
                  </a:ext>
                </a:extLst>
              </p:cNvPr>
              <p:cNvSpPr txBox="1"/>
              <p:nvPr/>
            </p:nvSpPr>
            <p:spPr>
              <a:xfrm>
                <a:off x="1741793" y="3544550"/>
                <a:ext cx="75123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𝑖𝑛𝑠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101877AF-0E02-24C6-C40A-6A5277C50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93" y="3544550"/>
                <a:ext cx="751231" cy="276999"/>
              </a:xfrm>
              <a:prstGeom prst="rect">
                <a:avLst/>
              </a:prstGeom>
              <a:blipFill>
                <a:blip r:embed="rId3"/>
                <a:stretch>
                  <a:fillRect l="-3252" t="-2174" r="-10569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82E68C8-22F6-B370-A23D-523EE5C44791}"/>
              </a:ext>
            </a:extLst>
          </p:cNvPr>
          <p:cNvCxnSpPr>
            <a:cxnSpLocks/>
          </p:cNvCxnSpPr>
          <p:nvPr/>
        </p:nvCxnSpPr>
        <p:spPr>
          <a:xfrm>
            <a:off x="1829269" y="4344659"/>
            <a:ext cx="1364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3829EBE7-2C7D-3DAA-43FC-D878E80971D2}"/>
              </a:ext>
            </a:extLst>
          </p:cNvPr>
          <p:cNvCxnSpPr>
            <a:cxnSpLocks/>
          </p:cNvCxnSpPr>
          <p:nvPr/>
        </p:nvCxnSpPr>
        <p:spPr>
          <a:xfrm>
            <a:off x="1829269" y="3919567"/>
            <a:ext cx="13643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3F59F29-993F-BD6E-3BBB-C1547CD431EA}"/>
              </a:ext>
            </a:extLst>
          </p:cNvPr>
          <p:cNvCxnSpPr>
            <a:cxnSpLocks/>
          </p:cNvCxnSpPr>
          <p:nvPr/>
        </p:nvCxnSpPr>
        <p:spPr>
          <a:xfrm>
            <a:off x="2733015" y="3429000"/>
            <a:ext cx="10477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DC23396-0150-24AD-CB1B-839BE0559CEA}"/>
              </a:ext>
            </a:extLst>
          </p:cNvPr>
          <p:cNvCxnSpPr/>
          <p:nvPr/>
        </p:nvCxnSpPr>
        <p:spPr>
          <a:xfrm flipV="1">
            <a:off x="3993645" y="3254162"/>
            <a:ext cx="356826" cy="17421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EB149C6-D4F4-EF79-A959-6D1668BD6547}"/>
              </a:ext>
            </a:extLst>
          </p:cNvPr>
          <p:cNvCxnSpPr>
            <a:cxnSpLocks/>
          </p:cNvCxnSpPr>
          <p:nvPr/>
        </p:nvCxnSpPr>
        <p:spPr>
          <a:xfrm>
            <a:off x="3567947" y="3429619"/>
            <a:ext cx="425698" cy="0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1BEA950-29FE-5AB4-0CB8-40A4E1158BD6}"/>
              </a:ext>
            </a:extLst>
          </p:cNvPr>
          <p:cNvSpPr/>
          <p:nvPr/>
        </p:nvSpPr>
        <p:spPr>
          <a:xfrm>
            <a:off x="6900220" y="3047103"/>
            <a:ext cx="2422866" cy="1161753"/>
          </a:xfrm>
          <a:prstGeom prst="rect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Observer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or</a:t>
            </a:r>
          </a:p>
          <a:p>
            <a:pPr algn="ctr"/>
            <a:r>
              <a:rPr kumimoji="1" lang="en-US" altLang="ja-JP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Extended </a:t>
            </a:r>
            <a:r>
              <a:rPr lang="en-US" altLang="ja-JP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</a:rPr>
              <a:t>Kalma filter</a:t>
            </a:r>
            <a:endParaRPr kumimoji="1" lang="ja-JP" alt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7EF8C51-CB58-C13B-7502-C235C4091565}"/>
              </a:ext>
            </a:extLst>
          </p:cNvPr>
          <p:cNvCxnSpPr>
            <a:cxnSpLocks/>
          </p:cNvCxnSpPr>
          <p:nvPr/>
        </p:nvCxnSpPr>
        <p:spPr>
          <a:xfrm>
            <a:off x="2733015" y="3429000"/>
            <a:ext cx="0" cy="490567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03C82D0-62DE-E3B0-6C07-459E985364A1}"/>
              </a:ext>
            </a:extLst>
          </p:cNvPr>
          <p:cNvCxnSpPr>
            <a:cxnSpLocks/>
          </p:cNvCxnSpPr>
          <p:nvPr/>
        </p:nvCxnSpPr>
        <p:spPr>
          <a:xfrm>
            <a:off x="4350471" y="3428381"/>
            <a:ext cx="2549748" cy="0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F872A14-B10E-44B8-7A1D-00BC059F75DD}"/>
                  </a:ext>
                </a:extLst>
              </p:cNvPr>
              <p:cNvSpPr txBox="1"/>
              <p:nvPr/>
            </p:nvSpPr>
            <p:spPr>
              <a:xfrm>
                <a:off x="5718236" y="3064272"/>
                <a:ext cx="7555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𝑖𝑛𝑠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F872A14-B10E-44B8-7A1D-00BC059F7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236" y="3064272"/>
                <a:ext cx="755528" cy="276999"/>
              </a:xfrm>
              <a:prstGeom prst="rect">
                <a:avLst/>
              </a:prstGeom>
              <a:blipFill>
                <a:blip r:embed="rId4"/>
                <a:stretch>
                  <a:fillRect l="-3226" t="-4444" r="-10484" b="-3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97E330D-A60B-6D7E-4E92-64998C887693}"/>
                  </a:ext>
                </a:extLst>
              </p:cNvPr>
              <p:cNvSpPr txBox="1"/>
              <p:nvPr/>
            </p:nvSpPr>
            <p:spPr>
              <a:xfrm>
                <a:off x="5686682" y="4398075"/>
                <a:ext cx="48551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97E330D-A60B-6D7E-4E92-64998C887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682" y="4398075"/>
                <a:ext cx="485518" cy="276999"/>
              </a:xfrm>
              <a:prstGeom prst="rect">
                <a:avLst/>
              </a:prstGeom>
              <a:blipFill>
                <a:blip r:embed="rId5"/>
                <a:stretch>
                  <a:fillRect l="-5000" t="-2174" r="-15000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9A987F3-3A28-F0E8-1811-622CA0E9D725}"/>
              </a:ext>
            </a:extLst>
          </p:cNvPr>
          <p:cNvCxnSpPr>
            <a:cxnSpLocks/>
          </p:cNvCxnSpPr>
          <p:nvPr/>
        </p:nvCxnSpPr>
        <p:spPr>
          <a:xfrm>
            <a:off x="5505753" y="3982478"/>
            <a:ext cx="4378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C5BA800E-5055-7433-2387-C7460A63330E}"/>
              </a:ext>
            </a:extLst>
          </p:cNvPr>
          <p:cNvCxnSpPr>
            <a:cxnSpLocks/>
          </p:cNvCxnSpPr>
          <p:nvPr/>
        </p:nvCxnSpPr>
        <p:spPr>
          <a:xfrm>
            <a:off x="5505753" y="4322977"/>
            <a:ext cx="6051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02026E0-F238-27E4-8063-6C145295EF73}"/>
              </a:ext>
            </a:extLst>
          </p:cNvPr>
          <p:cNvCxnSpPr>
            <a:cxnSpLocks/>
          </p:cNvCxnSpPr>
          <p:nvPr/>
        </p:nvCxnSpPr>
        <p:spPr>
          <a:xfrm flipV="1">
            <a:off x="5993787" y="3810898"/>
            <a:ext cx="356826" cy="17421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3520E89-2247-D812-762F-6E659B4697F1}"/>
              </a:ext>
            </a:extLst>
          </p:cNvPr>
          <p:cNvCxnSpPr>
            <a:cxnSpLocks/>
          </p:cNvCxnSpPr>
          <p:nvPr/>
        </p:nvCxnSpPr>
        <p:spPr>
          <a:xfrm>
            <a:off x="5568089" y="3981592"/>
            <a:ext cx="446870" cy="0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6F1D868-9153-F7C2-FCD1-EF1694A317B0}"/>
              </a:ext>
            </a:extLst>
          </p:cNvPr>
          <p:cNvCxnSpPr>
            <a:cxnSpLocks/>
          </p:cNvCxnSpPr>
          <p:nvPr/>
        </p:nvCxnSpPr>
        <p:spPr>
          <a:xfrm flipV="1">
            <a:off x="6219825" y="3981943"/>
            <a:ext cx="680394" cy="3174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8A61CBAB-21B1-9481-AE63-0D92CE127FD7}"/>
                  </a:ext>
                </a:extLst>
              </p:cNvPr>
              <p:cNvSpPr txBox="1"/>
              <p:nvPr/>
            </p:nvSpPr>
            <p:spPr>
              <a:xfrm>
                <a:off x="5568089" y="3667044"/>
                <a:ext cx="5111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8A61CBAB-21B1-9481-AE63-0D92CE127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089" y="3667044"/>
                <a:ext cx="511102" cy="276999"/>
              </a:xfrm>
              <a:prstGeom prst="rect">
                <a:avLst/>
              </a:prstGeom>
              <a:blipFill>
                <a:blip r:embed="rId6"/>
                <a:stretch>
                  <a:fillRect l="-8333" t="-4444" r="-14286" b="-3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741F6FC-5BB4-DBA6-1F0F-9E4175A5D72D}"/>
                  </a:ext>
                </a:extLst>
              </p:cNvPr>
              <p:cNvSpPr txBox="1"/>
              <p:nvPr/>
            </p:nvSpPr>
            <p:spPr>
              <a:xfrm>
                <a:off x="6350613" y="4017662"/>
                <a:ext cx="51539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3741F6FC-5BB4-DBA6-1F0F-9E4175A5D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613" y="4017662"/>
                <a:ext cx="515398" cy="276999"/>
              </a:xfrm>
              <a:prstGeom prst="rect">
                <a:avLst/>
              </a:prstGeom>
              <a:blipFill>
                <a:blip r:embed="rId7"/>
                <a:stretch>
                  <a:fillRect l="-9524" t="-2174" r="-15476" b="-369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D4C78661-056E-62D5-CC4A-26A56509117A}"/>
                  </a:ext>
                </a:extLst>
              </p:cNvPr>
              <p:cNvSpPr txBox="1"/>
              <p:nvPr/>
            </p:nvSpPr>
            <p:spPr>
              <a:xfrm>
                <a:off x="9759971" y="3428381"/>
                <a:ext cx="4898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D4C78661-056E-62D5-CC4A-26A565091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971" y="3428381"/>
                <a:ext cx="489814" cy="276999"/>
              </a:xfrm>
              <a:prstGeom prst="rect">
                <a:avLst/>
              </a:prstGeom>
              <a:blipFill>
                <a:blip r:embed="rId8"/>
                <a:stretch>
                  <a:fillRect l="-5000" t="-23913" r="-17500" b="-369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FAEE8979-F8E0-4E5E-DD1E-2534DA097528}"/>
              </a:ext>
            </a:extLst>
          </p:cNvPr>
          <p:cNvCxnSpPr>
            <a:cxnSpLocks/>
          </p:cNvCxnSpPr>
          <p:nvPr/>
        </p:nvCxnSpPr>
        <p:spPr>
          <a:xfrm>
            <a:off x="9323086" y="3810897"/>
            <a:ext cx="822426" cy="10652"/>
          </a:xfrm>
          <a:prstGeom prst="straightConnector1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61682D0-05AE-34CA-C363-A96AEEECBECB}"/>
              </a:ext>
            </a:extLst>
          </p:cNvPr>
          <p:cNvCxnSpPr>
            <a:cxnSpLocks/>
          </p:cNvCxnSpPr>
          <p:nvPr/>
        </p:nvCxnSpPr>
        <p:spPr>
          <a:xfrm flipV="1">
            <a:off x="7600058" y="4201067"/>
            <a:ext cx="0" cy="6125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0A04FF5-0F0B-97BB-5668-6AD9BDC77787}"/>
                  </a:ext>
                </a:extLst>
              </p:cNvPr>
              <p:cNvSpPr txBox="1"/>
              <p:nvPr/>
            </p:nvSpPr>
            <p:spPr>
              <a:xfrm>
                <a:off x="7677548" y="4536574"/>
                <a:ext cx="622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F0A04FF5-0F0B-97BB-5668-6AD9BDC77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548" y="4536574"/>
                <a:ext cx="622350" cy="276999"/>
              </a:xfrm>
              <a:prstGeom prst="rect">
                <a:avLst/>
              </a:prstGeom>
              <a:blipFill>
                <a:blip r:embed="rId9"/>
                <a:stretch>
                  <a:fillRect l="-6796" t="-2174" r="-11650" b="-369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38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角丸四角形 3">
            <a:extLst>
              <a:ext uri="{FF2B5EF4-FFF2-40B4-BE49-F238E27FC236}">
                <a16:creationId xmlns:a16="http://schemas.microsoft.com/office/drawing/2014/main" id="{E86F3C50-6F64-989E-FF87-C9E832C60EC2}"/>
              </a:ext>
            </a:extLst>
          </p:cNvPr>
          <p:cNvSpPr/>
          <p:nvPr/>
        </p:nvSpPr>
        <p:spPr>
          <a:xfrm>
            <a:off x="4897629" y="5021397"/>
            <a:ext cx="2275368" cy="956930"/>
          </a:xfrm>
          <a:prstGeom prst="round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EFF5905-72AA-9F6D-0B48-4AAF09E4C5D9}"/>
              </a:ext>
            </a:extLst>
          </p:cNvPr>
          <p:cNvGrpSpPr/>
          <p:nvPr/>
        </p:nvGrpSpPr>
        <p:grpSpPr>
          <a:xfrm>
            <a:off x="666370" y="1296365"/>
            <a:ext cx="11312270" cy="4549579"/>
            <a:chOff x="666370" y="1296365"/>
            <a:chExt cx="11312270" cy="4549579"/>
          </a:xfrm>
        </p:grpSpPr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9F7A3DAB-3351-0127-E97A-EA57078860CF}"/>
                </a:ext>
              </a:extLst>
            </p:cNvPr>
            <p:cNvSpPr/>
            <p:nvPr/>
          </p:nvSpPr>
          <p:spPr>
            <a:xfrm>
              <a:off x="9029075" y="3536821"/>
              <a:ext cx="2195384" cy="793092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ja-JP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Subject</a:t>
              </a:r>
            </a:p>
            <a:p>
              <a:pPr algn="ctr"/>
              <a:r>
                <a:rPr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(UVA/Padova Model)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88628EB9-B154-EA0B-2EE2-43C3E741FF43}"/>
                </a:ext>
              </a:extLst>
            </p:cNvPr>
            <p:cNvSpPr/>
            <p:nvPr/>
          </p:nvSpPr>
          <p:spPr>
            <a:xfrm>
              <a:off x="4712321" y="1931662"/>
              <a:ext cx="1952849" cy="734540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Gastrointestinal</a:t>
              </a:r>
            </a:p>
            <a:p>
              <a:pPr algn="ctr"/>
              <a:r>
                <a:rPr lang="en-US" altLang="ja-JP" sz="1400" b="1" dirty="0" err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submodel</a:t>
              </a:r>
              <a:endParaRPr lang="en-US" altLang="ja-JP" sz="1400" b="1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1" lang="en-US" altLang="ja-JP" sz="1400" b="1" dirty="0">
                  <a:solidFill>
                    <a:srgbClr val="FF0000"/>
                  </a:solidFill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switched system</a:t>
              </a:r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)</a:t>
              </a:r>
              <a:endParaRPr kumimoji="1" lang="ja-JP" altLang="en-US" sz="1400" b="1">
                <a:latin typeface="Hiragino Kaku Gothic ProN W3" panose="020B0300000000000000" pitchFamily="34" charset="-128"/>
                <a:ea typeface="Hiragino Kaku Gothic ProN W3" panose="020B0300000000000000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08769810-9C5D-E5D8-76CC-A2A21A89734F}"/>
                </a:ext>
              </a:extLst>
            </p:cNvPr>
            <p:cNvGrpSpPr/>
            <p:nvPr/>
          </p:nvGrpSpPr>
          <p:grpSpPr>
            <a:xfrm>
              <a:off x="2244780" y="2938800"/>
              <a:ext cx="6094482" cy="1989135"/>
              <a:chOff x="3047283" y="2904075"/>
              <a:chExt cx="6094482" cy="1989135"/>
            </a:xfrm>
          </p:grpSpPr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5A194D74-6CCC-5ECB-ECC8-BA20F9E869E5}"/>
                  </a:ext>
                </a:extLst>
              </p:cNvPr>
              <p:cNvSpPr/>
              <p:nvPr/>
            </p:nvSpPr>
            <p:spPr>
              <a:xfrm>
                <a:off x="3047283" y="2904075"/>
                <a:ext cx="6094482" cy="1989135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4D9D3A09-ACFD-1D10-436D-756EB42E59F2}"/>
                  </a:ext>
                </a:extLst>
              </p:cNvPr>
              <p:cNvSpPr/>
              <p:nvPr/>
            </p:nvSpPr>
            <p:spPr>
              <a:xfrm>
                <a:off x="3175590" y="3899127"/>
                <a:ext cx="1952849" cy="734540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Subcutaneous</a:t>
                </a: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Insulin</a:t>
                </a:r>
              </a:p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Kinetic </a:t>
                </a:r>
                <a:r>
                  <a:rPr kumimoji="1" lang="en-US" altLang="ja-JP" sz="1400" b="1" dirty="0" err="1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submodel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093CBB22-0EEF-6818-74E6-52F0B5571557}"/>
                  </a:ext>
                </a:extLst>
              </p:cNvPr>
              <p:cNvSpPr/>
              <p:nvPr/>
            </p:nvSpPr>
            <p:spPr>
              <a:xfrm>
                <a:off x="5190795" y="3307271"/>
                <a:ext cx="1810410" cy="734532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Core </a:t>
                </a:r>
                <a:r>
                  <a:rPr kumimoji="1" lang="en-US" altLang="ja-JP" sz="1400" b="1" dirty="0" err="1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submodel</a:t>
                </a:r>
                <a:endPara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(Bergman model)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cxnSp>
            <p:nvCxnSpPr>
              <p:cNvPr id="59" name="カギ線コネクタ 12">
                <a:extLst>
                  <a:ext uri="{FF2B5EF4-FFF2-40B4-BE49-F238E27FC236}">
                    <a16:creationId xmlns:a16="http://schemas.microsoft.com/office/drawing/2014/main" id="{A9861458-09C4-7A01-AEEF-6FEDC27E05BC}"/>
                  </a:ext>
                </a:extLst>
              </p:cNvPr>
              <p:cNvCxnSpPr>
                <a:stCxn id="57" idx="3"/>
                <a:endCxn id="58" idx="2"/>
              </p:cNvCxnSpPr>
              <p:nvPr/>
            </p:nvCxnSpPr>
            <p:spPr>
              <a:xfrm flipV="1">
                <a:off x="5128439" y="4041803"/>
                <a:ext cx="967561" cy="22459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B582AF5A-364B-3C6F-326A-628915DC4172}"/>
                  </a:ext>
                </a:extLst>
              </p:cNvPr>
              <p:cNvSpPr/>
              <p:nvPr/>
            </p:nvSpPr>
            <p:spPr>
              <a:xfrm>
                <a:off x="7215243" y="3307271"/>
                <a:ext cx="1810410" cy="734532"/>
              </a:xfrm>
              <a:prstGeom prst="rect">
                <a:avLst/>
              </a:prstGeom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Nonlinear</a:t>
                </a:r>
              </a:p>
              <a:p>
                <a:pPr algn="ctr"/>
                <a:r>
                  <a:rPr lang="en-US" altLang="ja-JP" sz="1400" b="1" dirty="0">
                    <a:latin typeface="Hiragino Kaku Gothic ProN W3" panose="020B0300000000000000" pitchFamily="34" charset="-128"/>
                    <a:ea typeface="Hiragino Kaku Gothic ProN W3" panose="020B0300000000000000" pitchFamily="34" charset="-128"/>
                    <a:cs typeface="Arial" panose="020B0604020202020204" pitchFamily="34" charset="0"/>
                  </a:rPr>
                  <a:t>Programing</a:t>
                </a:r>
                <a:endParaRPr kumimoji="1" lang="ja-JP" altLang="en-US" sz="1400" b="1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1" name="テキスト ボックス 60">
                <a:extLst>
                  <a:ext uri="{FF2B5EF4-FFF2-40B4-BE49-F238E27FC236}">
                    <a16:creationId xmlns:a16="http://schemas.microsoft.com/office/drawing/2014/main" id="{D5469634-0A9B-ED7C-35C6-E73B70E556C3}"/>
                  </a:ext>
                </a:extLst>
              </p:cNvPr>
              <p:cNvSpPr txBox="1"/>
              <p:nvPr/>
            </p:nvSpPr>
            <p:spPr>
              <a:xfrm>
                <a:off x="7336463" y="2937939"/>
                <a:ext cx="1805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Nonlinear MPC</a:t>
                </a:r>
                <a:endParaRPr kumimoji="1" lang="ja-JP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テキスト ボックス 37">
                  <a:extLst>
                    <a:ext uri="{FF2B5EF4-FFF2-40B4-BE49-F238E27FC236}">
                      <a16:creationId xmlns:a16="http://schemas.microsoft.com/office/drawing/2014/main" id="{A90C20A7-8D2E-D198-63C7-039B02F5255F}"/>
                    </a:ext>
                  </a:extLst>
                </p:cNvPr>
                <p:cNvSpPr txBox="1"/>
                <p:nvPr/>
              </p:nvSpPr>
              <p:spPr>
                <a:xfrm>
                  <a:off x="4001906" y="1966727"/>
                  <a:ext cx="64805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0" name="テキスト ボックス 39">
                  <a:extLst>
                    <a:ext uri="{FF2B5EF4-FFF2-40B4-BE49-F238E27FC236}">
                      <a16:creationId xmlns:a16="http://schemas.microsoft.com/office/drawing/2014/main" id="{734EFFAC-E569-D799-2CFE-8D3033625425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906" y="1966727"/>
                  <a:ext cx="648059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A228CFDF-DBA4-4C19-16A1-02C4FE8C5447}"/>
                    </a:ext>
                  </a:extLst>
                </p:cNvPr>
                <p:cNvSpPr txBox="1"/>
                <p:nvPr/>
              </p:nvSpPr>
              <p:spPr>
                <a:xfrm>
                  <a:off x="10034169" y="1612983"/>
                  <a:ext cx="8123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𝑚𝑒𝑎𝑙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58" name="テキスト ボックス 57">
                  <a:extLst>
                    <a:ext uri="{FF2B5EF4-FFF2-40B4-BE49-F238E27FC236}">
                      <a16:creationId xmlns:a16="http://schemas.microsoft.com/office/drawing/2014/main" id="{6AFB9704-070A-D042-91BA-9265A08C5AC7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34169" y="1612983"/>
                  <a:ext cx="81233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57D287F8-97C7-785E-AB87-450CB48260D9}"/>
                </a:ext>
              </a:extLst>
            </p:cNvPr>
            <p:cNvCxnSpPr>
              <a:stCxn id="56" idx="3"/>
              <a:endCxn id="35" idx="1"/>
            </p:cNvCxnSpPr>
            <p:nvPr/>
          </p:nvCxnSpPr>
          <p:spPr>
            <a:xfrm flipV="1">
              <a:off x="8339262" y="3933367"/>
              <a:ext cx="68981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386978BF-39BE-510A-EF4B-D76BD765F3F9}"/>
                </a:ext>
              </a:extLst>
            </p:cNvPr>
            <p:cNvSpPr/>
            <p:nvPr/>
          </p:nvSpPr>
          <p:spPr>
            <a:xfrm>
              <a:off x="5238679" y="5214256"/>
              <a:ext cx="1756657" cy="631688"/>
            </a:xfrm>
            <a:prstGeom prst="rect">
              <a:avLst/>
            </a:prstGeom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b="1" dirty="0">
                  <a:latin typeface="Hiragino Kaku Gothic ProN W3" panose="020B0300000000000000" pitchFamily="34" charset="-128"/>
                  <a:ea typeface="Hiragino Kaku Gothic ProN W3" panose="020B0300000000000000" pitchFamily="34" charset="-128"/>
                  <a:cs typeface="Arial" panose="020B0604020202020204" pitchFamily="34" charset="0"/>
                </a:rPr>
                <a:t>Extended Kalman filter</a:t>
              </a:r>
            </a:p>
          </p:txBody>
        </p:sp>
        <p:cxnSp>
          <p:nvCxnSpPr>
            <p:cNvPr id="42" name="カギ線コネクタ 65">
              <a:extLst>
                <a:ext uri="{FF2B5EF4-FFF2-40B4-BE49-F238E27FC236}">
                  <a16:creationId xmlns:a16="http://schemas.microsoft.com/office/drawing/2014/main" id="{C9335BE6-D9C2-309C-6C78-1469C9D83A45}"/>
                </a:ext>
              </a:extLst>
            </p:cNvPr>
            <p:cNvCxnSpPr>
              <a:stCxn id="35" idx="3"/>
            </p:cNvCxnSpPr>
            <p:nvPr/>
          </p:nvCxnSpPr>
          <p:spPr>
            <a:xfrm flipH="1">
              <a:off x="6995336" y="3933367"/>
              <a:ext cx="4229123" cy="1760272"/>
            </a:xfrm>
            <a:prstGeom prst="bentConnector3">
              <a:avLst>
                <a:gd name="adj1" fmla="val -5405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カギ線コネクタ 71">
              <a:extLst>
                <a:ext uri="{FF2B5EF4-FFF2-40B4-BE49-F238E27FC236}">
                  <a16:creationId xmlns:a16="http://schemas.microsoft.com/office/drawing/2014/main" id="{6CC7F8C4-EE9E-4CE9-E05D-946D540508B5}"/>
                </a:ext>
              </a:extLst>
            </p:cNvPr>
            <p:cNvCxnSpPr/>
            <p:nvPr/>
          </p:nvCxnSpPr>
          <p:spPr>
            <a:xfrm rot="10800000" flipV="1">
              <a:off x="6995336" y="3933367"/>
              <a:ext cx="1688832" cy="1472010"/>
            </a:xfrm>
            <a:prstGeom prst="bentConnector3">
              <a:avLst>
                <a:gd name="adj1" fmla="val 654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31FB99FF-E4A2-B1C6-730A-3101BF28CAD1}"/>
                    </a:ext>
                  </a:extLst>
                </p:cNvPr>
                <p:cNvSpPr txBox="1"/>
                <p:nvPr/>
              </p:nvSpPr>
              <p:spPr>
                <a:xfrm>
                  <a:off x="8381703" y="3586482"/>
                  <a:ext cx="561500" cy="2984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𝑚𝑝𝑐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74" name="テキスト ボックス 73">
                  <a:extLst>
                    <a:ext uri="{FF2B5EF4-FFF2-40B4-BE49-F238E27FC236}">
                      <a16:creationId xmlns:a16="http://schemas.microsoft.com/office/drawing/2014/main" id="{9FDA9973-9DCF-AE99-4F98-E6956E59CEFE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1703" y="3586482"/>
                  <a:ext cx="561500" cy="298415"/>
                </a:xfrm>
                <a:prstGeom prst="rect">
                  <a:avLst/>
                </a:prstGeom>
                <a:blipFill>
                  <a:blip r:embed="rId5"/>
                  <a:stretch>
                    <a:fillRect l="-4444" r="-2222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BE536B92-009A-4CF0-A6AE-604D00A73C80}"/>
                    </a:ext>
                  </a:extLst>
                </p:cNvPr>
                <p:cNvSpPr txBox="1"/>
                <p:nvPr/>
              </p:nvSpPr>
              <p:spPr>
                <a:xfrm>
                  <a:off x="11490686" y="3656368"/>
                  <a:ext cx="2217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75" name="テキスト ボックス 74">
                  <a:extLst>
                    <a:ext uri="{FF2B5EF4-FFF2-40B4-BE49-F238E27FC236}">
                      <a16:creationId xmlns:a16="http://schemas.microsoft.com/office/drawing/2014/main" id="{CC83AA41-DA11-9576-A0AD-900FD8E7C2B6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90686" y="3656368"/>
                  <a:ext cx="221727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053" r="-10526"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カギ線コネクタ 78">
              <a:extLst>
                <a:ext uri="{FF2B5EF4-FFF2-40B4-BE49-F238E27FC236}">
                  <a16:creationId xmlns:a16="http://schemas.microsoft.com/office/drawing/2014/main" id="{440FF081-4F20-6831-E3C0-A515445FD864}"/>
                </a:ext>
              </a:extLst>
            </p:cNvPr>
            <p:cNvCxnSpPr/>
            <p:nvPr/>
          </p:nvCxnSpPr>
          <p:spPr>
            <a:xfrm rot="10800000">
              <a:off x="2244780" y="4522090"/>
              <a:ext cx="2993900" cy="916761"/>
            </a:xfrm>
            <a:prstGeom prst="bentConnector3">
              <a:avLst>
                <a:gd name="adj1" fmla="val 115337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6E12BC35-11D7-8042-5908-1250B8CF72DD}"/>
                </a:ext>
              </a:extLst>
            </p:cNvPr>
            <p:cNvCxnSpPr/>
            <p:nvPr/>
          </p:nvCxnSpPr>
          <p:spPr>
            <a:xfrm>
              <a:off x="10126767" y="1296365"/>
              <a:ext cx="0" cy="22515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線矢印コネクタ 47">
              <a:extLst>
                <a:ext uri="{FF2B5EF4-FFF2-40B4-BE49-F238E27FC236}">
                  <a16:creationId xmlns:a16="http://schemas.microsoft.com/office/drawing/2014/main" id="{DB39C3A7-BC10-8465-8483-0670E8475080}"/>
                </a:ext>
              </a:extLst>
            </p:cNvPr>
            <p:cNvCxnSpPr>
              <a:endCxn id="36" idx="3"/>
            </p:cNvCxnSpPr>
            <p:nvPr/>
          </p:nvCxnSpPr>
          <p:spPr>
            <a:xfrm flipH="1">
              <a:off x="6665170" y="2298932"/>
              <a:ext cx="3461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円/楕円 96">
              <a:extLst>
                <a:ext uri="{FF2B5EF4-FFF2-40B4-BE49-F238E27FC236}">
                  <a16:creationId xmlns:a16="http://schemas.microsoft.com/office/drawing/2014/main" id="{20F0D744-28AE-99B2-7213-6868A6C0B0D9}"/>
                </a:ext>
              </a:extLst>
            </p:cNvPr>
            <p:cNvSpPr/>
            <p:nvPr/>
          </p:nvSpPr>
          <p:spPr>
            <a:xfrm>
              <a:off x="10090768" y="2262931"/>
              <a:ext cx="72000" cy="7200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0" name="カギ線コネクタ 98">
              <a:extLst>
                <a:ext uri="{FF2B5EF4-FFF2-40B4-BE49-F238E27FC236}">
                  <a16:creationId xmlns:a16="http://schemas.microsoft.com/office/drawing/2014/main" id="{CA7EB96A-C27A-03F5-F83E-D0F15AD02287}"/>
                </a:ext>
              </a:extLst>
            </p:cNvPr>
            <p:cNvCxnSpPr>
              <a:stCxn id="36" idx="1"/>
            </p:cNvCxnSpPr>
            <p:nvPr/>
          </p:nvCxnSpPr>
          <p:spPr>
            <a:xfrm rot="10800000" flipH="1" flipV="1">
              <a:off x="4712321" y="2298932"/>
              <a:ext cx="526358" cy="3471948"/>
            </a:xfrm>
            <a:prstGeom prst="bentConnector4">
              <a:avLst>
                <a:gd name="adj1" fmla="val -618644"/>
                <a:gd name="adj2" fmla="val 100062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線矢印コネクタ 50">
              <a:extLst>
                <a:ext uri="{FF2B5EF4-FFF2-40B4-BE49-F238E27FC236}">
                  <a16:creationId xmlns:a16="http://schemas.microsoft.com/office/drawing/2014/main" id="{83C3C512-D601-6DEC-E5C6-6BA8AC0B4F62}"/>
                </a:ext>
              </a:extLst>
            </p:cNvPr>
            <p:cNvCxnSpPr/>
            <p:nvPr/>
          </p:nvCxnSpPr>
          <p:spPr>
            <a:xfrm>
              <a:off x="1453480" y="4076528"/>
              <a:ext cx="7912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0D16EFCD-ABDD-7E1A-A9D0-0A37CF962AA4}"/>
                </a:ext>
              </a:extLst>
            </p:cNvPr>
            <p:cNvCxnSpPr>
              <a:stCxn id="35" idx="3"/>
            </p:cNvCxnSpPr>
            <p:nvPr/>
          </p:nvCxnSpPr>
          <p:spPr>
            <a:xfrm>
              <a:off x="11224459" y="3933367"/>
              <a:ext cx="7541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81D8BDB2-FE34-006F-5224-F5025EA63783}"/>
                </a:ext>
              </a:extLst>
            </p:cNvPr>
            <p:cNvCxnSpPr/>
            <p:nvPr/>
          </p:nvCxnSpPr>
          <p:spPr>
            <a:xfrm>
              <a:off x="666370" y="3614840"/>
              <a:ext cx="15742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テキスト ボックス 53">
                  <a:extLst>
                    <a:ext uri="{FF2B5EF4-FFF2-40B4-BE49-F238E27FC236}">
                      <a16:creationId xmlns:a16="http://schemas.microsoft.com/office/drawing/2014/main" id="{2894B50E-CB5A-6927-6B63-2269CEAE1ADF}"/>
                    </a:ext>
                  </a:extLst>
                </p:cNvPr>
                <p:cNvSpPr txBox="1"/>
                <p:nvPr/>
              </p:nvSpPr>
              <p:spPr>
                <a:xfrm>
                  <a:off x="4956521" y="5166843"/>
                  <a:ext cx="1779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̂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4BDAC5DB-32E2-5FC1-E68E-0F2E891DE56B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6521" y="5166843"/>
                  <a:ext cx="1779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6667" r="-26667" b="-90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A0E53887-1B4C-0A1D-3C03-2D44208473ED}"/>
                    </a:ext>
                  </a:extLst>
                </p:cNvPr>
                <p:cNvSpPr txBox="1"/>
                <p:nvPr/>
              </p:nvSpPr>
              <p:spPr>
                <a:xfrm>
                  <a:off x="717023" y="3237572"/>
                  <a:ext cx="501035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11" name="テキスト ボックス 110">
                  <a:extLst>
                    <a:ext uri="{FF2B5EF4-FFF2-40B4-BE49-F238E27FC236}">
                      <a16:creationId xmlns:a16="http://schemas.microsoft.com/office/drawing/2014/main" id="{7B4D38FE-EB13-DA17-7BEF-90D8A0C3BBD1}"/>
                    </a:ext>
                  </a:extLst>
                </p:cNvPr>
                <p:cNvSpPr txBox="1"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023" y="3237572"/>
                  <a:ext cx="501035" cy="299249"/>
                </a:xfrm>
                <a:prstGeom prst="rect">
                  <a:avLst/>
                </a:prstGeom>
                <a:blipFill>
                  <a:blip r:embed="rId8"/>
                  <a:stretch>
                    <a:fillRect l="-10000" r="-7500" b="-2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614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311</Words>
  <Application>Microsoft Office PowerPoint</Application>
  <PresentationFormat>ワイド画面</PresentationFormat>
  <Paragraphs>174</Paragraphs>
  <Slides>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Hiragino Kaku Gothic ProN W3</vt:lpstr>
      <vt:lpstr>メイリオ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田辺　裕翔</dc:creator>
  <cp:lastModifiedBy>田辺　裕翔</cp:lastModifiedBy>
  <cp:revision>9</cp:revision>
  <dcterms:created xsi:type="dcterms:W3CDTF">2025-11-28T05:01:36Z</dcterms:created>
  <dcterms:modified xsi:type="dcterms:W3CDTF">2025-12-02T16:17:20Z</dcterms:modified>
</cp:coreProperties>
</file>