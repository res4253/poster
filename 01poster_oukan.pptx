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handoutMasterIdLst>
    <p:handoutMasterId r:id="rId4"/>
  </p:handoutMasterIdLst>
  <p:sldIdLst>
    <p:sldId id="259" r:id="rId2"/>
  </p:sldIdLst>
  <p:sldSz cx="30275213" cy="4280376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1" userDrawn="1">
          <p15:clr>
            <a:srgbClr val="A4A3A4"/>
          </p15:clr>
        </p15:guide>
        <p15:guide id="2" pos="95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E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77"/>
    <p:restoredTop sz="93609"/>
  </p:normalViewPr>
  <p:slideViewPr>
    <p:cSldViewPr snapToGrid="0">
      <p:cViewPr varScale="1">
        <p:scale>
          <a:sx n="16" d="100"/>
          <a:sy n="16" d="100"/>
        </p:scale>
        <p:origin x="162" y="66"/>
      </p:cViewPr>
      <p:guideLst>
        <p:guide orient="horz" pos="13481"/>
        <p:guide pos="95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DB59BBA-6D1F-D8FC-C886-3C1DD5E64F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kumimoji="1" lang="en-US" altLang="ja-JP"/>
              <a:t>CHPS Camp 2025.10.30-31</a:t>
            </a:r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062750C-2E32-2A89-F06C-ACBBB55C81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4F44F-C54D-4C9B-8D0A-99995B90894A}" type="datetimeFigureOut">
              <a:rPr kumimoji="1" lang="ja-JP" altLang="en-US" smtClean="0"/>
              <a:t>2025/12/2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886D0-5020-6E9E-477E-C685F9DD6E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C83648-A312-ABC9-A83B-CAA13C651A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AF15C7-33BD-48FA-8EB2-28704FE996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881304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JP"/>
              <a:t>CHPS Camp 2025.10.30-31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AD0D6B-84F8-0A45-ADC1-3C71FDF4AF14}" type="datetimeFigureOut">
              <a:rPr lang="en-JP" smtClean="0"/>
              <a:t>12/02/2025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E5B43D-A405-FB4F-8CE2-7FADAE26F5C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38559691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ヘッダー プレースホルダー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JP"/>
              <a:t>CHPS Camp 2025.10.30-31</a:t>
            </a:r>
          </a:p>
        </p:txBody>
      </p:sp>
    </p:spTree>
    <p:extLst>
      <p:ext uri="{BB962C8B-B14F-4D97-AF65-F5344CB8AC3E}">
        <p14:creationId xmlns:p14="http://schemas.microsoft.com/office/powerpoint/2010/main" val="2982885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CC7058-F17E-372F-2227-B466C25E4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4402" y="7005156"/>
            <a:ext cx="22706410" cy="14902051"/>
          </a:xfrm>
        </p:spPr>
        <p:txBody>
          <a:bodyPr anchor="b"/>
          <a:lstStyle>
            <a:lvl1pPr algn="ctr"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96F9BA-4AC8-D47F-C711-CF450758F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5960"/>
            </a:lvl1pPr>
            <a:lvl2pPr marL="1135319" indent="0" algn="ctr">
              <a:buNone/>
              <a:defRPr sz="4966"/>
            </a:lvl2pPr>
            <a:lvl3pPr marL="2270638" indent="0" algn="ctr">
              <a:buNone/>
              <a:defRPr sz="4470"/>
            </a:lvl3pPr>
            <a:lvl4pPr marL="3405957" indent="0" algn="ctr">
              <a:buNone/>
              <a:defRPr sz="3973"/>
            </a:lvl4pPr>
            <a:lvl5pPr marL="4541276" indent="0" algn="ctr">
              <a:buNone/>
              <a:defRPr sz="3973"/>
            </a:lvl5pPr>
            <a:lvl6pPr marL="5676595" indent="0" algn="ctr">
              <a:buNone/>
              <a:defRPr sz="3973"/>
            </a:lvl6pPr>
            <a:lvl7pPr marL="6811914" indent="0" algn="ctr">
              <a:buNone/>
              <a:defRPr sz="3973"/>
            </a:lvl7pPr>
            <a:lvl8pPr marL="7947233" indent="0" algn="ctr">
              <a:buNone/>
              <a:defRPr sz="3973"/>
            </a:lvl8pPr>
            <a:lvl9pPr marL="9082552" indent="0" algn="ctr">
              <a:buNone/>
              <a:defRPr sz="3973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E6E078-B0A8-374F-EEE2-BB8AE5905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FECF2-E9B2-44FB-B3C1-6F1ABD30BEDF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7D9B88-7E67-3A0A-7434-BF334341C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687A79-BD80-313C-26A8-1BE6A93FC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22725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46E98E-09E5-3F2D-030F-92C84C211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FF4D60-3ABD-400D-6231-07E0D1993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D0A8B1-EECB-4B78-C2E9-411FF9341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02299-8DBC-4245-87C6-3E62A2ACA6A6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34C8DA-6683-B216-9F92-1C4A9E73E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535CEF-8357-4950-9D77-D34335991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305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E4848E-6E15-DA42-FBCF-18256E7A8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53" y="10671222"/>
            <a:ext cx="26112371" cy="17805173"/>
          </a:xfrm>
        </p:spPr>
        <p:txBody>
          <a:bodyPr anchor="b"/>
          <a:lstStyle>
            <a:lvl1pPr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071054B-BD25-652E-D031-ED6D3F976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5653" y="28644839"/>
            <a:ext cx="26112371" cy="9363320"/>
          </a:xfrm>
        </p:spPr>
        <p:txBody>
          <a:bodyPr/>
          <a:lstStyle>
            <a:lvl1pPr marL="0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1pPr>
            <a:lvl2pPr marL="1135319" indent="0">
              <a:buNone/>
              <a:defRPr sz="4966">
                <a:solidFill>
                  <a:schemeClr val="tx1">
                    <a:tint val="82000"/>
                  </a:schemeClr>
                </a:solidFill>
              </a:defRPr>
            </a:lvl2pPr>
            <a:lvl3pPr marL="2270638" indent="0">
              <a:buNone/>
              <a:defRPr sz="4470">
                <a:solidFill>
                  <a:schemeClr val="tx1">
                    <a:tint val="82000"/>
                  </a:schemeClr>
                </a:solidFill>
              </a:defRPr>
            </a:lvl3pPr>
            <a:lvl4pPr marL="3405957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4pPr>
            <a:lvl5pPr marL="4541276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5pPr>
            <a:lvl6pPr marL="5676595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6pPr>
            <a:lvl7pPr marL="6811914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7pPr>
            <a:lvl8pPr marL="7947233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8pPr>
            <a:lvl9pPr marL="9082552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6EB535-9065-0F2F-033D-AA979BBE1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90C1E-006A-471F-A583-7AAA8224009B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ACCFF7-4082-1DB5-A7C0-5986452E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4DDFD6-C63B-115B-B22F-F68EFBA81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542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EAC84D-1EDC-EF0F-3CC3-C4744D8CB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46B91D-04C0-A593-3934-9401915D91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8B49D94-E4D5-516B-F9B0-5735DA287E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B4A894F-C2D2-300F-7E75-720D759E2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4F39A-FAA3-4B27-BC07-2AA343CBE051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3C73C4-49DD-6A52-84A6-30745B297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29D12-1276-FBEA-6E77-44A6AC46B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84567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433CB0-71BD-0B16-2C63-06F40D7BD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4" y="2278907"/>
            <a:ext cx="26112371" cy="827341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74872C-2B12-26C2-C119-BADD87279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365" y="10492870"/>
            <a:ext cx="12807833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59AD27-0A5A-BC42-A4B3-3EF5C74FA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365" y="15635264"/>
            <a:ext cx="12807833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6EE6D99-284F-9D5E-CBC3-7A8D787DE8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26827" y="10492870"/>
            <a:ext cx="12870909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26228A4-2E17-1C8C-0269-A48CF8D127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26827" y="15635264"/>
            <a:ext cx="12870909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697EBAC-EA3C-FC72-09C1-7E52E8683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AD22A-55F2-4547-A5CA-A5A999E6556D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BF6A1C3-9D79-EF58-6440-46FA21BE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15C9C54-6ABB-EBA4-8A6E-B6F90C854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95008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E74465-7FB9-FFDB-5372-EC76AAA40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F0455F-FFF0-F9DA-340E-329FFF249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7EEDF-E3BE-4535-8538-9CF15E9FEAAB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2172AED-DB60-7AF8-4CB1-FBBF46094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77A93A3-B6E9-45DC-D658-FF86F9BB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80210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BDC4AA7-1391-A576-DDA0-036349971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45DA-CECE-4290-9A52-6E01FD60E4F0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3025198-A93D-F802-4B7D-52114A11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77640C-57E2-47B7-953A-2DA4E322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46169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B808A-A6CF-9A2A-F238-AE46D353D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C3E228-FBA3-6B0C-898B-81C54A654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>
              <a:defRPr sz="7946"/>
            </a:lvl1pPr>
            <a:lvl2pPr>
              <a:defRPr sz="6953"/>
            </a:lvl2pPr>
            <a:lvl3pPr>
              <a:defRPr sz="5960"/>
            </a:lvl3pPr>
            <a:lvl4pPr>
              <a:defRPr sz="4966"/>
            </a:lvl4pPr>
            <a:lvl5pPr>
              <a:defRPr sz="4966"/>
            </a:lvl5pPr>
            <a:lvl6pPr>
              <a:defRPr sz="4966"/>
            </a:lvl6pPr>
            <a:lvl7pPr>
              <a:defRPr sz="4966"/>
            </a:lvl7pPr>
            <a:lvl8pPr>
              <a:defRPr sz="4966"/>
            </a:lvl8pPr>
            <a:lvl9pPr>
              <a:defRPr sz="4966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4B8C242-9ADD-80F9-8035-C6D48E3C79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27236D-6CD4-B2EB-EE21-85EF91A7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06D8A-3A14-4426-A8F0-6A46E306C20B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892A41-3367-1F26-AFD8-FB7BE38B1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E9165D-48FA-278C-F3E8-A38764301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4966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7AD7F-F958-8B77-9EB2-668DD869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6E6A48-783B-7A67-EE52-D8507BF70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 marL="0" indent="0">
              <a:buNone/>
              <a:defRPr sz="7946"/>
            </a:lvl1pPr>
            <a:lvl2pPr marL="1135319" indent="0">
              <a:buNone/>
              <a:defRPr sz="6953"/>
            </a:lvl2pPr>
            <a:lvl3pPr marL="2270638" indent="0">
              <a:buNone/>
              <a:defRPr sz="5960"/>
            </a:lvl3pPr>
            <a:lvl4pPr marL="3405957" indent="0">
              <a:buNone/>
              <a:defRPr sz="4966"/>
            </a:lvl4pPr>
            <a:lvl5pPr marL="4541276" indent="0">
              <a:buNone/>
              <a:defRPr sz="4966"/>
            </a:lvl5pPr>
            <a:lvl6pPr marL="5676595" indent="0">
              <a:buNone/>
              <a:defRPr sz="4966"/>
            </a:lvl6pPr>
            <a:lvl7pPr marL="6811914" indent="0">
              <a:buNone/>
              <a:defRPr sz="4966"/>
            </a:lvl7pPr>
            <a:lvl8pPr marL="7947233" indent="0">
              <a:buNone/>
              <a:defRPr sz="4966"/>
            </a:lvl8pPr>
            <a:lvl9pPr marL="9082552" indent="0">
              <a:buNone/>
              <a:defRPr sz="4966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EFF546-7EE5-E5DD-65A4-7999A9184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FE1794-69CF-49F2-4D28-409C7C40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E1F37-E86F-4380-AB65-0EB41FBEEA80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6E2E1C-0AA6-0FDC-B6B3-18ADD3D84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C2489E-272F-3A55-084A-8D9E3C47D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29480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9040D0-1BE0-4013-1632-2D5256A44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9FA83F-3F1A-BC10-DDB0-28793AD2C5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B878B-2CBD-26E6-8E9D-7B27252F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16868-4E8C-4E9E-B32E-86466688C38E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BF4A35-4A4A-285F-1A13-048966821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3A7FA2-EE78-DB17-8FB2-B0CD7C1BD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59590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1FCCFB-8BEE-E0BB-0380-637AA5F22C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665699" y="2278904"/>
            <a:ext cx="6528093" cy="36274211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41511C-9031-4025-CFBA-BA9E65F1F3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081421" y="2278904"/>
            <a:ext cx="19205838" cy="36274211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BA36F5-3740-30BB-71BD-4D6276D3B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19D8D-BF18-40AE-BFF4-DB66FCFC9271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BB1005-5A7C-8CC7-52A8-34C7D422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6842DC-9B29-68C3-5A39-4C602599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38806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5ECECF5-3310-F538-5C12-9BDA1C3C8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1421" y="2278907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CC539E-2A49-BD8F-515F-04EA8DBE0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04B298-C42A-959C-A700-BB16E2648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81421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68B4-EECE-4B65-B2C5-259CAB63F02A}" type="datetime1">
              <a:rPr lang="LID4096" altLang="ja-JP" smtClean="0"/>
              <a:t>12/02/2025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C28AD9-9251-5038-E7E7-59234740FC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28665" y="39672750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EA4FDD-3782-E177-EE0E-22C891F73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81869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61022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l" defTabSz="2270638" rtl="0" eaLnBrk="1" latinLnBrk="0" hangingPunct="1">
        <a:lnSpc>
          <a:spcPct val="90000"/>
        </a:lnSpc>
        <a:spcBef>
          <a:spcPct val="0"/>
        </a:spcBef>
        <a:buNone/>
        <a:defRPr kumimoji="1" sz="10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7660" indent="-567660" algn="l" defTabSz="2270638" rtl="0" eaLnBrk="1" latinLnBrk="0" hangingPunct="1">
        <a:lnSpc>
          <a:spcPct val="90000"/>
        </a:lnSpc>
        <a:spcBef>
          <a:spcPts val="2483"/>
        </a:spcBef>
        <a:buFont typeface="Arial" panose="020B0604020202020204" pitchFamily="34" charset="0"/>
        <a:buChar char="•"/>
        <a:defRPr kumimoji="1" sz="6953" kern="1200">
          <a:solidFill>
            <a:schemeClr val="tx1"/>
          </a:solidFill>
          <a:latin typeface="+mn-lt"/>
          <a:ea typeface="+mn-ea"/>
          <a:cs typeface="+mn-cs"/>
        </a:defRPr>
      </a:lvl1pPr>
      <a:lvl2pPr marL="1702979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2838298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966" kern="1200">
          <a:solidFill>
            <a:schemeClr val="tx1"/>
          </a:solidFill>
          <a:latin typeface="+mn-lt"/>
          <a:ea typeface="+mn-ea"/>
          <a:cs typeface="+mn-cs"/>
        </a:defRPr>
      </a:lvl3pPr>
      <a:lvl4pPr marL="3973617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5108936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6244255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7379574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8514893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650212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1pPr>
      <a:lvl2pPr marL="1135319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2pPr>
      <a:lvl3pPr marL="2270638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3pPr>
      <a:lvl4pPr marL="3405957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4541276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5676595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6811914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7947233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082552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emf"/><Relationship Id="rId26" Type="http://schemas.openxmlformats.org/officeDocument/2006/relationships/image" Target="../media/image24.png"/><Relationship Id="rId21" Type="http://schemas.openxmlformats.org/officeDocument/2006/relationships/image" Target="../media/image19.emf"/><Relationship Id="rId55" Type="http://schemas.openxmlformats.org/officeDocument/2006/relationships/image" Target="../media/image44.png"/><Relationship Id="rId63" Type="http://schemas.openxmlformats.org/officeDocument/2006/relationships/image" Target="../media/image34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emf"/><Relationship Id="rId29" Type="http://schemas.openxmlformats.org/officeDocument/2006/relationships/image" Target="../media/image27.png"/><Relationship Id="rId54" Type="http://schemas.openxmlformats.org/officeDocument/2006/relationships/image" Target="../media/image43.png"/><Relationship Id="rId6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3" Type="http://schemas.openxmlformats.org/officeDocument/2006/relationships/image" Target="../media/image42.png"/><Relationship Id="rId58" Type="http://schemas.openxmlformats.org/officeDocument/2006/relationships/image" Target="../media/image2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57" Type="http://schemas.openxmlformats.org/officeDocument/2006/relationships/image" Target="../media/image46.png"/><Relationship Id="rId61" Type="http://schemas.openxmlformats.org/officeDocument/2006/relationships/image" Target="../media/image32.png"/><Relationship Id="rId10" Type="http://schemas.openxmlformats.org/officeDocument/2006/relationships/image" Target="../media/image8.png"/><Relationship Id="rId19" Type="http://schemas.openxmlformats.org/officeDocument/2006/relationships/image" Target="../media/image17.emf"/><Relationship Id="rId52" Type="http://schemas.openxmlformats.org/officeDocument/2006/relationships/image" Target="../media/image41.png"/><Relationship Id="rId6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56" Type="http://schemas.openxmlformats.org/officeDocument/2006/relationships/image" Target="../media/image45.png"/><Relationship Id="rId64" Type="http://schemas.openxmlformats.org/officeDocument/2006/relationships/image" Target="../media/image35.png"/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59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C49079A-525A-7E17-0F95-5DF8120AFF90}"/>
              </a:ext>
            </a:extLst>
          </p:cNvPr>
          <p:cNvGrpSpPr/>
          <p:nvPr/>
        </p:nvGrpSpPr>
        <p:grpSpPr>
          <a:xfrm>
            <a:off x="500064" y="311203"/>
            <a:ext cx="29340000" cy="2700000"/>
            <a:chOff x="438527" y="1219264"/>
            <a:chExt cx="29340000" cy="2700000"/>
          </a:xfrm>
          <a:solidFill>
            <a:schemeClr val="bg1"/>
          </a:solidFill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863602BB-5A0C-1842-50B6-9B7D670AC766}"/>
                </a:ext>
              </a:extLst>
            </p:cNvPr>
            <p:cNvSpPr/>
            <p:nvPr/>
          </p:nvSpPr>
          <p:spPr>
            <a:xfrm>
              <a:off x="438527" y="1219264"/>
              <a:ext cx="29340000" cy="2700000"/>
            </a:xfrm>
            <a:prstGeom prst="rect">
              <a:avLst/>
            </a:prstGeom>
            <a:grpFill/>
            <a:ln w="762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DC0B4C4-845C-F5B3-9893-B00FC469A730}"/>
                </a:ext>
              </a:extLst>
            </p:cNvPr>
            <p:cNvSpPr txBox="1"/>
            <p:nvPr/>
          </p:nvSpPr>
          <p:spPr>
            <a:xfrm>
              <a:off x="2280743" y="1460305"/>
              <a:ext cx="26134505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グルコース</a:t>
              </a:r>
              <a:r>
                <a:rPr lang="en-US" altLang="ja-JP" sz="5400" b="1" i="0" u="none" strike="noStrike" dirty="0">
                  <a:effectLst/>
                  <a:latin typeface="Roboto" panose="02000000000000000000" pitchFamily="2" charset="0"/>
                </a:rPr>
                <a:t>–</a:t>
              </a:r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インスリン動態切り換えモデルに対する状態推定</a:t>
              </a:r>
              <a:r>
                <a:rPr lang="ja-JP" altLang="en-US" sz="5400" b="1" dirty="0">
                  <a:latin typeface="Roboto" panose="02000000000000000000" pitchFamily="2" charset="0"/>
                </a:rPr>
                <a:t>器の構築に関する考察</a:t>
              </a:r>
              <a:endParaRPr kumimoji="1" lang="ja-JP" altLang="en-US" sz="5400" dirty="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8E73365-5806-BF36-19E8-DEDD7F79AA81}"/>
                </a:ext>
              </a:extLst>
            </p:cNvPr>
            <p:cNvSpPr txBox="1"/>
            <p:nvPr/>
          </p:nvSpPr>
          <p:spPr>
            <a:xfrm>
              <a:off x="6140047" y="2445030"/>
              <a:ext cx="17995111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On Construction of a State Estimator for a Switched Glucose-insulin Dynamics Model</a:t>
              </a:r>
            </a:p>
            <a:p>
              <a:endParaRPr kumimoji="1" lang="ja-JP" altLang="en-US" dirty="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A793E4A-42BB-629D-84C8-0C092AFA8C68}"/>
                </a:ext>
              </a:extLst>
            </p:cNvPr>
            <p:cNvSpPr txBox="1"/>
            <p:nvPr/>
          </p:nvSpPr>
          <p:spPr>
            <a:xfrm>
              <a:off x="11908627" y="3075555"/>
              <a:ext cx="6457950" cy="58001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b="1" dirty="0"/>
                <a:t>田辺</a:t>
              </a:r>
              <a:r>
                <a:rPr kumimoji="1" lang="en-US" altLang="ja-JP" sz="3200" b="1" dirty="0"/>
                <a:t> </a:t>
              </a:r>
              <a:r>
                <a:rPr lang="ja-JP" altLang="en-US" sz="3200" b="1" dirty="0"/>
                <a:t>裕翔</a:t>
              </a:r>
              <a:r>
                <a:rPr lang="en-US" altLang="ja-JP" sz="3200" b="1" dirty="0"/>
                <a:t>   </a:t>
              </a:r>
              <a:r>
                <a:rPr lang="ja-JP" altLang="en-US" sz="3200" b="1" dirty="0"/>
                <a:t>平田</a:t>
              </a:r>
              <a:r>
                <a:rPr lang="en-US" altLang="ja-JP" sz="3200" b="1" dirty="0"/>
                <a:t> </a:t>
              </a:r>
              <a:r>
                <a:rPr lang="ja-JP" altLang="en-US" sz="3200" b="1" dirty="0"/>
                <a:t>研二</a:t>
              </a:r>
              <a:r>
                <a:rPr lang="en-US" altLang="ja-JP" sz="3200" b="1" dirty="0"/>
                <a:t>   (</a:t>
              </a:r>
              <a:r>
                <a:rPr lang="ja-JP" altLang="en-US" sz="3200" b="1" dirty="0"/>
                <a:t>富山大学</a:t>
              </a:r>
              <a:r>
                <a:rPr lang="en-US" altLang="ja-JP" sz="3200" b="1" dirty="0"/>
                <a:t>)</a:t>
              </a:r>
              <a:endParaRPr kumimoji="1" lang="ja-JP" altLang="en-US" sz="3200" b="1" dirty="0"/>
            </a:p>
          </p:txBody>
        </p:sp>
      </p:grpSp>
      <p:grpSp>
        <p:nvGrpSpPr>
          <p:cNvPr id="421" name="グループ化 420">
            <a:extLst>
              <a:ext uri="{FF2B5EF4-FFF2-40B4-BE49-F238E27FC236}">
                <a16:creationId xmlns:a16="http://schemas.microsoft.com/office/drawing/2014/main" id="{2E1246F2-E431-0A7B-F338-60A777CC61D8}"/>
              </a:ext>
            </a:extLst>
          </p:cNvPr>
          <p:cNvGrpSpPr/>
          <p:nvPr/>
        </p:nvGrpSpPr>
        <p:grpSpPr>
          <a:xfrm>
            <a:off x="500063" y="3486335"/>
            <a:ext cx="14343722" cy="24877943"/>
            <a:chOff x="500064" y="3868346"/>
            <a:chExt cx="14343722" cy="24877943"/>
          </a:xfrm>
        </p:grpSpPr>
        <p:sp>
          <p:nvSpPr>
            <p:cNvPr id="125" name="正方形/長方形 124">
              <a:extLst>
                <a:ext uri="{FF2B5EF4-FFF2-40B4-BE49-F238E27FC236}">
                  <a16:creationId xmlns:a16="http://schemas.microsoft.com/office/drawing/2014/main" id="{AB61DBAC-5056-D499-9D79-715775F0B4E2}"/>
                </a:ext>
              </a:extLst>
            </p:cNvPr>
            <p:cNvSpPr>
              <a:spLocks/>
            </p:cNvSpPr>
            <p:nvPr/>
          </p:nvSpPr>
          <p:spPr>
            <a:xfrm>
              <a:off x="500064" y="3868346"/>
              <a:ext cx="14343722" cy="24877943"/>
            </a:xfrm>
            <a:prstGeom prst="rect">
              <a:avLst/>
            </a:prstGeom>
            <a:solidFill>
              <a:schemeClr val="bg1"/>
            </a:solidFill>
            <a:ln w="127000">
              <a:solidFill>
                <a:schemeClr val="tx2"/>
              </a:solidFill>
              <a:extLst>
                <a:ext uri="{C807C97D-BFC1-408E-A445-0C87EB9F89A2}">
                  <ask:lineSketchStyleProps xmlns:ask="http://schemas.microsoft.com/office/drawing/2018/sketchyshapes" sd="981765707">
                    <a:custGeom>
                      <a:avLst/>
                      <a:gdLst>
                        <a:gd name="connsiteX0" fmla="*/ 0 w 27965400"/>
                        <a:gd name="connsiteY0" fmla="*/ 0 h 5715000"/>
                        <a:gd name="connsiteX1" fmla="*/ 27965400 w 27965400"/>
                        <a:gd name="connsiteY1" fmla="*/ 0 h 5715000"/>
                        <a:gd name="connsiteX2" fmla="*/ 27965400 w 27965400"/>
                        <a:gd name="connsiteY2" fmla="*/ 5715000 h 5715000"/>
                        <a:gd name="connsiteX3" fmla="*/ 0 w 27965400"/>
                        <a:gd name="connsiteY3" fmla="*/ 5715000 h 5715000"/>
                        <a:gd name="connsiteX4" fmla="*/ 0 w 27965400"/>
                        <a:gd name="connsiteY4" fmla="*/ 0 h 5715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7965400" h="5715000" fill="none" extrusionOk="0">
                          <a:moveTo>
                            <a:pt x="0" y="0"/>
                          </a:moveTo>
                          <a:cubicBezTo>
                            <a:pt x="12822961" y="-33775"/>
                            <a:pt x="23266028" y="138873"/>
                            <a:pt x="27965400" y="0"/>
                          </a:cubicBezTo>
                          <a:cubicBezTo>
                            <a:pt x="27891629" y="1430944"/>
                            <a:pt x="27809517" y="3154282"/>
                            <a:pt x="27965400" y="5715000"/>
                          </a:cubicBezTo>
                          <a:cubicBezTo>
                            <a:pt x="16913084" y="5577670"/>
                            <a:pt x="9222407" y="5577144"/>
                            <a:pt x="0" y="5715000"/>
                          </a:cubicBezTo>
                          <a:cubicBezTo>
                            <a:pt x="152408" y="3190664"/>
                            <a:pt x="73868" y="1414017"/>
                            <a:pt x="0" y="0"/>
                          </a:cubicBezTo>
                          <a:close/>
                        </a:path>
                        <a:path w="27965400" h="5715000" stroke="0" extrusionOk="0">
                          <a:moveTo>
                            <a:pt x="0" y="0"/>
                          </a:moveTo>
                          <a:cubicBezTo>
                            <a:pt x="6780586" y="-101487"/>
                            <a:pt x="18516925" y="-162162"/>
                            <a:pt x="27965400" y="0"/>
                          </a:cubicBezTo>
                          <a:cubicBezTo>
                            <a:pt x="28026113" y="2805299"/>
                            <a:pt x="27904328" y="3460224"/>
                            <a:pt x="27965400" y="5715000"/>
                          </a:cubicBezTo>
                          <a:cubicBezTo>
                            <a:pt x="19875670" y="5765065"/>
                            <a:pt x="9433509" y="5556551"/>
                            <a:pt x="0" y="5715000"/>
                          </a:cubicBezTo>
                          <a:cubicBezTo>
                            <a:pt x="-24452" y="3845266"/>
                            <a:pt x="-67663" y="249061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sz="2400" dirty="0"/>
            </a:p>
          </p:txBody>
        </p:sp>
        <p:grpSp>
          <p:nvGrpSpPr>
            <p:cNvPr id="111" name="グループ化 110">
              <a:extLst>
                <a:ext uri="{FF2B5EF4-FFF2-40B4-BE49-F238E27FC236}">
                  <a16:creationId xmlns:a16="http://schemas.microsoft.com/office/drawing/2014/main" id="{D859FDF4-452B-AB64-F0D4-E3AE0DD3E178}"/>
                </a:ext>
              </a:extLst>
            </p:cNvPr>
            <p:cNvGrpSpPr/>
            <p:nvPr/>
          </p:nvGrpSpPr>
          <p:grpSpPr>
            <a:xfrm>
              <a:off x="1123000" y="10237354"/>
              <a:ext cx="12191263" cy="12324830"/>
              <a:chOff x="834297" y="3888962"/>
              <a:chExt cx="12191263" cy="12324830"/>
            </a:xfrm>
          </p:grpSpPr>
          <p:sp>
            <p:nvSpPr>
              <p:cNvPr id="2" name="四角形: 角を丸くする 1">
                <a:extLst>
                  <a:ext uri="{FF2B5EF4-FFF2-40B4-BE49-F238E27FC236}">
                    <a16:creationId xmlns:a16="http://schemas.microsoft.com/office/drawing/2014/main" id="{9DFCE3F7-01FF-F91A-6B86-357CB4764391}"/>
                  </a:ext>
                </a:extLst>
              </p:cNvPr>
              <p:cNvSpPr/>
              <p:nvPr/>
            </p:nvSpPr>
            <p:spPr>
              <a:xfrm>
                <a:off x="834297" y="3888962"/>
                <a:ext cx="12191263" cy="83901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grpSp>
            <p:nvGrpSpPr>
              <p:cNvPr id="186" name="グループ化 185">
                <a:extLst>
                  <a:ext uri="{FF2B5EF4-FFF2-40B4-BE49-F238E27FC236}">
                    <a16:creationId xmlns:a16="http://schemas.microsoft.com/office/drawing/2014/main" id="{CAD7D54B-3827-0D54-0403-90792D5CA422}"/>
                  </a:ext>
                </a:extLst>
              </p:cNvPr>
              <p:cNvGrpSpPr/>
              <p:nvPr/>
            </p:nvGrpSpPr>
            <p:grpSpPr>
              <a:xfrm>
                <a:off x="920186" y="4337886"/>
                <a:ext cx="10980866" cy="7513976"/>
                <a:chOff x="563828" y="315646"/>
                <a:chExt cx="10800545" cy="3940488"/>
              </a:xfrm>
            </p:grpSpPr>
            <p:sp>
              <p:nvSpPr>
                <p:cNvPr id="187" name="正方形/長方形 186">
                  <a:extLst>
                    <a:ext uri="{FF2B5EF4-FFF2-40B4-BE49-F238E27FC236}">
                      <a16:creationId xmlns:a16="http://schemas.microsoft.com/office/drawing/2014/main" id="{FAEF99C1-2F1D-5634-8D2E-D75D248DC4CA}"/>
                    </a:ext>
                  </a:extLst>
                </p:cNvPr>
                <p:cNvSpPr/>
                <p:nvPr/>
              </p:nvSpPr>
              <p:spPr>
                <a:xfrm>
                  <a:off x="4529723" y="3559395"/>
                  <a:ext cx="2080563" cy="696739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Subcutaneous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Insulin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" name="正方形/長方形 187">
                  <a:extLst>
                    <a:ext uri="{FF2B5EF4-FFF2-40B4-BE49-F238E27FC236}">
                      <a16:creationId xmlns:a16="http://schemas.microsoft.com/office/drawing/2014/main" id="{FE9ACF2D-0C62-75B8-3B46-3FB322725E99}"/>
                    </a:ext>
                  </a:extLst>
                </p:cNvPr>
                <p:cNvSpPr/>
                <p:nvPr/>
              </p:nvSpPr>
              <p:spPr>
                <a:xfrm>
                  <a:off x="7403594" y="3559396"/>
                  <a:ext cx="1566847" cy="696738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Insulin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" name="正方形/長方形 188">
                  <a:extLst>
                    <a:ext uri="{FF2B5EF4-FFF2-40B4-BE49-F238E27FC236}">
                      <a16:creationId xmlns:a16="http://schemas.microsoft.com/office/drawing/2014/main" id="{C18B012E-88F3-385A-0428-96C3DF410ED7}"/>
                    </a:ext>
                  </a:extLst>
                </p:cNvPr>
                <p:cNvSpPr/>
                <p:nvPr/>
              </p:nvSpPr>
              <p:spPr>
                <a:xfrm>
                  <a:off x="7357067" y="2003330"/>
                  <a:ext cx="1655819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Glucose</a:t>
                  </a:r>
                </a:p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</a:p>
              </p:txBody>
            </p:sp>
            <p:sp>
              <p:nvSpPr>
                <p:cNvPr id="190" name="正方形/長方形 189">
                  <a:extLst>
                    <a:ext uri="{FF2B5EF4-FFF2-40B4-BE49-F238E27FC236}">
                      <a16:creationId xmlns:a16="http://schemas.microsoft.com/office/drawing/2014/main" id="{2CA457E6-7DE9-911F-9F57-39855C03FDEE}"/>
                    </a:ext>
                  </a:extLst>
                </p:cNvPr>
                <p:cNvSpPr/>
                <p:nvPr/>
              </p:nvSpPr>
              <p:spPr>
                <a:xfrm>
                  <a:off x="9678401" y="2055882"/>
                  <a:ext cx="1655818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Muscle and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adipose tissues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" name="正方形/長方形 190">
                  <a:extLst>
                    <a:ext uri="{FF2B5EF4-FFF2-40B4-BE49-F238E27FC236}">
                      <a16:creationId xmlns:a16="http://schemas.microsoft.com/office/drawing/2014/main" id="{9AC11E7C-415D-BF94-7875-9887B3648EFE}"/>
                    </a:ext>
                  </a:extLst>
                </p:cNvPr>
                <p:cNvSpPr/>
                <p:nvPr/>
              </p:nvSpPr>
              <p:spPr>
                <a:xfrm>
                  <a:off x="5031407" y="2023914"/>
                  <a:ext cx="1311631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LIVER</a:t>
                  </a:r>
                </a:p>
              </p:txBody>
            </p:sp>
            <p:sp>
              <p:nvSpPr>
                <p:cNvPr id="192" name="正方形/長方形 191">
                  <a:extLst>
                    <a:ext uri="{FF2B5EF4-FFF2-40B4-BE49-F238E27FC236}">
                      <a16:creationId xmlns:a16="http://schemas.microsoft.com/office/drawing/2014/main" id="{D25E0A77-3D10-3B38-4678-DF9B93210804}"/>
                    </a:ext>
                  </a:extLst>
                </p:cNvPr>
                <p:cNvSpPr/>
                <p:nvPr/>
              </p:nvSpPr>
              <p:spPr>
                <a:xfrm>
                  <a:off x="5005617" y="718540"/>
                  <a:ext cx="2078640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Gastrointestinal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tract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" name="正方形/長方形 192">
                  <a:extLst>
                    <a:ext uri="{FF2B5EF4-FFF2-40B4-BE49-F238E27FC236}">
                      <a16:creationId xmlns:a16="http://schemas.microsoft.com/office/drawing/2014/main" id="{8548DE79-72A8-DC34-3F84-339E2B7F83E0}"/>
                    </a:ext>
                  </a:extLst>
                </p:cNvPr>
                <p:cNvSpPr/>
                <p:nvPr/>
              </p:nvSpPr>
              <p:spPr>
                <a:xfrm>
                  <a:off x="8147354" y="1141591"/>
                  <a:ext cx="1531047" cy="335109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Renal</a:t>
                  </a:r>
                </a:p>
              </p:txBody>
            </p:sp>
            <p:sp>
              <p:nvSpPr>
                <p:cNvPr id="194" name="正方形/長方形 193">
                  <a:extLst>
                    <a:ext uri="{FF2B5EF4-FFF2-40B4-BE49-F238E27FC236}">
                      <a16:creationId xmlns:a16="http://schemas.microsoft.com/office/drawing/2014/main" id="{3E9AB794-5CCD-9F6A-381E-5C1665B19498}"/>
                    </a:ext>
                  </a:extLst>
                </p:cNvPr>
                <p:cNvSpPr/>
                <p:nvPr/>
              </p:nvSpPr>
              <p:spPr>
                <a:xfrm>
                  <a:off x="8378157" y="423283"/>
                  <a:ext cx="2986216" cy="383355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Brain and erythrocytes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" name="正方形/長方形 194">
                  <a:extLst>
                    <a:ext uri="{FF2B5EF4-FFF2-40B4-BE49-F238E27FC236}">
                      <a16:creationId xmlns:a16="http://schemas.microsoft.com/office/drawing/2014/main" id="{9A5B9BCB-CDE5-515C-EC04-20041C6ABA37}"/>
                    </a:ext>
                  </a:extLst>
                </p:cNvPr>
                <p:cNvSpPr/>
                <p:nvPr/>
              </p:nvSpPr>
              <p:spPr>
                <a:xfrm>
                  <a:off x="2997581" y="2029443"/>
                  <a:ext cx="1655819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Glucagon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" name="正方形/長方形 195">
                  <a:extLst>
                    <a:ext uri="{FF2B5EF4-FFF2-40B4-BE49-F238E27FC236}">
                      <a16:creationId xmlns:a16="http://schemas.microsoft.com/office/drawing/2014/main" id="{5F0FDE7C-2443-EEDB-570E-02D0836B40BE}"/>
                    </a:ext>
                  </a:extLst>
                </p:cNvPr>
                <p:cNvSpPr/>
                <p:nvPr/>
              </p:nvSpPr>
              <p:spPr>
                <a:xfrm>
                  <a:off x="563828" y="2035324"/>
                  <a:ext cx="1655818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Alpha-cell</a:t>
                  </a:r>
                </a:p>
              </p:txBody>
            </p:sp>
            <p:sp>
              <p:nvSpPr>
                <p:cNvPr id="197" name="正方形/長方形 196">
                  <a:extLst>
                    <a:ext uri="{FF2B5EF4-FFF2-40B4-BE49-F238E27FC236}">
                      <a16:creationId xmlns:a16="http://schemas.microsoft.com/office/drawing/2014/main" id="{EA135851-4603-652A-35F5-A33768B02A8B}"/>
                    </a:ext>
                  </a:extLst>
                </p:cNvPr>
                <p:cNvSpPr/>
                <p:nvPr/>
              </p:nvSpPr>
              <p:spPr>
                <a:xfrm>
                  <a:off x="923938" y="1249756"/>
                  <a:ext cx="2181983" cy="623678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Subcutaneous</a:t>
                  </a:r>
                </a:p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Glucagon</a:t>
                  </a:r>
                </a:p>
              </p:txBody>
            </p:sp>
            <p:cxnSp>
              <p:nvCxnSpPr>
                <p:cNvPr id="198" name="直線矢印コネクタ 197">
                  <a:extLst>
                    <a:ext uri="{FF2B5EF4-FFF2-40B4-BE49-F238E27FC236}">
                      <a16:creationId xmlns:a16="http://schemas.microsoft.com/office/drawing/2014/main" id="{FEC57C9B-B9CC-E4BD-10F5-D8775B577586}"/>
                    </a:ext>
                  </a:extLst>
                </p:cNvPr>
                <p:cNvCxnSpPr>
                  <a:cxnSpLocks/>
                  <a:stCxn id="191" idx="3"/>
                </p:cNvCxnSpPr>
                <p:nvPr/>
              </p:nvCxnSpPr>
              <p:spPr>
                <a:xfrm>
                  <a:off x="6343038" y="2407269"/>
                  <a:ext cx="101402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線矢印コネクタ 198">
                  <a:extLst>
                    <a:ext uri="{FF2B5EF4-FFF2-40B4-BE49-F238E27FC236}">
                      <a16:creationId xmlns:a16="http://schemas.microsoft.com/office/drawing/2014/main" id="{0CAE6731-58BD-3FB2-BF0D-A86C8E693658}"/>
                    </a:ext>
                  </a:extLst>
                </p:cNvPr>
                <p:cNvCxnSpPr/>
                <p:nvPr/>
              </p:nvCxnSpPr>
              <p:spPr>
                <a:xfrm>
                  <a:off x="9012885" y="2496018"/>
                  <a:ext cx="66551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200" name="グループ化 199">
                  <a:extLst>
                    <a:ext uri="{FF2B5EF4-FFF2-40B4-BE49-F238E27FC236}">
                      <a16:creationId xmlns:a16="http://schemas.microsoft.com/office/drawing/2014/main" id="{BBDF9307-9072-83F0-2054-DC5321BE016B}"/>
                    </a:ext>
                  </a:extLst>
                </p:cNvPr>
                <p:cNvGrpSpPr/>
                <p:nvPr/>
              </p:nvGrpSpPr>
              <p:grpSpPr>
                <a:xfrm>
                  <a:off x="7084257" y="1073503"/>
                  <a:ext cx="444654" cy="929827"/>
                  <a:chOff x="5159378" y="1006298"/>
                  <a:chExt cx="444654" cy="929827"/>
                </a:xfrm>
              </p:grpSpPr>
              <p:cxnSp>
                <p:nvCxnSpPr>
                  <p:cNvPr id="245" name="直線コネクタ 244">
                    <a:extLst>
                      <a:ext uri="{FF2B5EF4-FFF2-40B4-BE49-F238E27FC236}">
                        <a16:creationId xmlns:a16="http://schemas.microsoft.com/office/drawing/2014/main" id="{87BD32B1-D96D-7F86-FC28-F4FEC0FD6B03}"/>
                      </a:ext>
                    </a:extLst>
                  </p:cNvPr>
                  <p:cNvCxnSpPr/>
                  <p:nvPr/>
                </p:nvCxnSpPr>
                <p:spPr>
                  <a:xfrm>
                    <a:off x="5159378" y="1006298"/>
                    <a:ext cx="444654" cy="0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直線矢印コネクタ 245">
                    <a:extLst>
                      <a:ext uri="{FF2B5EF4-FFF2-40B4-BE49-F238E27FC236}">
                        <a16:creationId xmlns:a16="http://schemas.microsoft.com/office/drawing/2014/main" id="{97B8C291-27C6-B5B5-036C-D7D930144D1C}"/>
                      </a:ext>
                    </a:extLst>
                  </p:cNvPr>
                  <p:cNvCxnSpPr/>
                  <p:nvPr/>
                </p:nvCxnSpPr>
                <p:spPr>
                  <a:xfrm>
                    <a:off x="5604032" y="1006298"/>
                    <a:ext cx="0" cy="92982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1" name="グループ化 200">
                  <a:extLst>
                    <a:ext uri="{FF2B5EF4-FFF2-40B4-BE49-F238E27FC236}">
                      <a16:creationId xmlns:a16="http://schemas.microsoft.com/office/drawing/2014/main" id="{A2825E5A-293A-8289-2677-D74B84D42FA5}"/>
                    </a:ext>
                  </a:extLst>
                </p:cNvPr>
                <p:cNvGrpSpPr/>
                <p:nvPr/>
              </p:nvGrpSpPr>
              <p:grpSpPr>
                <a:xfrm>
                  <a:off x="7874085" y="614961"/>
                  <a:ext cx="504072" cy="1388369"/>
                  <a:chOff x="5954812" y="547756"/>
                  <a:chExt cx="504072" cy="1388369"/>
                </a:xfrm>
              </p:grpSpPr>
              <p:cxnSp>
                <p:nvCxnSpPr>
                  <p:cNvPr id="243" name="直線コネクタ 242">
                    <a:extLst>
                      <a:ext uri="{FF2B5EF4-FFF2-40B4-BE49-F238E27FC236}">
                        <a16:creationId xmlns:a16="http://schemas.microsoft.com/office/drawing/2014/main" id="{DC04D90E-6E95-34F9-72B8-7D8221349FB8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4812" y="547756"/>
                    <a:ext cx="0" cy="1388369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直線矢印コネクタ 243">
                    <a:extLst>
                      <a:ext uri="{FF2B5EF4-FFF2-40B4-BE49-F238E27FC236}">
                        <a16:creationId xmlns:a16="http://schemas.microsoft.com/office/drawing/2014/main" id="{E9570462-3241-684A-6AA1-D56E741CB8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54812" y="547756"/>
                    <a:ext cx="504072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2" name="直線矢印コネクタ 201">
                  <a:extLst>
                    <a:ext uri="{FF2B5EF4-FFF2-40B4-BE49-F238E27FC236}">
                      <a16:creationId xmlns:a16="http://schemas.microsoft.com/office/drawing/2014/main" id="{4E6AF7AE-8DA0-984B-C554-868C6F3C6F72}"/>
                    </a:ext>
                  </a:extLst>
                </p:cNvPr>
                <p:cNvCxnSpPr/>
                <p:nvPr/>
              </p:nvCxnSpPr>
              <p:spPr>
                <a:xfrm flipV="1">
                  <a:off x="8462664" y="1476700"/>
                  <a:ext cx="0" cy="52663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直線矢印コネクタ 202">
                  <a:extLst>
                    <a:ext uri="{FF2B5EF4-FFF2-40B4-BE49-F238E27FC236}">
                      <a16:creationId xmlns:a16="http://schemas.microsoft.com/office/drawing/2014/main" id="{F9BB7BFC-7AB8-DA1D-CA4C-FD89FAC5D85A}"/>
                    </a:ext>
                  </a:extLst>
                </p:cNvPr>
                <p:cNvCxnSpPr>
                  <a:cxnSpLocks/>
                  <a:endCxn id="193" idx="2"/>
                </p:cNvCxnSpPr>
                <p:nvPr/>
              </p:nvCxnSpPr>
              <p:spPr>
                <a:xfrm flipV="1">
                  <a:off x="8912877" y="1476700"/>
                  <a:ext cx="1" cy="52663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線矢印コネクタ 203">
                  <a:extLst>
                    <a:ext uri="{FF2B5EF4-FFF2-40B4-BE49-F238E27FC236}">
                      <a16:creationId xmlns:a16="http://schemas.microsoft.com/office/drawing/2014/main" id="{E7AA07E8-9461-9477-0315-5948A4594EC4}"/>
                    </a:ext>
                  </a:extLst>
                </p:cNvPr>
                <p:cNvCxnSpPr/>
                <p:nvPr/>
              </p:nvCxnSpPr>
              <p:spPr>
                <a:xfrm>
                  <a:off x="9012885" y="2280556"/>
                  <a:ext cx="665516" cy="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線矢印コネクタ 204">
                  <a:extLst>
                    <a:ext uri="{FF2B5EF4-FFF2-40B4-BE49-F238E27FC236}">
                      <a16:creationId xmlns:a16="http://schemas.microsoft.com/office/drawing/2014/main" id="{4859B38C-ACDF-10CB-8863-2CC7BA39E4A0}"/>
                    </a:ext>
                  </a:extLst>
                </p:cNvPr>
                <p:cNvCxnSpPr>
                  <a:cxnSpLocks/>
                  <a:stCxn id="187" idx="3"/>
                  <a:endCxn id="188" idx="1"/>
                </p:cNvCxnSpPr>
                <p:nvPr/>
              </p:nvCxnSpPr>
              <p:spPr>
                <a:xfrm>
                  <a:off x="6610287" y="3907765"/>
                  <a:ext cx="79330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直線矢印コネクタ 205">
                  <a:extLst>
                    <a:ext uri="{FF2B5EF4-FFF2-40B4-BE49-F238E27FC236}">
                      <a16:creationId xmlns:a16="http://schemas.microsoft.com/office/drawing/2014/main" id="{DBB5FE52-453D-7745-F340-F6CEDC543AA1}"/>
                    </a:ext>
                  </a:extLst>
                </p:cNvPr>
                <p:cNvCxnSpPr/>
                <p:nvPr/>
              </p:nvCxnSpPr>
              <p:spPr>
                <a:xfrm flipV="1">
                  <a:off x="8979647" y="3930176"/>
                  <a:ext cx="1194496" cy="101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直線コネクタ 206">
                  <a:extLst>
                    <a:ext uri="{FF2B5EF4-FFF2-40B4-BE49-F238E27FC236}">
                      <a16:creationId xmlns:a16="http://schemas.microsoft.com/office/drawing/2014/main" id="{DDFD3263-2448-F451-9805-FFE6DB5D06BD}"/>
                    </a:ext>
                  </a:extLst>
                </p:cNvPr>
                <p:cNvCxnSpPr>
                  <a:cxnSpLocks/>
                  <a:stCxn id="188" idx="0"/>
                  <a:endCxn id="210" idx="4"/>
                </p:cNvCxnSpPr>
                <p:nvPr/>
              </p:nvCxnSpPr>
              <p:spPr>
                <a:xfrm flipV="1">
                  <a:off x="8187018" y="3352429"/>
                  <a:ext cx="0" cy="206967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カギ線コネクタ 51">
                  <a:extLst>
                    <a:ext uri="{FF2B5EF4-FFF2-40B4-BE49-F238E27FC236}">
                      <a16:creationId xmlns:a16="http://schemas.microsoft.com/office/drawing/2014/main" id="{7E6F0726-0E19-EB38-D77D-1B31E3248EBC}"/>
                    </a:ext>
                  </a:extLst>
                </p:cNvPr>
                <p:cNvCxnSpPr>
                  <a:cxnSpLocks/>
                  <a:stCxn id="210" idx="2"/>
                  <a:endCxn id="191" idx="2"/>
                </p:cNvCxnSpPr>
                <p:nvPr/>
              </p:nvCxnSpPr>
              <p:spPr>
                <a:xfrm rot="10800000">
                  <a:off x="5687224" y="2790625"/>
                  <a:ext cx="2461751" cy="538080"/>
                </a:xfrm>
                <a:prstGeom prst="bentConnector2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カギ線コネクタ 53">
                  <a:extLst>
                    <a:ext uri="{FF2B5EF4-FFF2-40B4-BE49-F238E27FC236}">
                      <a16:creationId xmlns:a16="http://schemas.microsoft.com/office/drawing/2014/main" id="{F99F82EC-A625-2AC2-A43B-AFA632F0FEB0}"/>
                    </a:ext>
                  </a:extLst>
                </p:cNvPr>
                <p:cNvCxnSpPr>
                  <a:cxnSpLocks/>
                  <a:stCxn id="210" idx="6"/>
                  <a:endCxn id="190" idx="2"/>
                </p:cNvCxnSpPr>
                <p:nvPr/>
              </p:nvCxnSpPr>
              <p:spPr>
                <a:xfrm flipV="1">
                  <a:off x="8225061" y="2822592"/>
                  <a:ext cx="2281250" cy="506112"/>
                </a:xfrm>
                <a:prstGeom prst="bentConnector2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0" name="円/楕円 54">
                  <a:extLst>
                    <a:ext uri="{FF2B5EF4-FFF2-40B4-BE49-F238E27FC236}">
                      <a16:creationId xmlns:a16="http://schemas.microsoft.com/office/drawing/2014/main" id="{158E0C22-CB48-FE7D-18C1-7F292BCE73A3}"/>
                    </a:ext>
                  </a:extLst>
                </p:cNvPr>
                <p:cNvSpPr/>
                <p:nvPr/>
              </p:nvSpPr>
              <p:spPr>
                <a:xfrm>
                  <a:off x="8148974" y="3304978"/>
                  <a:ext cx="76088" cy="4745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sp>
              <p:nvSpPr>
                <p:cNvPr id="211" name="円/楕円 71">
                  <a:extLst>
                    <a:ext uri="{FF2B5EF4-FFF2-40B4-BE49-F238E27FC236}">
                      <a16:creationId xmlns:a16="http://schemas.microsoft.com/office/drawing/2014/main" id="{50D1C516-F093-4F51-7314-6B094015464A}"/>
                    </a:ext>
                  </a:extLst>
                </p:cNvPr>
                <p:cNvSpPr/>
                <p:nvPr/>
              </p:nvSpPr>
              <p:spPr>
                <a:xfrm>
                  <a:off x="8148976" y="2995945"/>
                  <a:ext cx="72000" cy="7200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cxnSp>
              <p:nvCxnSpPr>
                <p:cNvPr id="212" name="直線コネクタ 211">
                  <a:extLst>
                    <a:ext uri="{FF2B5EF4-FFF2-40B4-BE49-F238E27FC236}">
                      <a16:creationId xmlns:a16="http://schemas.microsoft.com/office/drawing/2014/main" id="{689C37A8-CE64-35B3-A3E4-B86A0A6B88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184976" y="2802195"/>
                  <a:ext cx="0" cy="20035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直線コネクタ 212">
                  <a:extLst>
                    <a:ext uri="{FF2B5EF4-FFF2-40B4-BE49-F238E27FC236}">
                      <a16:creationId xmlns:a16="http://schemas.microsoft.com/office/drawing/2014/main" id="{C29DC843-AB28-88CA-C4B3-F63A28BB62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20977" y="3035727"/>
                  <a:ext cx="1888418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直線矢印コネクタ 213">
                  <a:extLst>
                    <a:ext uri="{FF2B5EF4-FFF2-40B4-BE49-F238E27FC236}">
                      <a16:creationId xmlns:a16="http://schemas.microsoft.com/office/drawing/2014/main" id="{419685EA-BF6D-9AA8-33C1-FEBE3ACE01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097810" y="2819015"/>
                  <a:ext cx="11585" cy="216712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5" name="直線コネクタ 214">
                  <a:extLst>
                    <a:ext uri="{FF2B5EF4-FFF2-40B4-BE49-F238E27FC236}">
                      <a16:creationId xmlns:a16="http://schemas.microsoft.com/office/drawing/2014/main" id="{3E317EE1-E2FB-668F-A055-FD059E49E7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2900" y="3039419"/>
                  <a:ext cx="6412076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直線矢印コネクタ 215">
                  <a:extLst>
                    <a:ext uri="{FF2B5EF4-FFF2-40B4-BE49-F238E27FC236}">
                      <a16:creationId xmlns:a16="http://schemas.microsoft.com/office/drawing/2014/main" id="{7113070C-0CB1-49D5-D17E-2C8DE986C2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2900" y="2790623"/>
                  <a:ext cx="0" cy="258438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直線矢印コネクタ 216">
                  <a:extLst>
                    <a:ext uri="{FF2B5EF4-FFF2-40B4-BE49-F238E27FC236}">
                      <a16:creationId xmlns:a16="http://schemas.microsoft.com/office/drawing/2014/main" id="{872C1429-0DAC-FA74-710C-91FCB28AD5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83562" y="2790623"/>
                  <a:ext cx="0" cy="244677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8" name="円/楕円 94">
                  <a:extLst>
                    <a:ext uri="{FF2B5EF4-FFF2-40B4-BE49-F238E27FC236}">
                      <a16:creationId xmlns:a16="http://schemas.microsoft.com/office/drawing/2014/main" id="{315B33A8-3342-45F1-40AE-A75BFBD3EBB0}"/>
                    </a:ext>
                  </a:extLst>
                </p:cNvPr>
                <p:cNvSpPr/>
                <p:nvPr/>
              </p:nvSpPr>
              <p:spPr>
                <a:xfrm>
                  <a:off x="5247562" y="3013061"/>
                  <a:ext cx="72000" cy="7200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cxnSp>
              <p:nvCxnSpPr>
                <p:cNvPr id="219" name="直線矢印コネクタ 218">
                  <a:extLst>
                    <a:ext uri="{FF2B5EF4-FFF2-40B4-BE49-F238E27FC236}">
                      <a16:creationId xmlns:a16="http://schemas.microsoft.com/office/drawing/2014/main" id="{99918309-2D9E-B0CD-41CB-1227988CDBCC}"/>
                    </a:ext>
                  </a:extLst>
                </p:cNvPr>
                <p:cNvCxnSpPr>
                  <a:cxnSpLocks/>
                  <a:stCxn id="196" idx="3"/>
                  <a:endCxn id="195" idx="1"/>
                </p:cNvCxnSpPr>
                <p:nvPr/>
              </p:nvCxnSpPr>
              <p:spPr>
                <a:xfrm flipV="1">
                  <a:off x="2219646" y="2412798"/>
                  <a:ext cx="77793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コネクタ 219">
                  <a:extLst>
                    <a:ext uri="{FF2B5EF4-FFF2-40B4-BE49-F238E27FC236}">
                      <a16:creationId xmlns:a16="http://schemas.microsoft.com/office/drawing/2014/main" id="{55FC362D-2CBB-17CD-821C-F03327AD0F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5921" y="1561595"/>
                  <a:ext cx="72149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直線矢印コネクタ 220">
                  <a:extLst>
                    <a:ext uri="{FF2B5EF4-FFF2-40B4-BE49-F238E27FC236}">
                      <a16:creationId xmlns:a16="http://schemas.microsoft.com/office/drawing/2014/main" id="{AB320429-CA58-90E1-1487-2A027A891F4D}"/>
                    </a:ext>
                  </a:extLst>
                </p:cNvPr>
                <p:cNvCxnSpPr>
                  <a:cxnSpLocks/>
                  <a:endCxn id="195" idx="0"/>
                </p:cNvCxnSpPr>
                <p:nvPr/>
              </p:nvCxnSpPr>
              <p:spPr>
                <a:xfrm>
                  <a:off x="3825491" y="1558602"/>
                  <a:ext cx="0" cy="47084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2" name="直線矢印コネクタ 221">
                  <a:extLst>
                    <a:ext uri="{FF2B5EF4-FFF2-40B4-BE49-F238E27FC236}">
                      <a16:creationId xmlns:a16="http://schemas.microsoft.com/office/drawing/2014/main" id="{27126B9D-F8D4-EF07-571F-F4DF9117C363}"/>
                    </a:ext>
                  </a:extLst>
                </p:cNvPr>
                <p:cNvCxnSpPr>
                  <a:cxnSpLocks/>
                  <a:endCxn id="192" idx="1"/>
                </p:cNvCxnSpPr>
                <p:nvPr/>
              </p:nvCxnSpPr>
              <p:spPr>
                <a:xfrm>
                  <a:off x="2652647" y="1098511"/>
                  <a:ext cx="2352970" cy="338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直線矢印コネクタ 222">
                  <a:extLst>
                    <a:ext uri="{FF2B5EF4-FFF2-40B4-BE49-F238E27FC236}">
                      <a16:creationId xmlns:a16="http://schemas.microsoft.com/office/drawing/2014/main" id="{165607B3-76BD-F6F2-8C73-52D47438434B}"/>
                    </a:ext>
                  </a:extLst>
                </p:cNvPr>
                <p:cNvCxnSpPr/>
                <p:nvPr/>
              </p:nvCxnSpPr>
              <p:spPr>
                <a:xfrm flipV="1">
                  <a:off x="3337325" y="3954073"/>
                  <a:ext cx="1145152" cy="101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4" name="テキスト ボックス 223">
                      <a:extLst>
                        <a:ext uri="{FF2B5EF4-FFF2-40B4-BE49-F238E27FC236}">
                          <a16:creationId xmlns:a16="http://schemas.microsoft.com/office/drawing/2014/main" id="{348E6F88-268C-6952-9DE5-B2D2D7A2A7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114865" y="782450"/>
                      <a:ext cx="393918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>
                <p:sp>
                  <p:nvSpPr>
                    <p:cNvPr id="224" name="テキスト ボックス 223">
                      <a:extLst>
                        <a:ext uri="{FF2B5EF4-FFF2-40B4-BE49-F238E27FC236}">
                          <a16:creationId xmlns:a16="http://schemas.microsoft.com/office/drawing/2014/main" id="{348E6F88-268C-6952-9DE5-B2D2D7A2A7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4865" y="782450"/>
                      <a:ext cx="393918" cy="19368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1212" r="-1515" b="-819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5" name="テキスト ボックス 224">
                      <a:extLst>
                        <a:ext uri="{FF2B5EF4-FFF2-40B4-BE49-F238E27FC236}">
                          <a16:creationId xmlns:a16="http://schemas.microsoft.com/office/drawing/2014/main" id="{05F808EA-219E-64AB-7E9D-584E92F0D3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4883" y="2122363"/>
                      <a:ext cx="66170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𝐸𝐺𝑃</m:t>
                            </m:r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>
                <p:sp>
                  <p:nvSpPr>
                    <p:cNvPr id="225" name="テキスト ボックス 224">
                      <a:extLst>
                        <a:ext uri="{FF2B5EF4-FFF2-40B4-BE49-F238E27FC236}">
                          <a16:creationId xmlns:a16="http://schemas.microsoft.com/office/drawing/2014/main" id="{05F808EA-219E-64AB-7E9D-584E92F0D3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4883" y="2122363"/>
                      <a:ext cx="661701" cy="19368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8108" r="-8108" b="-49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6" name="テキスト ボックス 225">
                      <a:extLst>
                        <a:ext uri="{FF2B5EF4-FFF2-40B4-BE49-F238E27FC236}">
                          <a16:creationId xmlns:a16="http://schemas.microsoft.com/office/drawing/2014/main" id="{D6B0B2DB-2D29-5FD5-288C-1F8CC37C977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66556" y="315646"/>
                      <a:ext cx="45099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>
                <p:sp>
                  <p:nvSpPr>
                    <p:cNvPr id="226" name="テキスト ボックス 225">
                      <a:extLst>
                        <a:ext uri="{FF2B5EF4-FFF2-40B4-BE49-F238E27FC236}">
                          <a16:creationId xmlns:a16="http://schemas.microsoft.com/office/drawing/2014/main" id="{D6B0B2DB-2D29-5FD5-288C-1F8CC37C977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66556" y="315646"/>
                      <a:ext cx="450993" cy="19368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3333" r="-2667" b="-131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7" name="テキスト ボックス 226">
                      <a:extLst>
                        <a:ext uri="{FF2B5EF4-FFF2-40B4-BE49-F238E27FC236}">
                          <a16:creationId xmlns:a16="http://schemas.microsoft.com/office/drawing/2014/main" id="{CB8BC2C9-C601-263C-CB51-231D5E1675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10816" y="1627791"/>
                      <a:ext cx="28777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>
                <p:sp>
                  <p:nvSpPr>
                    <p:cNvPr id="227" name="テキスト ボックス 226">
                      <a:extLst>
                        <a:ext uri="{FF2B5EF4-FFF2-40B4-BE49-F238E27FC236}">
                          <a16:creationId xmlns:a16="http://schemas.microsoft.com/office/drawing/2014/main" id="{CB8BC2C9-C601-263C-CB51-231D5E1675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10816" y="1627791"/>
                      <a:ext cx="287775" cy="193686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2917" r="-14583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8" name="テキスト ボックス 227">
                      <a:extLst>
                        <a:ext uri="{FF2B5EF4-FFF2-40B4-BE49-F238E27FC236}">
                          <a16:creationId xmlns:a16="http://schemas.microsoft.com/office/drawing/2014/main" id="{DDFF6146-724D-0A31-E8A8-E175AFDD88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597406" y="1678639"/>
                      <a:ext cx="413784" cy="20864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>
                <p:sp>
                  <p:nvSpPr>
                    <p:cNvPr id="228" name="テキスト ボックス 227">
                      <a:extLst>
                        <a:ext uri="{FF2B5EF4-FFF2-40B4-BE49-F238E27FC236}">
                          <a16:creationId xmlns:a16="http://schemas.microsoft.com/office/drawing/2014/main" id="{DDFF6146-724D-0A31-E8A8-E175AFDD88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7406" y="1678639"/>
                      <a:ext cx="413784" cy="20864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14493" r="-43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9" name="テキスト ボックス 228">
                      <a:extLst>
                        <a:ext uri="{FF2B5EF4-FFF2-40B4-BE49-F238E27FC236}">
                          <a16:creationId xmlns:a16="http://schemas.microsoft.com/office/drawing/2014/main" id="{D81003A4-7E60-797E-6E49-B40004FF50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85995" y="2489774"/>
                      <a:ext cx="51507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𝑖𝑑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>
                <p:sp>
                  <p:nvSpPr>
                    <p:cNvPr id="229" name="テキスト ボックス 228">
                      <a:extLst>
                        <a:ext uri="{FF2B5EF4-FFF2-40B4-BE49-F238E27FC236}">
                          <a16:creationId xmlns:a16="http://schemas.microsoft.com/office/drawing/2014/main" id="{D81003A4-7E60-797E-6E49-B40004FF50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85995" y="2489774"/>
                      <a:ext cx="515071" cy="19368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2791" r="-2326" b="-131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0" name="テキスト ボックス 229">
                      <a:extLst>
                        <a:ext uri="{FF2B5EF4-FFF2-40B4-BE49-F238E27FC236}">
                          <a16:creationId xmlns:a16="http://schemas.microsoft.com/office/drawing/2014/main" id="{D07B29E3-7EC7-B61D-8CF1-110AB8CF587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85253" y="1958568"/>
                      <a:ext cx="384836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>
                <p:sp>
                  <p:nvSpPr>
                    <p:cNvPr id="230" name="テキスト ボックス 229">
                      <a:extLst>
                        <a:ext uri="{FF2B5EF4-FFF2-40B4-BE49-F238E27FC236}">
                          <a16:creationId xmlns:a16="http://schemas.microsoft.com/office/drawing/2014/main" id="{D07B29E3-7EC7-B61D-8CF1-110AB8CF587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85253" y="1958568"/>
                      <a:ext cx="384836" cy="19368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15625" r="-3125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1" name="テキスト ボックス 230">
                      <a:extLst>
                        <a:ext uri="{FF2B5EF4-FFF2-40B4-BE49-F238E27FC236}">
                          <a16:creationId xmlns:a16="http://schemas.microsoft.com/office/drawing/2014/main" id="{3DE0F130-09F4-1EF6-AF1F-5435311BC2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94599" y="3625947"/>
                      <a:ext cx="51002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𝑎𝑖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>
                <p:sp>
                  <p:nvSpPr>
                    <p:cNvPr id="231" name="テキスト ボックス 230">
                      <a:extLst>
                        <a:ext uri="{FF2B5EF4-FFF2-40B4-BE49-F238E27FC236}">
                          <a16:creationId xmlns:a16="http://schemas.microsoft.com/office/drawing/2014/main" id="{3DE0F130-09F4-1EF6-AF1F-5435311BC2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94599" y="3625947"/>
                      <a:ext cx="510025" cy="193686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12941" r="-2353" b="-1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2" name="テキスト ボックス 231">
                      <a:extLst>
                        <a:ext uri="{FF2B5EF4-FFF2-40B4-BE49-F238E27FC236}">
                          <a16:creationId xmlns:a16="http://schemas.microsoft.com/office/drawing/2014/main" id="{C957824E-45F0-A9DE-3CE0-D89A3E9EF15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86150" y="1550847"/>
                      <a:ext cx="640699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>
                <p:sp>
                  <p:nvSpPr>
                    <p:cNvPr id="232" name="テキスト ボックス 231">
                      <a:extLst>
                        <a:ext uri="{FF2B5EF4-FFF2-40B4-BE49-F238E27FC236}">
                          <a16:creationId xmlns:a16="http://schemas.microsoft.com/office/drawing/2014/main" id="{C957824E-45F0-A9DE-3CE0-D89A3E9EF15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86150" y="1550847"/>
                      <a:ext cx="640699" cy="193686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9346" r="-1869"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33" name="テキスト ボックス 232">
                  <a:extLst>
                    <a:ext uri="{FF2B5EF4-FFF2-40B4-BE49-F238E27FC236}">
                      <a16:creationId xmlns:a16="http://schemas.microsoft.com/office/drawing/2014/main" id="{36CFAB54-5E15-32CF-CD01-B09426C76990}"/>
                    </a:ext>
                  </a:extLst>
                </p:cNvPr>
                <p:cNvSpPr txBox="1"/>
                <p:nvPr/>
              </p:nvSpPr>
              <p:spPr>
                <a:xfrm>
                  <a:off x="9331574" y="3764446"/>
                  <a:ext cx="829334" cy="887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kumimoji="1" lang="en-US" altLang="ja-JP" sz="1100" b="1" dirty="0"/>
                    <a:t>Degradation</a:t>
                  </a:r>
                  <a:endParaRPr kumimoji="1" lang="ja-JP" altLang="en-US" sz="1100" b="1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4" name="テキスト ボックス 233">
                      <a:extLst>
                        <a:ext uri="{FF2B5EF4-FFF2-40B4-BE49-F238E27FC236}">
                          <a16:creationId xmlns:a16="http://schemas.microsoft.com/office/drawing/2014/main" id="{C0F2402E-9A3C-2E74-0DD6-48E617DEF3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02285" y="3320940"/>
                      <a:ext cx="211402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>
                <p:sp>
                  <p:nvSpPr>
                    <p:cNvPr id="234" name="テキスト ボックス 233">
                      <a:extLst>
                        <a:ext uri="{FF2B5EF4-FFF2-40B4-BE49-F238E27FC236}">
                          <a16:creationId xmlns:a16="http://schemas.microsoft.com/office/drawing/2014/main" id="{C0F2402E-9A3C-2E74-0DD6-48E617DEF3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02285" y="3320940"/>
                      <a:ext cx="211402" cy="193686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8571" r="-25714" b="-49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5" name="テキスト ボックス 234">
                      <a:extLst>
                        <a:ext uri="{FF2B5EF4-FFF2-40B4-BE49-F238E27FC236}">
                          <a16:creationId xmlns:a16="http://schemas.microsoft.com/office/drawing/2014/main" id="{9DCDE141-E4F2-9BAC-5E4A-4FB4A9EBCE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07905" y="3762414"/>
                      <a:ext cx="60519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𝑖𝑛𝑠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>
                <p:sp>
                  <p:nvSpPr>
                    <p:cNvPr id="235" name="テキスト ボックス 234">
                      <a:extLst>
                        <a:ext uri="{FF2B5EF4-FFF2-40B4-BE49-F238E27FC236}">
                          <a16:creationId xmlns:a16="http://schemas.microsoft.com/office/drawing/2014/main" id="{9DCDE141-E4F2-9BAC-5E4A-4FB4A9EBCE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07905" y="3762414"/>
                      <a:ext cx="605193" cy="193686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4950" r="-2970" b="-1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6" name="テキスト ボックス 235">
                      <a:extLst>
                        <a:ext uri="{FF2B5EF4-FFF2-40B4-BE49-F238E27FC236}">
                          <a16:creationId xmlns:a16="http://schemas.microsoft.com/office/drawing/2014/main" id="{54660CB9-5BE3-B24D-D771-2C429B2032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81111" y="777536"/>
                      <a:ext cx="1072773" cy="25824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𝑚𝑒𝑎𝑙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32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36" name="テキスト ボックス 235">
                      <a:extLst>
                        <a:ext uri="{FF2B5EF4-FFF2-40B4-BE49-F238E27FC236}">
                          <a16:creationId xmlns:a16="http://schemas.microsoft.com/office/drawing/2014/main" id="{54660CB9-5BE3-B24D-D771-2C429B2032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81111" y="777536"/>
                      <a:ext cx="1072773" cy="25824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7" name="テキスト ボックス 236">
                      <a:extLst>
                        <a:ext uri="{FF2B5EF4-FFF2-40B4-BE49-F238E27FC236}">
                          <a16:creationId xmlns:a16="http://schemas.microsoft.com/office/drawing/2014/main" id="{C8CB6800-B065-80CB-9124-E7E794A602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75040" y="2762639"/>
                      <a:ext cx="29080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>
                <p:sp>
                  <p:nvSpPr>
                    <p:cNvPr id="237" name="テキスト ボックス 236">
                      <a:extLst>
                        <a:ext uri="{FF2B5EF4-FFF2-40B4-BE49-F238E27FC236}">
                          <a16:creationId xmlns:a16="http://schemas.microsoft.com/office/drawing/2014/main" id="{C8CB6800-B065-80CB-9124-E7E794A602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75040" y="2762639"/>
                      <a:ext cx="290803" cy="19368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0408" r="-16327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8" name="テキスト ボックス 237">
                      <a:extLst>
                        <a:ext uri="{FF2B5EF4-FFF2-40B4-BE49-F238E27FC236}">
                          <a16:creationId xmlns:a16="http://schemas.microsoft.com/office/drawing/2014/main" id="{CDEC9CFA-61E0-8257-A38B-903828B368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8782" y="2056988"/>
                      <a:ext cx="62468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>
                <p:sp>
                  <p:nvSpPr>
                    <p:cNvPr id="238" name="テキスト ボックス 237">
                      <a:extLst>
                        <a:ext uri="{FF2B5EF4-FFF2-40B4-BE49-F238E27FC236}">
                          <a16:creationId xmlns:a16="http://schemas.microsoft.com/office/drawing/2014/main" id="{CDEC9CFA-61E0-8257-A38B-903828B368D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8782" y="2056988"/>
                      <a:ext cx="624681" cy="193686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8571" r="-952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9" name="テキスト ボックス 238">
                      <a:extLst>
                        <a:ext uri="{FF2B5EF4-FFF2-40B4-BE49-F238E27FC236}">
                          <a16:creationId xmlns:a16="http://schemas.microsoft.com/office/drawing/2014/main" id="{3D26EB0D-95CE-2961-C6F7-B92BD9BCD5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72362" y="2158579"/>
                      <a:ext cx="31634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>
                <p:sp>
                  <p:nvSpPr>
                    <p:cNvPr id="239" name="テキスト ボックス 238">
                      <a:extLst>
                        <a:ext uri="{FF2B5EF4-FFF2-40B4-BE49-F238E27FC236}">
                          <a16:creationId xmlns:a16="http://schemas.microsoft.com/office/drawing/2014/main" id="{3D26EB0D-95CE-2961-C6F7-B92BD9BCD5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72362" y="2158579"/>
                      <a:ext cx="316345" cy="193686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1154" r="-15385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40" name="直線矢印コネクタ 239">
                  <a:extLst>
                    <a:ext uri="{FF2B5EF4-FFF2-40B4-BE49-F238E27FC236}">
                      <a16:creationId xmlns:a16="http://schemas.microsoft.com/office/drawing/2014/main" id="{6B1D2AF3-3B4A-6EB2-2674-CA7CE878CD71}"/>
                    </a:ext>
                  </a:extLst>
                </p:cNvPr>
                <p:cNvCxnSpPr>
                  <a:cxnSpLocks/>
                  <a:stCxn id="195" idx="3"/>
                  <a:endCxn id="191" idx="1"/>
                </p:cNvCxnSpPr>
                <p:nvPr/>
              </p:nvCxnSpPr>
              <p:spPr>
                <a:xfrm flipV="1">
                  <a:off x="4653400" y="2407269"/>
                  <a:ext cx="378007" cy="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直線コネクタ 240">
                  <a:extLst>
                    <a:ext uri="{FF2B5EF4-FFF2-40B4-BE49-F238E27FC236}">
                      <a16:creationId xmlns:a16="http://schemas.microsoft.com/office/drawing/2014/main" id="{8B39B8F1-7E1F-AC0F-2A2E-9DD6DC8093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91737" y="3323158"/>
                  <a:ext cx="4276477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2" name="直線矢印コネクタ 241">
                  <a:extLst>
                    <a:ext uri="{FF2B5EF4-FFF2-40B4-BE49-F238E27FC236}">
                      <a16:creationId xmlns:a16="http://schemas.microsoft.com/office/drawing/2014/main" id="{D56DD634-0D5C-4032-917D-FF454DA946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91737" y="2802034"/>
                  <a:ext cx="0" cy="521124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33785B09-F066-D101-A934-373986B89E73}"/>
                  </a:ext>
                </a:extLst>
              </p:cNvPr>
              <p:cNvSpPr/>
              <p:nvPr/>
            </p:nvSpPr>
            <p:spPr>
              <a:xfrm>
                <a:off x="1606115" y="12976318"/>
                <a:ext cx="3960348" cy="146732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 sz="3600" b="1" dirty="0"/>
                  <a:t>Insulin pump</a:t>
                </a:r>
                <a:endParaRPr kumimoji="1" lang="ja-JP" altLang="en-US" sz="3600" b="1" dirty="0"/>
              </a:p>
            </p:txBody>
          </p:sp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346E8F27-0991-C28A-680B-81DB921A8112}"/>
                  </a:ext>
                </a:extLst>
              </p:cNvPr>
              <p:cNvSpPr/>
              <p:nvPr/>
            </p:nvSpPr>
            <p:spPr>
              <a:xfrm>
                <a:off x="9055799" y="12976319"/>
                <a:ext cx="3742083" cy="146732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600" b="1" dirty="0"/>
                  <a:t>Sensor</a:t>
                </a:r>
                <a:endParaRPr kumimoji="1" lang="ja-JP" altLang="en-US" sz="3600" b="1" dirty="0"/>
              </a:p>
            </p:txBody>
          </p:sp>
          <p:sp>
            <p:nvSpPr>
              <p:cNvPr id="96" name="正方形/長方形 95">
                <a:extLst>
                  <a:ext uri="{FF2B5EF4-FFF2-40B4-BE49-F238E27FC236}">
                    <a16:creationId xmlns:a16="http://schemas.microsoft.com/office/drawing/2014/main" id="{F43DE248-D16E-FD4E-0369-BFCF1A71BF18}"/>
                  </a:ext>
                </a:extLst>
              </p:cNvPr>
              <p:cNvSpPr/>
              <p:nvPr/>
            </p:nvSpPr>
            <p:spPr>
              <a:xfrm>
                <a:off x="5030738" y="14746464"/>
                <a:ext cx="4245151" cy="146732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 sz="3600" b="1" dirty="0"/>
                  <a:t>Controller</a:t>
                </a:r>
              </a:p>
            </p:txBody>
          </p:sp>
          <p:sp>
            <p:nvSpPr>
              <p:cNvPr id="97" name="矢印: 下 96">
                <a:extLst>
                  <a:ext uri="{FF2B5EF4-FFF2-40B4-BE49-F238E27FC236}">
                    <a16:creationId xmlns:a16="http://schemas.microsoft.com/office/drawing/2014/main" id="{3031B432-E487-0548-6EE3-BE1A0D94B921}"/>
                  </a:ext>
                </a:extLst>
              </p:cNvPr>
              <p:cNvSpPr/>
              <p:nvPr/>
            </p:nvSpPr>
            <p:spPr>
              <a:xfrm>
                <a:off x="10319620" y="12279081"/>
                <a:ext cx="1214439" cy="965087"/>
              </a:xfrm>
              <a:prstGeom prst="downArrow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8" name="矢印: 下 97">
                <a:extLst>
                  <a:ext uri="{FF2B5EF4-FFF2-40B4-BE49-F238E27FC236}">
                    <a16:creationId xmlns:a16="http://schemas.microsoft.com/office/drawing/2014/main" id="{7D43DB88-D41B-0861-1AB3-BFF1C98B787B}"/>
                  </a:ext>
                </a:extLst>
              </p:cNvPr>
              <p:cNvSpPr/>
              <p:nvPr/>
            </p:nvSpPr>
            <p:spPr>
              <a:xfrm rot="10800000">
                <a:off x="3043879" y="12170084"/>
                <a:ext cx="1214439" cy="965087"/>
              </a:xfrm>
              <a:prstGeom prst="downArrow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kumimoji="1" lang="ja-JP" altLang="en-US" dirty="0"/>
              </a:p>
            </p:txBody>
          </p:sp>
          <p:sp>
            <p:nvSpPr>
              <p:cNvPr id="106" name="矢印: 上向き折線 105">
                <a:extLst>
                  <a:ext uri="{FF2B5EF4-FFF2-40B4-BE49-F238E27FC236}">
                    <a16:creationId xmlns:a16="http://schemas.microsoft.com/office/drawing/2014/main" id="{D0921656-D252-FCAF-9239-B6D9413ED06F}"/>
                  </a:ext>
                </a:extLst>
              </p:cNvPr>
              <p:cNvSpPr/>
              <p:nvPr/>
            </p:nvSpPr>
            <p:spPr>
              <a:xfrm rot="5400000" flipV="1">
                <a:off x="9411703" y="14270685"/>
                <a:ext cx="1467329" cy="1875525"/>
              </a:xfrm>
              <a:prstGeom prst="bentUpArrow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07" name="矢印: 上向き折線 106">
                <a:extLst>
                  <a:ext uri="{FF2B5EF4-FFF2-40B4-BE49-F238E27FC236}">
                    <a16:creationId xmlns:a16="http://schemas.microsoft.com/office/drawing/2014/main" id="{092DFA8E-22E0-622D-3E67-9E3BCCA93207}"/>
                  </a:ext>
                </a:extLst>
              </p:cNvPr>
              <p:cNvSpPr/>
              <p:nvPr/>
            </p:nvSpPr>
            <p:spPr>
              <a:xfrm rot="10800000" flipV="1">
                <a:off x="3298881" y="14443646"/>
                <a:ext cx="1653412" cy="1430588"/>
              </a:xfrm>
              <a:prstGeom prst="bentUpArrow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17" name="テキスト ボックス 116">
              <a:extLst>
                <a:ext uri="{FF2B5EF4-FFF2-40B4-BE49-F238E27FC236}">
                  <a16:creationId xmlns:a16="http://schemas.microsoft.com/office/drawing/2014/main" id="{02F12DE9-9025-B3D8-6E96-C50BC6A1E33D}"/>
                </a:ext>
              </a:extLst>
            </p:cNvPr>
            <p:cNvSpPr txBox="1"/>
            <p:nvPr/>
          </p:nvSpPr>
          <p:spPr>
            <a:xfrm>
              <a:off x="1742972" y="10590608"/>
              <a:ext cx="309025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3200" b="1" dirty="0"/>
                <a:t>MEAL MODEL</a:t>
              </a:r>
              <a:endParaRPr kumimoji="1" lang="ja-JP" altLang="en-US" sz="3200" b="1" dirty="0"/>
            </a:p>
          </p:txBody>
        </p:sp>
        <p:grpSp>
          <p:nvGrpSpPr>
            <p:cNvPr id="124" name="グループ化 123">
              <a:extLst>
                <a:ext uri="{FF2B5EF4-FFF2-40B4-BE49-F238E27FC236}">
                  <a16:creationId xmlns:a16="http://schemas.microsoft.com/office/drawing/2014/main" id="{1543D232-1250-6076-B965-CFEDD0052EAD}"/>
                </a:ext>
              </a:extLst>
            </p:cNvPr>
            <p:cNvGrpSpPr/>
            <p:nvPr/>
          </p:nvGrpSpPr>
          <p:grpSpPr>
            <a:xfrm>
              <a:off x="3738394" y="23501668"/>
              <a:ext cx="7633223" cy="3630761"/>
              <a:chOff x="16844378" y="6223836"/>
              <a:chExt cx="9672560" cy="4651929"/>
            </a:xfrm>
            <a:solidFill>
              <a:schemeClr val="bg1">
                <a:lumMod val="95000"/>
              </a:schemeClr>
            </a:solidFill>
          </p:grpSpPr>
          <p:sp>
            <p:nvSpPr>
              <p:cNvPr id="118" name="四角形: 角を丸くする 117">
                <a:extLst>
                  <a:ext uri="{FF2B5EF4-FFF2-40B4-BE49-F238E27FC236}">
                    <a16:creationId xmlns:a16="http://schemas.microsoft.com/office/drawing/2014/main" id="{0B822C1B-1A5C-B8D8-59FA-1F7C089840EA}"/>
                  </a:ext>
                </a:extLst>
              </p:cNvPr>
              <p:cNvSpPr/>
              <p:nvPr/>
            </p:nvSpPr>
            <p:spPr>
              <a:xfrm>
                <a:off x="16844378" y="6223836"/>
                <a:ext cx="9672560" cy="4651929"/>
              </a:xfrm>
              <a:prstGeom prst="round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19" name="テキスト ボックス 118">
                <a:extLst>
                  <a:ext uri="{FF2B5EF4-FFF2-40B4-BE49-F238E27FC236}">
                    <a16:creationId xmlns:a16="http://schemas.microsoft.com/office/drawing/2014/main" id="{B2198CDB-4D56-9CEC-BD11-812F9345EB43}"/>
                  </a:ext>
                </a:extLst>
              </p:cNvPr>
              <p:cNvSpPr txBox="1"/>
              <p:nvPr/>
            </p:nvSpPr>
            <p:spPr>
              <a:xfrm>
                <a:off x="17082427" y="6557831"/>
                <a:ext cx="5208939" cy="749246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200" b="1" dirty="0"/>
                  <a:t>Controller(MPC)</a:t>
                </a:r>
                <a:endParaRPr kumimoji="1" lang="ja-JP" altLang="en-US" sz="3200" b="1" dirty="0"/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a16:creationId xmlns:a16="http://schemas.microsoft.com/office/drawing/2014/main" id="{892E5B1D-EDB9-FD82-5A28-9071961B9D10}"/>
                  </a:ext>
                </a:extLst>
              </p:cNvPr>
              <p:cNvSpPr/>
              <p:nvPr/>
            </p:nvSpPr>
            <p:spPr>
              <a:xfrm>
                <a:off x="18009524" y="7633928"/>
                <a:ext cx="3088688" cy="11299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600" b="1" dirty="0"/>
                  <a:t>Optimizer</a:t>
                </a:r>
                <a:endParaRPr kumimoji="1" lang="ja-JP" altLang="en-US" sz="2800" b="1" dirty="0"/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a16:creationId xmlns:a16="http://schemas.microsoft.com/office/drawing/2014/main" id="{E90B33A6-78E0-77C8-0DF0-02AF3CFBAA9A}"/>
                  </a:ext>
                </a:extLst>
              </p:cNvPr>
              <p:cNvSpPr/>
              <p:nvPr/>
            </p:nvSpPr>
            <p:spPr>
              <a:xfrm>
                <a:off x="22291365" y="9283900"/>
                <a:ext cx="2807086" cy="11395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b="1" dirty="0"/>
                  <a:t>Prediction</a:t>
                </a:r>
              </a:p>
              <a:p>
                <a:pPr algn="ctr"/>
                <a:r>
                  <a:rPr lang="en-US" altLang="ja-JP" sz="2800" b="1" dirty="0"/>
                  <a:t>Model</a:t>
                </a:r>
                <a:endParaRPr kumimoji="1" lang="ja-JP" altLang="en-US" sz="2800" b="1" dirty="0"/>
              </a:p>
            </p:txBody>
          </p:sp>
          <p:sp>
            <p:nvSpPr>
              <p:cNvPr id="122" name="矢印: 上向き折線 121">
                <a:extLst>
                  <a:ext uri="{FF2B5EF4-FFF2-40B4-BE49-F238E27FC236}">
                    <a16:creationId xmlns:a16="http://schemas.microsoft.com/office/drawing/2014/main" id="{026F1E96-1E1F-3972-9B97-B8352698B05F}"/>
                  </a:ext>
                </a:extLst>
              </p:cNvPr>
              <p:cNvSpPr/>
              <p:nvPr/>
            </p:nvSpPr>
            <p:spPr>
              <a:xfrm flipV="1">
                <a:off x="21098213" y="8057822"/>
                <a:ext cx="2764639" cy="1206960"/>
              </a:xfrm>
              <a:prstGeom prst="bentUpArrow">
                <a:avLst>
                  <a:gd name="adj1" fmla="val 15565"/>
                  <a:gd name="adj2" fmla="val 21226"/>
                  <a:gd name="adj3" fmla="val 25000"/>
                </a:avLst>
              </a:prstGeom>
              <a:grpFill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3" name="矢印: 上向き折線 122">
                <a:extLst>
                  <a:ext uri="{FF2B5EF4-FFF2-40B4-BE49-F238E27FC236}">
                    <a16:creationId xmlns:a16="http://schemas.microsoft.com/office/drawing/2014/main" id="{A9976F30-7429-B6FD-3643-3E28F9CFF263}"/>
                  </a:ext>
                </a:extLst>
              </p:cNvPr>
              <p:cNvSpPr/>
              <p:nvPr/>
            </p:nvSpPr>
            <p:spPr>
              <a:xfrm rot="10800000" flipV="1">
                <a:off x="19526726" y="8763863"/>
                <a:ext cx="2764639" cy="1206960"/>
              </a:xfrm>
              <a:prstGeom prst="bentUpArrow">
                <a:avLst>
                  <a:gd name="adj1" fmla="val 15565"/>
                  <a:gd name="adj2" fmla="val 21226"/>
                  <a:gd name="adj3" fmla="val 25000"/>
                </a:avLst>
              </a:prstGeom>
              <a:grpFill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26" name="テキスト ボックス 125">
              <a:extLst>
                <a:ext uri="{FF2B5EF4-FFF2-40B4-BE49-F238E27FC236}">
                  <a16:creationId xmlns:a16="http://schemas.microsoft.com/office/drawing/2014/main" id="{4AFEC21A-6718-B10F-4361-6B039B41BE5F}"/>
                </a:ext>
              </a:extLst>
            </p:cNvPr>
            <p:cNvSpPr txBox="1">
              <a:spLocks/>
            </p:cNvSpPr>
            <p:nvPr/>
          </p:nvSpPr>
          <p:spPr>
            <a:xfrm>
              <a:off x="1164552" y="4341684"/>
              <a:ext cx="4644669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4400" b="1" dirty="0">
                  <a:solidFill>
                    <a:schemeClr val="tx2">
                      <a:lumMod val="90000"/>
                      <a:lumOff val="1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研究背景と目的</a:t>
              </a:r>
            </a:p>
          </p:txBody>
        </p:sp>
        <p:sp>
          <p:nvSpPr>
            <p:cNvPr id="127" name="テキスト ボックス 126">
              <a:extLst>
                <a:ext uri="{FF2B5EF4-FFF2-40B4-BE49-F238E27FC236}">
                  <a16:creationId xmlns:a16="http://schemas.microsoft.com/office/drawing/2014/main" id="{E6B4AE51-E7E4-A433-8598-ED75C43D9A02}"/>
                </a:ext>
              </a:extLst>
            </p:cNvPr>
            <p:cNvSpPr txBox="1"/>
            <p:nvPr/>
          </p:nvSpPr>
          <p:spPr>
            <a:xfrm>
              <a:off x="1208889" y="5061243"/>
              <a:ext cx="13422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ja-JP" altLang="en-US" sz="2800" dirty="0"/>
                <a:t>Ｄｄｄ</a:t>
              </a:r>
              <a:endParaRPr lang="en-US" altLang="ja-JP" sz="2800" dirty="0"/>
            </a:p>
          </p:txBody>
        </p:sp>
        <p:sp>
          <p:nvSpPr>
            <p:cNvPr id="128" name="矢印: 右 127">
              <a:extLst>
                <a:ext uri="{FF2B5EF4-FFF2-40B4-BE49-F238E27FC236}">
                  <a16:creationId xmlns:a16="http://schemas.microsoft.com/office/drawing/2014/main" id="{729A978B-E61F-AB97-A453-76666D6D098B}"/>
                </a:ext>
              </a:extLst>
            </p:cNvPr>
            <p:cNvSpPr/>
            <p:nvPr/>
          </p:nvSpPr>
          <p:spPr>
            <a:xfrm>
              <a:off x="1575011" y="24347121"/>
              <a:ext cx="2108264" cy="585946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9" name="矢印: 右 128">
              <a:extLst>
                <a:ext uri="{FF2B5EF4-FFF2-40B4-BE49-F238E27FC236}">
                  <a16:creationId xmlns:a16="http://schemas.microsoft.com/office/drawing/2014/main" id="{9511B718-5BFA-46B9-BC45-02E528F8FAAF}"/>
                </a:ext>
              </a:extLst>
            </p:cNvPr>
            <p:cNvSpPr/>
            <p:nvPr/>
          </p:nvSpPr>
          <p:spPr>
            <a:xfrm>
              <a:off x="1575011" y="25558285"/>
              <a:ext cx="2108264" cy="585946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矢印: 右 129">
              <a:extLst>
                <a:ext uri="{FF2B5EF4-FFF2-40B4-BE49-F238E27FC236}">
                  <a16:creationId xmlns:a16="http://schemas.microsoft.com/office/drawing/2014/main" id="{DFA1B475-436B-8122-664E-E0BC4D97CCE7}"/>
                </a:ext>
              </a:extLst>
            </p:cNvPr>
            <p:cNvSpPr/>
            <p:nvPr/>
          </p:nvSpPr>
          <p:spPr>
            <a:xfrm>
              <a:off x="11367683" y="25043172"/>
              <a:ext cx="2108264" cy="585946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テキスト ボックス 130">
              <a:extLst>
                <a:ext uri="{FF2B5EF4-FFF2-40B4-BE49-F238E27FC236}">
                  <a16:creationId xmlns:a16="http://schemas.microsoft.com/office/drawing/2014/main" id="{0174D66B-CB98-49AA-1898-1B2ED42E3FF9}"/>
                </a:ext>
              </a:extLst>
            </p:cNvPr>
            <p:cNvSpPr txBox="1"/>
            <p:nvPr/>
          </p:nvSpPr>
          <p:spPr>
            <a:xfrm>
              <a:off x="7555005" y="24582610"/>
              <a:ext cx="20125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/>
                <a:t>Control actions</a:t>
              </a:r>
              <a:endParaRPr kumimoji="1" lang="ja-JP" altLang="en-US" sz="2000" dirty="0"/>
            </a:p>
          </p:txBody>
        </p:sp>
        <p:sp>
          <p:nvSpPr>
            <p:cNvPr id="132" name="テキスト ボックス 131">
              <a:extLst>
                <a:ext uri="{FF2B5EF4-FFF2-40B4-BE49-F238E27FC236}">
                  <a16:creationId xmlns:a16="http://schemas.microsoft.com/office/drawing/2014/main" id="{E2725129-E299-149D-0E24-5B8441914B1F}"/>
                </a:ext>
              </a:extLst>
            </p:cNvPr>
            <p:cNvSpPr txBox="1"/>
            <p:nvPr/>
          </p:nvSpPr>
          <p:spPr>
            <a:xfrm>
              <a:off x="5429443" y="26510619"/>
              <a:ext cx="20125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/>
                <a:t>Predictions</a:t>
              </a:r>
              <a:endParaRPr kumimoji="1" lang="ja-JP" altLang="en-US" sz="2000" dirty="0"/>
            </a:p>
          </p:txBody>
        </p:sp>
        <p:sp>
          <p:nvSpPr>
            <p:cNvPr id="133" name="テキスト ボックス 132">
              <a:extLst>
                <a:ext uri="{FF2B5EF4-FFF2-40B4-BE49-F238E27FC236}">
                  <a16:creationId xmlns:a16="http://schemas.microsoft.com/office/drawing/2014/main" id="{1EDD2A3E-D156-23F5-8C44-15576AF9F8FB}"/>
                </a:ext>
              </a:extLst>
            </p:cNvPr>
            <p:cNvSpPr txBox="1"/>
            <p:nvPr/>
          </p:nvSpPr>
          <p:spPr>
            <a:xfrm>
              <a:off x="936857" y="25140316"/>
              <a:ext cx="32613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Measured Glucose</a:t>
              </a:r>
              <a:endParaRPr kumimoji="1" lang="ja-JP" altLang="en-US" sz="2400" dirty="0"/>
            </a:p>
          </p:txBody>
        </p: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A73AA966-75D5-9D60-B26A-C2798AB2C566}"/>
                </a:ext>
              </a:extLst>
            </p:cNvPr>
            <p:cNvSpPr txBox="1"/>
            <p:nvPr/>
          </p:nvSpPr>
          <p:spPr>
            <a:xfrm>
              <a:off x="936857" y="23932855"/>
              <a:ext cx="26507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Input data</a:t>
              </a:r>
              <a:endParaRPr kumimoji="1" lang="ja-JP" altLang="en-US" sz="2400" dirty="0"/>
            </a:p>
          </p:txBody>
        </p:sp>
        <p:sp>
          <p:nvSpPr>
            <p:cNvPr id="135" name="矢印: 上向き折線 134">
              <a:extLst>
                <a:ext uri="{FF2B5EF4-FFF2-40B4-BE49-F238E27FC236}">
                  <a16:creationId xmlns:a16="http://schemas.microsoft.com/office/drawing/2014/main" id="{41CB5C0A-2F7C-8EB6-B37D-ED4E7F84F541}"/>
                </a:ext>
              </a:extLst>
            </p:cNvPr>
            <p:cNvSpPr/>
            <p:nvPr/>
          </p:nvSpPr>
          <p:spPr>
            <a:xfrm rot="10800000" flipH="1" flipV="1">
              <a:off x="5809221" y="27139780"/>
              <a:ext cx="1884319" cy="892580"/>
            </a:xfrm>
            <a:prstGeom prst="bentUpArrow">
              <a:avLst>
                <a:gd name="adj1" fmla="val 23158"/>
                <a:gd name="adj2" fmla="val 28758"/>
                <a:gd name="adj3" fmla="val 27134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6" name="テキスト ボックス 135">
              <a:extLst>
                <a:ext uri="{FF2B5EF4-FFF2-40B4-BE49-F238E27FC236}">
                  <a16:creationId xmlns:a16="http://schemas.microsoft.com/office/drawing/2014/main" id="{8C2D46F4-35BF-6299-C197-71DD676E92FA}"/>
                </a:ext>
              </a:extLst>
            </p:cNvPr>
            <p:cNvSpPr txBox="1"/>
            <p:nvPr/>
          </p:nvSpPr>
          <p:spPr>
            <a:xfrm>
              <a:off x="4362060" y="27411784"/>
              <a:ext cx="26507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dirty="0"/>
                <a:t>Meal Announce</a:t>
              </a:r>
              <a:endParaRPr kumimoji="1" lang="ja-JP" altLang="en-US" sz="2400" dirty="0"/>
            </a:p>
          </p:txBody>
        </p:sp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11E38903-A6DD-A7A8-2DED-B3E91A8B1849}"/>
                </a:ext>
              </a:extLst>
            </p:cNvPr>
            <p:cNvSpPr txBox="1"/>
            <p:nvPr/>
          </p:nvSpPr>
          <p:spPr>
            <a:xfrm>
              <a:off x="11980186" y="24609834"/>
              <a:ext cx="26507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Input data</a:t>
              </a:r>
              <a:endParaRPr kumimoji="1" lang="ja-JP" altLang="en-US" sz="2400" dirty="0"/>
            </a:p>
          </p:txBody>
        </p:sp>
      </p:grpSp>
      <p:grpSp>
        <p:nvGrpSpPr>
          <p:cNvPr id="143" name="グループ化 142">
            <a:extLst>
              <a:ext uri="{FF2B5EF4-FFF2-40B4-BE49-F238E27FC236}">
                <a16:creationId xmlns:a16="http://schemas.microsoft.com/office/drawing/2014/main" id="{9EB47A20-ED7A-C634-D467-9AA1D4A9FF22}"/>
              </a:ext>
            </a:extLst>
          </p:cNvPr>
          <p:cNvGrpSpPr/>
          <p:nvPr/>
        </p:nvGrpSpPr>
        <p:grpSpPr>
          <a:xfrm>
            <a:off x="15339739" y="13642300"/>
            <a:ext cx="14391696" cy="23345004"/>
            <a:chOff x="15520121" y="11074043"/>
            <a:chExt cx="13929212" cy="23080861"/>
          </a:xfrm>
        </p:grpSpPr>
        <p:sp>
          <p:nvSpPr>
            <p:cNvPr id="144" name="正方形/長方形 143">
              <a:extLst>
                <a:ext uri="{FF2B5EF4-FFF2-40B4-BE49-F238E27FC236}">
                  <a16:creationId xmlns:a16="http://schemas.microsoft.com/office/drawing/2014/main" id="{A6D07511-C71D-3B75-FCDA-3CF414C8336B}"/>
                </a:ext>
              </a:extLst>
            </p:cNvPr>
            <p:cNvSpPr/>
            <p:nvPr/>
          </p:nvSpPr>
          <p:spPr>
            <a:xfrm>
              <a:off x="15520121" y="11074043"/>
              <a:ext cx="13929212" cy="23080861"/>
            </a:xfrm>
            <a:prstGeom prst="rect">
              <a:avLst/>
            </a:prstGeom>
            <a:solidFill>
              <a:schemeClr val="bg1"/>
            </a:solidFill>
            <a:ln w="127000">
              <a:solidFill>
                <a:schemeClr val="tx2"/>
              </a:solidFill>
              <a:extLst>
                <a:ext uri="{C807C97D-BFC1-408E-A445-0C87EB9F89A2}">
                  <ask:lineSketchStyleProps xmlns:ask="http://schemas.microsoft.com/office/drawing/2018/sketchyshapes" sd="981765707">
                    <a:custGeom>
                      <a:avLst/>
                      <a:gdLst>
                        <a:gd name="connsiteX0" fmla="*/ 0 w 27965400"/>
                        <a:gd name="connsiteY0" fmla="*/ 0 h 5715000"/>
                        <a:gd name="connsiteX1" fmla="*/ 27965400 w 27965400"/>
                        <a:gd name="connsiteY1" fmla="*/ 0 h 5715000"/>
                        <a:gd name="connsiteX2" fmla="*/ 27965400 w 27965400"/>
                        <a:gd name="connsiteY2" fmla="*/ 5715000 h 5715000"/>
                        <a:gd name="connsiteX3" fmla="*/ 0 w 27965400"/>
                        <a:gd name="connsiteY3" fmla="*/ 5715000 h 5715000"/>
                        <a:gd name="connsiteX4" fmla="*/ 0 w 27965400"/>
                        <a:gd name="connsiteY4" fmla="*/ 0 h 5715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7965400" h="5715000" fill="none" extrusionOk="0">
                          <a:moveTo>
                            <a:pt x="0" y="0"/>
                          </a:moveTo>
                          <a:cubicBezTo>
                            <a:pt x="12822961" y="-33775"/>
                            <a:pt x="23266028" y="138873"/>
                            <a:pt x="27965400" y="0"/>
                          </a:cubicBezTo>
                          <a:cubicBezTo>
                            <a:pt x="27891629" y="1430944"/>
                            <a:pt x="27809517" y="3154282"/>
                            <a:pt x="27965400" y="5715000"/>
                          </a:cubicBezTo>
                          <a:cubicBezTo>
                            <a:pt x="16913084" y="5577670"/>
                            <a:pt x="9222407" y="5577144"/>
                            <a:pt x="0" y="5715000"/>
                          </a:cubicBezTo>
                          <a:cubicBezTo>
                            <a:pt x="152408" y="3190664"/>
                            <a:pt x="73868" y="1414017"/>
                            <a:pt x="0" y="0"/>
                          </a:cubicBezTo>
                          <a:close/>
                        </a:path>
                        <a:path w="27965400" h="5715000" stroke="0" extrusionOk="0">
                          <a:moveTo>
                            <a:pt x="0" y="0"/>
                          </a:moveTo>
                          <a:cubicBezTo>
                            <a:pt x="6780586" y="-101487"/>
                            <a:pt x="18516925" y="-162162"/>
                            <a:pt x="27965400" y="0"/>
                          </a:cubicBezTo>
                          <a:cubicBezTo>
                            <a:pt x="28026113" y="2805299"/>
                            <a:pt x="27904328" y="3460224"/>
                            <a:pt x="27965400" y="5715000"/>
                          </a:cubicBezTo>
                          <a:cubicBezTo>
                            <a:pt x="19875670" y="5765065"/>
                            <a:pt x="9433509" y="5556551"/>
                            <a:pt x="0" y="5715000"/>
                          </a:cubicBezTo>
                          <a:cubicBezTo>
                            <a:pt x="-24452" y="3845266"/>
                            <a:pt x="-67663" y="249061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5" name="テキスト ボックス 144">
              <a:extLst>
                <a:ext uri="{FF2B5EF4-FFF2-40B4-BE49-F238E27FC236}">
                  <a16:creationId xmlns:a16="http://schemas.microsoft.com/office/drawing/2014/main" id="{049A6EE4-5433-993E-12A7-641868EDB83C}"/>
                </a:ext>
              </a:extLst>
            </p:cNvPr>
            <p:cNvSpPr txBox="1">
              <a:spLocks/>
            </p:cNvSpPr>
            <p:nvPr/>
          </p:nvSpPr>
          <p:spPr>
            <a:xfrm>
              <a:off x="15868805" y="11384541"/>
              <a:ext cx="214918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5400" b="1" dirty="0">
                  <a:solidFill>
                    <a:schemeClr val="tx2">
                      <a:lumMod val="90000"/>
                      <a:lumOff val="1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結果</a:t>
              </a:r>
              <a:endPara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pic>
          <p:nvPicPr>
            <p:cNvPr id="146" name="図 145">
              <a:extLst>
                <a:ext uri="{FF2B5EF4-FFF2-40B4-BE49-F238E27FC236}">
                  <a16:creationId xmlns:a16="http://schemas.microsoft.com/office/drawing/2014/main" id="{AB07F6D9-39D3-FA8E-71B3-B0AF86981F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6033015" y="15368494"/>
              <a:ext cx="12758249" cy="6903435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47" name="図 146">
              <a:extLst>
                <a:ext uri="{FF2B5EF4-FFF2-40B4-BE49-F238E27FC236}">
                  <a16:creationId xmlns:a16="http://schemas.microsoft.com/office/drawing/2014/main" id="{C125D1E3-F41A-E8CE-D01B-E7A474CEF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5956876" y="24653632"/>
              <a:ext cx="12910526" cy="6916987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148" name="テキスト ボックス 147">
              <a:extLst>
                <a:ext uri="{FF2B5EF4-FFF2-40B4-BE49-F238E27FC236}">
                  <a16:creationId xmlns:a16="http://schemas.microsoft.com/office/drawing/2014/main" id="{0A3CECDF-A0B4-6F5C-FAB0-E131380D7146}"/>
                </a:ext>
              </a:extLst>
            </p:cNvPr>
            <p:cNvSpPr txBox="1"/>
            <p:nvPr/>
          </p:nvSpPr>
          <p:spPr>
            <a:xfrm>
              <a:off x="18430152" y="22422457"/>
              <a:ext cx="8123347" cy="517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オブザーバを用いた場合と血糖値の</a:t>
              </a:r>
              <a:r>
                <a:rPr kumimoji="1" lang="en-US" altLang="ja-JP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endPara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49" name="テキスト ボックス 148">
              <a:extLst>
                <a:ext uri="{FF2B5EF4-FFF2-40B4-BE49-F238E27FC236}">
                  <a16:creationId xmlns:a16="http://schemas.microsoft.com/office/drawing/2014/main" id="{DFF7D2EF-0F0E-E2BA-8F4B-B0472571717C}"/>
                </a:ext>
              </a:extLst>
            </p:cNvPr>
            <p:cNvSpPr txBox="1"/>
            <p:nvPr/>
          </p:nvSpPr>
          <p:spPr>
            <a:xfrm>
              <a:off x="19042332" y="31817695"/>
              <a:ext cx="6898987" cy="517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EKF</a:t>
              </a:r>
              <a:r>
                <a:rPr kumimoji="1" lang="ja-JP" altLang="en-US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を用いた場合の血糖値の</a:t>
              </a:r>
              <a:r>
                <a:rPr kumimoji="1" lang="en-US" altLang="ja-JP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endPara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pic>
          <p:nvPicPr>
            <p:cNvPr id="150" name="図 149">
              <a:extLst>
                <a:ext uri="{FF2B5EF4-FFF2-40B4-BE49-F238E27FC236}">
                  <a16:creationId xmlns:a16="http://schemas.microsoft.com/office/drawing/2014/main" id="{0954C07B-EE93-3A98-A147-7AA2DDCB1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6040110" y="22901166"/>
              <a:ext cx="12903430" cy="1404000"/>
            </a:xfrm>
            <a:prstGeom prst="rect">
              <a:avLst/>
            </a:prstGeom>
          </p:spPr>
        </p:pic>
        <p:pic>
          <p:nvPicPr>
            <p:cNvPr id="151" name="図 150">
              <a:extLst>
                <a:ext uri="{FF2B5EF4-FFF2-40B4-BE49-F238E27FC236}">
                  <a16:creationId xmlns:a16="http://schemas.microsoft.com/office/drawing/2014/main" id="{33A1CB24-A8F2-FEA5-5713-089EB1AE56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6040115" y="32404453"/>
              <a:ext cx="12903426" cy="1404000"/>
            </a:xfrm>
            <a:prstGeom prst="rect">
              <a:avLst/>
            </a:prstGeom>
          </p:spPr>
        </p:pic>
        <p:sp>
          <p:nvSpPr>
            <p:cNvPr id="152" name="テキスト ボックス 151">
              <a:extLst>
                <a:ext uri="{FF2B5EF4-FFF2-40B4-BE49-F238E27FC236}">
                  <a16:creationId xmlns:a16="http://schemas.microsoft.com/office/drawing/2014/main" id="{AF4C8F1B-4B1B-EBCF-367A-ECD9617743B1}"/>
                </a:ext>
              </a:extLst>
            </p:cNvPr>
            <p:cNvSpPr txBox="1"/>
            <p:nvPr/>
          </p:nvSpPr>
          <p:spPr>
            <a:xfrm>
              <a:off x="15934442" y="12519250"/>
              <a:ext cx="300222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6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状態推定実験</a:t>
              </a:r>
            </a:p>
          </p:txBody>
        </p:sp>
        <p:cxnSp>
          <p:nvCxnSpPr>
            <p:cNvPr id="153" name="直線コネクタ 152">
              <a:extLst>
                <a:ext uri="{FF2B5EF4-FFF2-40B4-BE49-F238E27FC236}">
                  <a16:creationId xmlns:a16="http://schemas.microsoft.com/office/drawing/2014/main" id="{F6F79DF9-DD2A-8583-2018-5C7325E661D6}"/>
                </a:ext>
              </a:extLst>
            </p:cNvPr>
            <p:cNvCxnSpPr>
              <a:cxnSpLocks/>
            </p:cNvCxnSpPr>
            <p:nvPr/>
          </p:nvCxnSpPr>
          <p:spPr>
            <a:xfrm>
              <a:off x="15868805" y="12490678"/>
              <a:ext cx="0" cy="2698257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" name="テキスト ボックス 153">
              <a:extLst>
                <a:ext uri="{FF2B5EF4-FFF2-40B4-BE49-F238E27FC236}">
                  <a16:creationId xmlns:a16="http://schemas.microsoft.com/office/drawing/2014/main" id="{4F354D60-74D9-887B-F1A4-50E114B8AD14}"/>
                </a:ext>
              </a:extLst>
            </p:cNvPr>
            <p:cNvSpPr txBox="1"/>
            <p:nvPr/>
          </p:nvSpPr>
          <p:spPr>
            <a:xfrm>
              <a:off x="15934442" y="13150164"/>
              <a:ext cx="12903426" cy="20387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14350" indent="-514350">
                <a:buFont typeface="+mj-lt"/>
                <a:buAutoNum type="arabicPeriod"/>
              </a:pPr>
              <a:r>
                <a:rPr kumimoji="1"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UVA/Padova</a:t>
              </a:r>
              <a:r>
                <a:rPr kumimoji="1"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モデルより</a:t>
              </a:r>
              <a:r>
                <a:rPr kumimoji="1"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日分の仮想的な入出力データ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10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人分を作成</a:t>
              </a:r>
              <a:endPara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ja-JP" altLang="en-US" sz="28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オブザーバ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，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EKF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を用いて状態推定を行う</a:t>
              </a:r>
              <a:endPara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各状態推定結果に対して，推定された血糖値と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UVA/Padova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モデルの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を計算</a:t>
              </a:r>
              <a:endPara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grpSp>
        <p:nvGrpSpPr>
          <p:cNvPr id="422" name="グループ化 421">
            <a:extLst>
              <a:ext uri="{FF2B5EF4-FFF2-40B4-BE49-F238E27FC236}">
                <a16:creationId xmlns:a16="http://schemas.microsoft.com/office/drawing/2014/main" id="{01FCA569-4D6B-07CD-3100-E6EDB6C06257}"/>
              </a:ext>
            </a:extLst>
          </p:cNvPr>
          <p:cNvGrpSpPr/>
          <p:nvPr/>
        </p:nvGrpSpPr>
        <p:grpSpPr>
          <a:xfrm>
            <a:off x="447552" y="28784251"/>
            <a:ext cx="14690054" cy="11866257"/>
            <a:chOff x="500064" y="29271931"/>
            <a:chExt cx="14690054" cy="11866257"/>
          </a:xfrm>
        </p:grpSpPr>
        <p:sp>
          <p:nvSpPr>
            <p:cNvPr id="140" name="正方形/長方形 139">
              <a:extLst>
                <a:ext uri="{FF2B5EF4-FFF2-40B4-BE49-F238E27FC236}">
                  <a16:creationId xmlns:a16="http://schemas.microsoft.com/office/drawing/2014/main" id="{801E7AD4-5689-EA0D-B498-B757469A544C}"/>
                </a:ext>
              </a:extLst>
            </p:cNvPr>
            <p:cNvSpPr>
              <a:spLocks/>
            </p:cNvSpPr>
            <p:nvPr/>
          </p:nvSpPr>
          <p:spPr>
            <a:xfrm>
              <a:off x="500064" y="29271931"/>
              <a:ext cx="14391696" cy="11866257"/>
            </a:xfrm>
            <a:prstGeom prst="rect">
              <a:avLst/>
            </a:prstGeom>
            <a:solidFill>
              <a:schemeClr val="bg1"/>
            </a:solidFill>
            <a:ln w="127000">
              <a:solidFill>
                <a:schemeClr val="tx2"/>
              </a:solidFill>
              <a:extLst>
                <a:ext uri="{C807C97D-BFC1-408E-A445-0C87EB9F89A2}">
                  <ask:lineSketchStyleProps xmlns:ask="http://schemas.microsoft.com/office/drawing/2018/sketchyshapes" sd="981765707">
                    <a:custGeom>
                      <a:avLst/>
                      <a:gdLst>
                        <a:gd name="connsiteX0" fmla="*/ 0 w 27965400"/>
                        <a:gd name="connsiteY0" fmla="*/ 0 h 5715000"/>
                        <a:gd name="connsiteX1" fmla="*/ 27965400 w 27965400"/>
                        <a:gd name="connsiteY1" fmla="*/ 0 h 5715000"/>
                        <a:gd name="connsiteX2" fmla="*/ 27965400 w 27965400"/>
                        <a:gd name="connsiteY2" fmla="*/ 5715000 h 5715000"/>
                        <a:gd name="connsiteX3" fmla="*/ 0 w 27965400"/>
                        <a:gd name="connsiteY3" fmla="*/ 5715000 h 5715000"/>
                        <a:gd name="connsiteX4" fmla="*/ 0 w 27965400"/>
                        <a:gd name="connsiteY4" fmla="*/ 0 h 5715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7965400" h="5715000" fill="none" extrusionOk="0">
                          <a:moveTo>
                            <a:pt x="0" y="0"/>
                          </a:moveTo>
                          <a:cubicBezTo>
                            <a:pt x="12822961" y="-33775"/>
                            <a:pt x="23266028" y="138873"/>
                            <a:pt x="27965400" y="0"/>
                          </a:cubicBezTo>
                          <a:cubicBezTo>
                            <a:pt x="27891629" y="1430944"/>
                            <a:pt x="27809517" y="3154282"/>
                            <a:pt x="27965400" y="5715000"/>
                          </a:cubicBezTo>
                          <a:cubicBezTo>
                            <a:pt x="16913084" y="5577670"/>
                            <a:pt x="9222407" y="5577144"/>
                            <a:pt x="0" y="5715000"/>
                          </a:cubicBezTo>
                          <a:cubicBezTo>
                            <a:pt x="152408" y="3190664"/>
                            <a:pt x="73868" y="1414017"/>
                            <a:pt x="0" y="0"/>
                          </a:cubicBezTo>
                          <a:close/>
                        </a:path>
                        <a:path w="27965400" h="5715000" stroke="0" extrusionOk="0">
                          <a:moveTo>
                            <a:pt x="0" y="0"/>
                          </a:moveTo>
                          <a:cubicBezTo>
                            <a:pt x="6780586" y="-101487"/>
                            <a:pt x="18516925" y="-162162"/>
                            <a:pt x="27965400" y="0"/>
                          </a:cubicBezTo>
                          <a:cubicBezTo>
                            <a:pt x="28026113" y="2805299"/>
                            <a:pt x="27904328" y="3460224"/>
                            <a:pt x="27965400" y="5715000"/>
                          </a:cubicBezTo>
                          <a:cubicBezTo>
                            <a:pt x="19875670" y="5765065"/>
                            <a:pt x="9433509" y="5556551"/>
                            <a:pt x="0" y="5715000"/>
                          </a:cubicBezTo>
                          <a:cubicBezTo>
                            <a:pt x="-24452" y="3845266"/>
                            <a:pt x="-67663" y="249061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57" name="テキスト ボックス 156">
              <a:extLst>
                <a:ext uri="{FF2B5EF4-FFF2-40B4-BE49-F238E27FC236}">
                  <a16:creationId xmlns:a16="http://schemas.microsoft.com/office/drawing/2014/main" id="{88CEAE84-36A8-BBC4-43DA-CE7DEA78A040}"/>
                </a:ext>
              </a:extLst>
            </p:cNvPr>
            <p:cNvSpPr txBox="1"/>
            <p:nvPr/>
          </p:nvSpPr>
          <p:spPr>
            <a:xfrm>
              <a:off x="1218850" y="29828024"/>
              <a:ext cx="520054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4400" b="1" dirty="0">
                  <a:solidFill>
                    <a:schemeClr val="tx2">
                      <a:lumMod val="90000"/>
                      <a:lumOff val="1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パラメータ推定</a:t>
              </a:r>
              <a:endParaRPr lang="ja-JP" altLang="en-US" sz="4400" dirty="0"/>
            </a:p>
          </p:txBody>
        </p:sp>
        <p:grpSp>
          <p:nvGrpSpPr>
            <p:cNvPr id="158" name="グループ化 157">
              <a:extLst>
                <a:ext uri="{FF2B5EF4-FFF2-40B4-BE49-F238E27FC236}">
                  <a16:creationId xmlns:a16="http://schemas.microsoft.com/office/drawing/2014/main" id="{88A061C0-590B-1F34-6CBB-925E335436DA}"/>
                </a:ext>
              </a:extLst>
            </p:cNvPr>
            <p:cNvGrpSpPr/>
            <p:nvPr/>
          </p:nvGrpSpPr>
          <p:grpSpPr>
            <a:xfrm>
              <a:off x="1285837" y="30878281"/>
              <a:ext cx="12190110" cy="2737292"/>
              <a:chOff x="1936556" y="12558136"/>
              <a:chExt cx="12571546" cy="2741630"/>
            </a:xfrm>
          </p:grpSpPr>
          <p:cxnSp>
            <p:nvCxnSpPr>
              <p:cNvPr id="159" name="直線コネクタ 158">
                <a:extLst>
                  <a:ext uri="{FF2B5EF4-FFF2-40B4-BE49-F238E27FC236}">
                    <a16:creationId xmlns:a16="http://schemas.microsoft.com/office/drawing/2014/main" id="{949459D8-2D89-2E19-B0BD-25B8F5BF47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6556" y="12558136"/>
                <a:ext cx="0" cy="2526989"/>
              </a:xfrm>
              <a:prstGeom prst="line">
                <a:avLst/>
              </a:prstGeom>
              <a:ln w="317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0" name="テキスト ボックス 159">
                <a:extLst>
                  <a:ext uri="{FF2B5EF4-FFF2-40B4-BE49-F238E27FC236}">
                    <a16:creationId xmlns:a16="http://schemas.microsoft.com/office/drawing/2014/main" id="{9AC390DD-9DD8-59AC-A61C-16F25CDFFA5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47375" y="12687300"/>
                <a:ext cx="8707878" cy="523220"/>
              </a:xfrm>
              <a:prstGeom prst="rect">
                <a:avLst/>
              </a:prstGeom>
              <a:noFill/>
            </p:spPr>
            <p:txBody>
              <a:bodyPr wrap="square" lIns="90000" rtlCol="0">
                <a:spAutoFit/>
              </a:bodyPr>
              <a:lstStyle/>
              <a:p>
                <a:r>
                  <a:rPr kumimoji="1" lang="en-US" altLang="ja-JP" sz="28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UVA/Padova </a:t>
                </a:r>
                <a:r>
                  <a:rPr kumimoji="1" lang="ja-JP" altLang="en-US" sz="28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モデル</a:t>
                </a:r>
                <a:r>
                  <a:rPr kumimoji="1" lang="en-US" altLang="ja-JP" sz="2800" b="1" baseline="30000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[1][2]</a:t>
                </a:r>
                <a:endParaRPr kumimoji="1" lang="ja-JP" altLang="en-US" sz="2800" b="1" baseline="30000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  <p:sp>
            <p:nvSpPr>
              <p:cNvPr id="161" name="テキスト ボックス 160">
                <a:extLst>
                  <a:ext uri="{FF2B5EF4-FFF2-40B4-BE49-F238E27FC236}">
                    <a16:creationId xmlns:a16="http://schemas.microsoft.com/office/drawing/2014/main" id="{0477AAA7-09FC-3609-CABE-2EEF2F230CE6}"/>
                  </a:ext>
                </a:extLst>
              </p:cNvPr>
              <p:cNvSpPr txBox="1"/>
              <p:nvPr/>
            </p:nvSpPr>
            <p:spPr>
              <a:xfrm>
                <a:off x="2115575" y="13357701"/>
                <a:ext cx="12392527" cy="19420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アメリカ</a:t>
                </a:r>
                <a:r>
                  <a:rPr kumimoji="1"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FDA</a:t>
                </a:r>
                <a:r>
                  <a:rPr kumimoji="1"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が動物実験の代替として承認</a:t>
                </a:r>
                <a:endPara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精密な糖代謝シミュレーション用モデル</a:t>
                </a:r>
                <a:endPara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16</a:t>
                </a:r>
                <a:r>
                  <a:rPr kumimoji="1"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次元の次元状態，約</a:t>
                </a:r>
                <a:r>
                  <a:rPr kumimoji="1"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4</a:t>
                </a:r>
                <a:r>
                  <a:rPr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0</a:t>
                </a:r>
                <a:r>
                  <a:rPr kumimoji="1"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の代謝パラメータ，複数の非線形項を含む</a:t>
                </a:r>
                <a:endPara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パラメータ同定を行うには複雑</a:t>
                </a:r>
                <a:endPara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</p:grpSp>
        <p:grpSp>
          <p:nvGrpSpPr>
            <p:cNvPr id="162" name="グループ化 161">
              <a:extLst>
                <a:ext uri="{FF2B5EF4-FFF2-40B4-BE49-F238E27FC236}">
                  <a16:creationId xmlns:a16="http://schemas.microsoft.com/office/drawing/2014/main" id="{4E30DCD9-EFCD-FC24-6782-26BF7CF47942}"/>
                </a:ext>
              </a:extLst>
            </p:cNvPr>
            <p:cNvGrpSpPr/>
            <p:nvPr/>
          </p:nvGrpSpPr>
          <p:grpSpPr>
            <a:xfrm>
              <a:off x="1250623" y="33757766"/>
              <a:ext cx="13939495" cy="2545254"/>
              <a:chOff x="2047374" y="18738768"/>
              <a:chExt cx="13939495" cy="2545254"/>
            </a:xfrm>
          </p:grpSpPr>
          <p:cxnSp>
            <p:nvCxnSpPr>
              <p:cNvPr id="163" name="直線コネクタ 162">
                <a:extLst>
                  <a:ext uri="{FF2B5EF4-FFF2-40B4-BE49-F238E27FC236}">
                    <a16:creationId xmlns:a16="http://schemas.microsoft.com/office/drawing/2014/main" id="{20F2B68A-1F6B-27F0-FCAA-E426866733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7374" y="18738768"/>
                <a:ext cx="0" cy="1917666"/>
              </a:xfrm>
              <a:prstGeom prst="line">
                <a:avLst/>
              </a:prstGeom>
              <a:ln w="317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4" name="テキスト ボックス 163">
                <a:extLst>
                  <a:ext uri="{FF2B5EF4-FFF2-40B4-BE49-F238E27FC236}">
                    <a16:creationId xmlns:a16="http://schemas.microsoft.com/office/drawing/2014/main" id="{8A78771E-4FA8-FEDE-6AB7-E9A473EC2258}"/>
                  </a:ext>
                </a:extLst>
              </p:cNvPr>
              <p:cNvSpPr txBox="1"/>
              <p:nvPr/>
            </p:nvSpPr>
            <p:spPr>
              <a:xfrm>
                <a:off x="2047374" y="18738768"/>
                <a:ext cx="1393949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8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SSOGMM</a:t>
                </a:r>
                <a:r>
                  <a:rPr lang="en-US" altLang="ja-JP" sz="3200" b="1" baseline="30000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[3] </a:t>
                </a:r>
                <a:r>
                  <a:rPr lang="en-US" altLang="ja-JP" sz="28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(</a:t>
                </a:r>
                <a:r>
                  <a:rPr lang="en-US" altLang="ja-JP" sz="20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Switched Subcutaneous Oral Glucose Minimal Mode</a:t>
                </a:r>
                <a:r>
                  <a:rPr lang="en-US" altLang="ja-JP" sz="24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l</a:t>
                </a:r>
                <a:r>
                  <a:rPr lang="en-US" altLang="ja-JP" sz="2800" b="1" dirty="0">
                    <a:solidFill>
                      <a:schemeClr val="tx2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)</a:t>
                </a:r>
                <a:endParaRPr kumimoji="1" lang="ja-JP" altLang="en-US" sz="32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  <p:sp>
            <p:nvSpPr>
              <p:cNvPr id="165" name="テキスト ボックス 164">
                <a:extLst>
                  <a:ext uri="{FF2B5EF4-FFF2-40B4-BE49-F238E27FC236}">
                    <a16:creationId xmlns:a16="http://schemas.microsoft.com/office/drawing/2014/main" id="{E8480295-0535-0B7D-A658-FB7D7F18B0DD}"/>
                  </a:ext>
                </a:extLst>
              </p:cNvPr>
              <p:cNvSpPr txBox="1"/>
              <p:nvPr/>
            </p:nvSpPr>
            <p:spPr>
              <a:xfrm>
                <a:off x="2102905" y="19283474"/>
                <a:ext cx="12392526" cy="20005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SOGMM</a:t>
                </a:r>
                <a:r>
                  <a:rPr kumimoji="1" lang="en-US" altLang="ja-JP" sz="2400" baseline="300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[4]</a:t>
                </a:r>
                <a:r>
                  <a:rPr lang="en-US" altLang="ja-JP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(Subcutaneous Oral Glucose Minimal Model)</a:t>
                </a:r>
                <a:r>
                  <a:rPr lang="ja-JP" altLang="en-US" sz="24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の消化吸収式に線形切り替えシステムを追加した制御志向モデル．</a:t>
                </a:r>
                <a:endParaRPr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ja-JP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7</a:t>
                </a:r>
                <a:r>
                  <a:rPr lang="ja-JP" altLang="en-US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次元の状態次元，</a:t>
                </a:r>
                <a:r>
                  <a:rPr lang="en-US" altLang="ja-JP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12</a:t>
                </a:r>
                <a:r>
                  <a:rPr lang="ja-JP" altLang="en-US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の代謝パラメータ．</a:t>
                </a:r>
                <a:r>
                  <a:rPr lang="en-US" altLang="ja-JP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2</a:t>
                </a:r>
                <a:r>
                  <a:rPr lang="ja-JP" altLang="en-US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つの非線形項（</a:t>
                </a:r>
                <a:r>
                  <a:rPr lang="ja-JP" altLang="en-US" sz="2400" b="1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双線形＋</a:t>
                </a:r>
                <a:r>
                  <a:rPr lang="ja-JP" altLang="en-US" sz="2400" b="1" dirty="0">
                    <a:solidFill>
                      <a:srgbClr val="C00000"/>
                    </a:solidFill>
                    <a:latin typeface="Meiryo" panose="020B0604030504040204" pitchFamily="34" charset="-128"/>
                    <a:ea typeface="Meiryo" panose="020B0604030504040204" pitchFamily="34" charset="-128"/>
                  </a:rPr>
                  <a:t>切り換え項</a:t>
                </a:r>
                <a:r>
                  <a:rPr lang="ja-JP" altLang="en-US" sz="2400" dirty="0">
                    <a:latin typeface="Meiryo" panose="020B0604030504040204" pitchFamily="34" charset="-128"/>
                    <a:ea typeface="Meiryo" panose="020B0604030504040204" pitchFamily="34" charset="-128"/>
                  </a:rPr>
                  <a:t>）を含む．</a:t>
                </a:r>
              </a:p>
              <a:p>
                <a:endParaRPr kumimoji="1" lang="ja-JP" altLang="en-US" sz="28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</p:grpSp>
        <p:pic>
          <p:nvPicPr>
            <p:cNvPr id="166" name="図 165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44004604-FCB2-CC88-2E01-85BF231085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583958" y="36212419"/>
              <a:ext cx="7002397" cy="1759820"/>
            </a:xfrm>
            <a:prstGeom prst="rect">
              <a:avLst/>
            </a:prstGeom>
          </p:spPr>
        </p:pic>
        <p:grpSp>
          <p:nvGrpSpPr>
            <p:cNvPr id="384" name="グループ化 383">
              <a:extLst>
                <a:ext uri="{FF2B5EF4-FFF2-40B4-BE49-F238E27FC236}">
                  <a16:creationId xmlns:a16="http://schemas.microsoft.com/office/drawing/2014/main" id="{31A3B04D-4EF0-87DE-1781-CC96CC426AEE}"/>
                </a:ext>
              </a:extLst>
            </p:cNvPr>
            <p:cNvGrpSpPr/>
            <p:nvPr/>
          </p:nvGrpSpPr>
          <p:grpSpPr>
            <a:xfrm>
              <a:off x="1250623" y="38909944"/>
              <a:ext cx="12073818" cy="1700033"/>
              <a:chOff x="13398362" y="9226670"/>
              <a:chExt cx="12073818" cy="1700033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1" name="TextBox 405">
                    <a:extLst>
                      <a:ext uri="{FF2B5EF4-FFF2-40B4-BE49-F238E27FC236}">
                        <a16:creationId xmlns:a16="http://schemas.microsoft.com/office/drawing/2014/main" id="{2749136B-1F37-E25E-6F7B-F3554640BDF1}"/>
                      </a:ext>
                    </a:extLst>
                  </p:cNvPr>
                  <p:cNvSpPr txBox="1"/>
                  <p:nvPr/>
                </p:nvSpPr>
                <p:spPr>
                  <a:xfrm>
                    <a:off x="13475947" y="9551070"/>
                    <a:ext cx="11996233" cy="13756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if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𝑆𝑥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ja-JP" altLang="en-US" sz="2800" b="0" i="1" smtClean="0">
                                      <a:latin typeface="Cambria Math" panose="02040503050406030204" pitchFamily="18" charset="0"/>
                                    </a:rPr>
                                    <m:t>　</m:t>
                                  </m:r>
                                  <m:r>
                                    <a:rPr lang="en-US" altLang="ja-JP" sz="28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ja-JP" sz="2800" b="0" i="0" smtClean="0">
                                      <a:latin typeface="Cambria Math" panose="02040503050406030204" pitchFamily="18" charset="0"/>
                                    </a:rPr>
                                    <m:t>mode</m:t>
                                  </m:r>
                                  <m:r>
                                    <a:rPr lang="en-US" altLang="ja-JP" sz="2800" b="0" i="1" smtClean="0">
                                      <a:latin typeface="Cambria Math" panose="02040503050406030204" pitchFamily="18" charset="0"/>
                                    </a:rPr>
                                    <m:t> 0)</m:t>
                                  </m:r>
                                </m:e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otherwise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,                                   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mode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1)</m:t>
                                  </m:r>
                                </m:e>
                              </m:eqArr>
                            </m:e>
                          </m:d>
                        </m:oMath>
                      </m:oMathPara>
                    </a14:m>
                    <a:endParaRPr lang="en-JP" sz="2800" dirty="0"/>
                  </a:p>
                </p:txBody>
              </p:sp>
            </mc:Choice>
            <mc:Fallback>
              <p:sp>
                <p:nvSpPr>
                  <p:cNvPr id="381" name="TextBox 405">
                    <a:extLst>
                      <a:ext uri="{FF2B5EF4-FFF2-40B4-BE49-F238E27FC236}">
                        <a16:creationId xmlns:a16="http://schemas.microsoft.com/office/drawing/2014/main" id="{2749136B-1F37-E25E-6F7B-F3554640BD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75947" y="9551070"/>
                    <a:ext cx="11996233" cy="1375633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2" name="Double Bracket 1141">
                <a:extLst>
                  <a:ext uri="{FF2B5EF4-FFF2-40B4-BE49-F238E27FC236}">
                    <a16:creationId xmlns:a16="http://schemas.microsoft.com/office/drawing/2014/main" id="{CE95B1C2-3164-E981-E97F-4FF12FE5D2BF}"/>
                  </a:ext>
                </a:extLst>
              </p:cNvPr>
              <p:cNvSpPr/>
              <p:nvPr/>
            </p:nvSpPr>
            <p:spPr>
              <a:xfrm>
                <a:off x="13398362" y="9270394"/>
                <a:ext cx="12073818" cy="1585542"/>
              </a:xfrm>
              <a:prstGeom prst="bracketPair">
                <a:avLst>
                  <a:gd name="adj" fmla="val 5963"/>
                </a:avLst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p:sp>
            <p:nvSpPr>
              <p:cNvPr id="383" name="TextBox 1150">
                <a:extLst>
                  <a:ext uri="{FF2B5EF4-FFF2-40B4-BE49-F238E27FC236}">
                    <a16:creationId xmlns:a16="http://schemas.microsoft.com/office/drawing/2014/main" id="{9763EF74-F655-4819-F4CB-311D443A26B5}"/>
                  </a:ext>
                </a:extLst>
              </p:cNvPr>
              <p:cNvSpPr txBox="1"/>
              <p:nvPr/>
            </p:nvSpPr>
            <p:spPr>
              <a:xfrm>
                <a:off x="13521185" y="9226670"/>
                <a:ext cx="301927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/>
                  <a:t>SSOGMMの状態方程式</a:t>
                </a:r>
              </a:p>
            </p:txBody>
          </p:sp>
        </p:grpSp>
        <p:grpSp>
          <p:nvGrpSpPr>
            <p:cNvPr id="388" name="グループ化 387">
              <a:extLst>
                <a:ext uri="{FF2B5EF4-FFF2-40B4-BE49-F238E27FC236}">
                  <a16:creationId xmlns:a16="http://schemas.microsoft.com/office/drawing/2014/main" id="{1E5CD33E-63AA-C2EF-C9A3-E692F6F27139}"/>
                </a:ext>
              </a:extLst>
            </p:cNvPr>
            <p:cNvGrpSpPr/>
            <p:nvPr/>
          </p:nvGrpSpPr>
          <p:grpSpPr>
            <a:xfrm>
              <a:off x="7555005" y="36086863"/>
              <a:ext cx="6800954" cy="1939314"/>
              <a:chOff x="2867114" y="2676606"/>
              <a:chExt cx="6800954" cy="1939314"/>
            </a:xfrm>
          </p:grpSpPr>
          <p:sp>
            <p:nvSpPr>
              <p:cNvPr id="389" name="正方形/長方形 388">
                <a:extLst>
                  <a:ext uri="{FF2B5EF4-FFF2-40B4-BE49-F238E27FC236}">
                    <a16:creationId xmlns:a16="http://schemas.microsoft.com/office/drawing/2014/main" id="{6A80462A-EDAC-473E-0EF9-D2BF5696D820}"/>
                  </a:ext>
                </a:extLst>
              </p:cNvPr>
              <p:cNvSpPr/>
              <p:nvPr/>
            </p:nvSpPr>
            <p:spPr>
              <a:xfrm>
                <a:off x="3968160" y="2676606"/>
                <a:ext cx="2027641" cy="810862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Gastrointestinal</a:t>
                </a:r>
              </a:p>
              <a:p>
                <a:pPr algn="ctr"/>
                <a:r>
                  <a:rPr lang="en-US" altLang="ja-JP" sz="1400" b="1" dirty="0" err="1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submodel</a:t>
                </a:r>
                <a:endPara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1400" b="1" dirty="0">
                    <a:solidFill>
                      <a:srgbClr val="FF0000"/>
                    </a:solidFill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switched system</a:t>
                </a:r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)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390" name="正方形/長方形 389">
                <a:extLst>
                  <a:ext uri="{FF2B5EF4-FFF2-40B4-BE49-F238E27FC236}">
                    <a16:creationId xmlns:a16="http://schemas.microsoft.com/office/drawing/2014/main" id="{7978BD76-BA42-DE24-D8D2-B32210772E3B}"/>
                  </a:ext>
                </a:extLst>
              </p:cNvPr>
              <p:cNvSpPr/>
              <p:nvPr/>
            </p:nvSpPr>
            <p:spPr>
              <a:xfrm>
                <a:off x="3968160" y="3805058"/>
                <a:ext cx="2027641" cy="810862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Subcutaneous</a:t>
                </a:r>
              </a:p>
              <a:p>
                <a:pPr algn="ctr"/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Insulin</a:t>
                </a:r>
              </a:p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Kinetic </a:t>
                </a:r>
                <a:r>
                  <a:rPr kumimoji="1" lang="en-US" altLang="ja-JP" sz="1400" b="1" dirty="0" err="1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submodel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391" name="正方形/長方形 390">
                <a:extLst>
                  <a:ext uri="{FF2B5EF4-FFF2-40B4-BE49-F238E27FC236}">
                    <a16:creationId xmlns:a16="http://schemas.microsoft.com/office/drawing/2014/main" id="{72998592-CDE8-AB5C-0995-13AE18CEF380}"/>
                  </a:ext>
                </a:extLst>
              </p:cNvPr>
              <p:cNvSpPr/>
              <p:nvPr/>
            </p:nvSpPr>
            <p:spPr>
              <a:xfrm>
                <a:off x="7009621" y="3143369"/>
                <a:ext cx="2027641" cy="1017019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Core </a:t>
                </a:r>
                <a:r>
                  <a:rPr kumimoji="1" lang="en-US" altLang="ja-JP" sz="1400" b="1" dirty="0" err="1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submodel</a:t>
                </a:r>
                <a:endPara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(Bergman model)</a:t>
                </a:r>
                <a:endParaRPr kumimoji="1" lang="ja-JP" altLang="en-US" sz="1400" b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p:cxnSp>
            <p:nvCxnSpPr>
              <p:cNvPr id="392" name="直線矢印コネクタ 391">
                <a:extLst>
                  <a:ext uri="{FF2B5EF4-FFF2-40B4-BE49-F238E27FC236}">
                    <a16:creationId xmlns:a16="http://schemas.microsoft.com/office/drawing/2014/main" id="{6E84F9EE-3F86-62F0-7EEA-0A63287A86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67668" y="3082037"/>
                <a:ext cx="600492" cy="0"/>
              </a:xfrm>
              <a:prstGeom prst="straightConnector1">
                <a:avLst/>
              </a:prstGeom>
              <a:ln>
                <a:round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3" name="テキスト ボックス 392">
                    <a:extLst>
                      <a:ext uri="{FF2B5EF4-FFF2-40B4-BE49-F238E27FC236}">
                        <a16:creationId xmlns:a16="http://schemas.microsoft.com/office/drawing/2014/main" id="{92A819E0-6A1D-A303-89DE-CCFFE04A6A5C}"/>
                      </a:ext>
                    </a:extLst>
                  </p:cNvPr>
                  <p:cNvSpPr txBox="1"/>
                  <p:nvPr/>
                </p:nvSpPr>
                <p:spPr>
                  <a:xfrm>
                    <a:off x="2867114" y="2676606"/>
                    <a:ext cx="909809" cy="51137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𝑚𝑒𝑎𝑙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93" name="テキスト ボックス 392">
                    <a:extLst>
                      <a:ext uri="{FF2B5EF4-FFF2-40B4-BE49-F238E27FC236}">
                        <a16:creationId xmlns:a16="http://schemas.microsoft.com/office/drawing/2014/main" id="{92A819E0-6A1D-A303-89DE-CCFFE04A6A5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7114" y="2676606"/>
                    <a:ext cx="909809" cy="51137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4" name="テキスト ボックス 393">
                    <a:extLst>
                      <a:ext uri="{FF2B5EF4-FFF2-40B4-BE49-F238E27FC236}">
                        <a16:creationId xmlns:a16="http://schemas.microsoft.com/office/drawing/2014/main" id="{ECAD4B03-64EB-A164-0675-7C90F0BBFAAA}"/>
                      </a:ext>
                    </a:extLst>
                  </p:cNvPr>
                  <p:cNvSpPr txBox="1"/>
                  <p:nvPr/>
                </p:nvSpPr>
                <p:spPr>
                  <a:xfrm>
                    <a:off x="6251256" y="2945434"/>
                    <a:ext cx="574942" cy="51137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94" name="テキスト ボックス 393">
                    <a:extLst>
                      <a:ext uri="{FF2B5EF4-FFF2-40B4-BE49-F238E27FC236}">
                        <a16:creationId xmlns:a16="http://schemas.microsoft.com/office/drawing/2014/main" id="{ECAD4B03-64EB-A164-0675-7C90F0BBFA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51256" y="2945434"/>
                    <a:ext cx="574942" cy="51137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5" name="テキスト ボックス 394">
                    <a:extLst>
                      <a:ext uri="{FF2B5EF4-FFF2-40B4-BE49-F238E27FC236}">
                        <a16:creationId xmlns:a16="http://schemas.microsoft.com/office/drawing/2014/main" id="{BBE6FC6D-336A-70EC-BC77-00D107F5029B}"/>
                      </a:ext>
                    </a:extLst>
                  </p:cNvPr>
                  <p:cNvSpPr txBox="1"/>
                  <p:nvPr/>
                </p:nvSpPr>
                <p:spPr>
                  <a:xfrm>
                    <a:off x="6366802" y="3959438"/>
                    <a:ext cx="387364" cy="51137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95" name="テキスト ボックス 394">
                    <a:extLst>
                      <a:ext uri="{FF2B5EF4-FFF2-40B4-BE49-F238E27FC236}">
                        <a16:creationId xmlns:a16="http://schemas.microsoft.com/office/drawing/2014/main" id="{BBE6FC6D-336A-70EC-BC77-00D107F502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66802" y="3959438"/>
                    <a:ext cx="387364" cy="51137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6" name="テキスト ボックス 395">
                    <a:extLst>
                      <a:ext uri="{FF2B5EF4-FFF2-40B4-BE49-F238E27FC236}">
                        <a16:creationId xmlns:a16="http://schemas.microsoft.com/office/drawing/2014/main" id="{4F5F00B3-A740-2E42-CE33-4D61F80C232E}"/>
                      </a:ext>
                    </a:extLst>
                  </p:cNvPr>
                  <p:cNvSpPr txBox="1"/>
                  <p:nvPr/>
                </p:nvSpPr>
                <p:spPr>
                  <a:xfrm>
                    <a:off x="3063380" y="3767675"/>
                    <a:ext cx="517276" cy="38352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96" name="テキスト ボックス 395">
                    <a:extLst>
                      <a:ext uri="{FF2B5EF4-FFF2-40B4-BE49-F238E27FC236}">
                        <a16:creationId xmlns:a16="http://schemas.microsoft.com/office/drawing/2014/main" id="{4F5F00B3-A740-2E42-CE33-4D61F80C23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63380" y="3767675"/>
                    <a:ext cx="517276" cy="38352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7" name="直線矢印コネクタ 396">
                <a:extLst>
                  <a:ext uri="{FF2B5EF4-FFF2-40B4-BE49-F238E27FC236}">
                    <a16:creationId xmlns:a16="http://schemas.microsoft.com/office/drawing/2014/main" id="{A4BF610A-54CE-FE5C-231D-F2604B9046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37262" y="3645125"/>
                <a:ext cx="630806" cy="0"/>
              </a:xfrm>
              <a:prstGeom prst="straightConnector1">
                <a:avLst/>
              </a:prstGeom>
              <a:ln>
                <a:round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8" name="テキスト ボックス 397">
                    <a:extLst>
                      <a:ext uri="{FF2B5EF4-FFF2-40B4-BE49-F238E27FC236}">
                        <a16:creationId xmlns:a16="http://schemas.microsoft.com/office/drawing/2014/main" id="{1F73A967-E25F-3368-0F83-9385090C505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8499" y="3362220"/>
                    <a:ext cx="248332" cy="38352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98" name="テキスト ボックス 397">
                    <a:extLst>
                      <a:ext uri="{FF2B5EF4-FFF2-40B4-BE49-F238E27FC236}">
                        <a16:creationId xmlns:a16="http://schemas.microsoft.com/office/drawing/2014/main" id="{1F73A967-E25F-3368-0F83-9385090C5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8499" y="3362220"/>
                    <a:ext cx="248332" cy="383527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2195" r="-1219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9" name="直線矢印コネクタ 398">
                <a:extLst>
                  <a:ext uri="{FF2B5EF4-FFF2-40B4-BE49-F238E27FC236}">
                    <a16:creationId xmlns:a16="http://schemas.microsoft.com/office/drawing/2014/main" id="{DCF94F9A-26D1-4532-F4FA-F8E82905B2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95801" y="3328639"/>
                <a:ext cx="1021052" cy="0"/>
              </a:xfrm>
              <a:prstGeom prst="straightConnector1">
                <a:avLst/>
              </a:prstGeom>
              <a:ln>
                <a:round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0" name="直線矢印コネクタ 399">
                <a:extLst>
                  <a:ext uri="{FF2B5EF4-FFF2-40B4-BE49-F238E27FC236}">
                    <a16:creationId xmlns:a16="http://schemas.microsoft.com/office/drawing/2014/main" id="{4DD69105-DC4E-E78C-F2CE-34BE9BB525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95801" y="3937510"/>
                <a:ext cx="1021052" cy="0"/>
              </a:xfrm>
              <a:prstGeom prst="straightConnector1">
                <a:avLst/>
              </a:prstGeom>
              <a:ln>
                <a:round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1" name="直線矢印コネクタ 400">
                <a:extLst>
                  <a:ext uri="{FF2B5EF4-FFF2-40B4-BE49-F238E27FC236}">
                    <a16:creationId xmlns:a16="http://schemas.microsoft.com/office/drawing/2014/main" id="{13A5CFE7-F444-1E9E-586B-2C60E28545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67668" y="4160971"/>
                <a:ext cx="600492" cy="0"/>
              </a:xfrm>
              <a:prstGeom prst="straightConnector1">
                <a:avLst/>
              </a:prstGeom>
              <a:ln>
                <a:round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48" name="グループ化 447">
            <a:extLst>
              <a:ext uri="{FF2B5EF4-FFF2-40B4-BE49-F238E27FC236}">
                <a16:creationId xmlns:a16="http://schemas.microsoft.com/office/drawing/2014/main" id="{E4F7C899-EDF7-89EE-4214-24674BFAA9C8}"/>
              </a:ext>
            </a:extLst>
          </p:cNvPr>
          <p:cNvGrpSpPr/>
          <p:nvPr/>
        </p:nvGrpSpPr>
        <p:grpSpPr>
          <a:xfrm>
            <a:off x="15339739" y="3457666"/>
            <a:ext cx="14517191" cy="9649871"/>
            <a:chOff x="15584172" y="4073267"/>
            <a:chExt cx="14517191" cy="9649871"/>
          </a:xfrm>
        </p:grpSpPr>
        <p:sp>
          <p:nvSpPr>
            <p:cNvPr id="141" name="正方形/長方形 140">
              <a:extLst>
                <a:ext uri="{FF2B5EF4-FFF2-40B4-BE49-F238E27FC236}">
                  <a16:creationId xmlns:a16="http://schemas.microsoft.com/office/drawing/2014/main" id="{DE71BC2E-A7A5-42DB-6A25-0029045E163C}"/>
                </a:ext>
              </a:extLst>
            </p:cNvPr>
            <p:cNvSpPr>
              <a:spLocks/>
            </p:cNvSpPr>
            <p:nvPr/>
          </p:nvSpPr>
          <p:spPr>
            <a:xfrm>
              <a:off x="15584172" y="4073267"/>
              <a:ext cx="14517191" cy="9649871"/>
            </a:xfrm>
            <a:prstGeom prst="rect">
              <a:avLst/>
            </a:prstGeom>
            <a:solidFill>
              <a:schemeClr val="bg1"/>
            </a:solidFill>
            <a:ln w="127000">
              <a:solidFill>
                <a:schemeClr val="tx2"/>
              </a:solidFill>
              <a:extLst>
                <a:ext uri="{C807C97D-BFC1-408E-A445-0C87EB9F89A2}">
                  <ask:lineSketchStyleProps xmlns:ask="http://schemas.microsoft.com/office/drawing/2018/sketchyshapes" sd="981765707">
                    <a:custGeom>
                      <a:avLst/>
                      <a:gdLst>
                        <a:gd name="connsiteX0" fmla="*/ 0 w 27965400"/>
                        <a:gd name="connsiteY0" fmla="*/ 0 h 5715000"/>
                        <a:gd name="connsiteX1" fmla="*/ 27965400 w 27965400"/>
                        <a:gd name="connsiteY1" fmla="*/ 0 h 5715000"/>
                        <a:gd name="connsiteX2" fmla="*/ 27965400 w 27965400"/>
                        <a:gd name="connsiteY2" fmla="*/ 5715000 h 5715000"/>
                        <a:gd name="connsiteX3" fmla="*/ 0 w 27965400"/>
                        <a:gd name="connsiteY3" fmla="*/ 5715000 h 5715000"/>
                        <a:gd name="connsiteX4" fmla="*/ 0 w 27965400"/>
                        <a:gd name="connsiteY4" fmla="*/ 0 h 5715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7965400" h="5715000" fill="none" extrusionOk="0">
                          <a:moveTo>
                            <a:pt x="0" y="0"/>
                          </a:moveTo>
                          <a:cubicBezTo>
                            <a:pt x="12822961" y="-33775"/>
                            <a:pt x="23266028" y="138873"/>
                            <a:pt x="27965400" y="0"/>
                          </a:cubicBezTo>
                          <a:cubicBezTo>
                            <a:pt x="27891629" y="1430944"/>
                            <a:pt x="27809517" y="3154282"/>
                            <a:pt x="27965400" y="5715000"/>
                          </a:cubicBezTo>
                          <a:cubicBezTo>
                            <a:pt x="16913084" y="5577670"/>
                            <a:pt x="9222407" y="5577144"/>
                            <a:pt x="0" y="5715000"/>
                          </a:cubicBezTo>
                          <a:cubicBezTo>
                            <a:pt x="152408" y="3190664"/>
                            <a:pt x="73868" y="1414017"/>
                            <a:pt x="0" y="0"/>
                          </a:cubicBezTo>
                          <a:close/>
                        </a:path>
                        <a:path w="27965400" h="5715000" stroke="0" extrusionOk="0">
                          <a:moveTo>
                            <a:pt x="0" y="0"/>
                          </a:moveTo>
                          <a:cubicBezTo>
                            <a:pt x="6780586" y="-101487"/>
                            <a:pt x="18516925" y="-162162"/>
                            <a:pt x="27965400" y="0"/>
                          </a:cubicBezTo>
                          <a:cubicBezTo>
                            <a:pt x="28026113" y="2805299"/>
                            <a:pt x="27904328" y="3460224"/>
                            <a:pt x="27965400" y="5715000"/>
                          </a:cubicBezTo>
                          <a:cubicBezTo>
                            <a:pt x="19875670" y="5765065"/>
                            <a:pt x="9433509" y="5556551"/>
                            <a:pt x="0" y="5715000"/>
                          </a:cubicBezTo>
                          <a:cubicBezTo>
                            <a:pt x="-24452" y="3845266"/>
                            <a:pt x="-67663" y="249061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320" name="グループ化 319">
              <a:extLst>
                <a:ext uri="{FF2B5EF4-FFF2-40B4-BE49-F238E27FC236}">
                  <a16:creationId xmlns:a16="http://schemas.microsoft.com/office/drawing/2014/main" id="{BF69E977-25EF-0D1F-2496-5D2A7A2CDB70}"/>
                </a:ext>
              </a:extLst>
            </p:cNvPr>
            <p:cNvGrpSpPr/>
            <p:nvPr/>
          </p:nvGrpSpPr>
          <p:grpSpPr>
            <a:xfrm>
              <a:off x="21074756" y="11231550"/>
              <a:ext cx="8420516" cy="1766470"/>
              <a:chOff x="16882416" y="19002180"/>
              <a:chExt cx="8420516" cy="1766470"/>
            </a:xfrm>
          </p:grpSpPr>
          <p:sp>
            <p:nvSpPr>
              <p:cNvPr id="321" name="正方形/長方形 320">
                <a:extLst>
                  <a:ext uri="{FF2B5EF4-FFF2-40B4-BE49-F238E27FC236}">
                    <a16:creationId xmlns:a16="http://schemas.microsoft.com/office/drawing/2014/main" id="{9E716EF4-EE9F-44E6-580E-F13751504EEA}"/>
                  </a:ext>
                </a:extLst>
              </p:cNvPr>
              <p:cNvSpPr/>
              <p:nvPr/>
            </p:nvSpPr>
            <p:spPr>
              <a:xfrm>
                <a:off x="18248336" y="19711867"/>
                <a:ext cx="2310564" cy="717781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 sz="1400" b="1" dirty="0">
                    <a:latin typeface="メイリオ" panose="020B0604030504040204" pitchFamily="50" charset="-128"/>
                    <a:ea typeface="メイリオ" panose="020B0604030504040204" pitchFamily="50" charset="-128"/>
                    <a:cs typeface="Arial" panose="020B0604020202020204" pitchFamily="34" charset="0"/>
                  </a:rPr>
                  <a:t>Subject</a:t>
                </a:r>
              </a:p>
              <a:p>
                <a:pPr algn="ctr"/>
                <a:r>
                  <a:rPr lang="en-US" altLang="ja-JP" sz="1400" b="1" dirty="0">
                    <a:latin typeface="メイリオ" panose="020B0604030504040204" pitchFamily="50" charset="-128"/>
                    <a:ea typeface="メイリオ" panose="020B0604030504040204" pitchFamily="50" charset="-128"/>
                    <a:cs typeface="Arial" panose="020B0604020202020204" pitchFamily="34" charset="0"/>
                  </a:rPr>
                  <a:t>(UVA/Padova Model</a:t>
                </a:r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)</a:t>
                </a:r>
                <a:r>
                  <a:rPr lang="ja-JP" altLang="en-US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　</a:t>
                </a:r>
                <a:endPara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2" name="テキスト ボックス 321">
                    <a:extLst>
                      <a:ext uri="{FF2B5EF4-FFF2-40B4-BE49-F238E27FC236}">
                        <a16:creationId xmlns:a16="http://schemas.microsoft.com/office/drawing/2014/main" id="{5000212D-75D8-92F9-464D-71B91126E802}"/>
                      </a:ext>
                    </a:extLst>
                  </p:cNvPr>
                  <p:cNvSpPr txBox="1"/>
                  <p:nvPr/>
                </p:nvSpPr>
                <p:spPr>
                  <a:xfrm>
                    <a:off x="16931663" y="19961081"/>
                    <a:ext cx="618054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𝑚𝑒𝑎𝑙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22" name="テキスト ボックス 321">
                    <a:extLst>
                      <a:ext uri="{FF2B5EF4-FFF2-40B4-BE49-F238E27FC236}">
                        <a16:creationId xmlns:a16="http://schemas.microsoft.com/office/drawing/2014/main" id="{5000212D-75D8-92F9-464D-71B91126E8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931663" y="19961081"/>
                    <a:ext cx="618054" cy="276999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13725" t="-2222" r="-53922" b="-35556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3" name="テキスト ボックス 322">
                    <a:extLst>
                      <a:ext uri="{FF2B5EF4-FFF2-40B4-BE49-F238E27FC236}">
                        <a16:creationId xmlns:a16="http://schemas.microsoft.com/office/drawing/2014/main" id="{E67C062B-CB7B-E759-2406-47BD0AF4AF46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4318" y="19514710"/>
                    <a:ext cx="751231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323" name="テキスト ボックス 322">
                    <a:extLst>
                      <a:ext uri="{FF2B5EF4-FFF2-40B4-BE49-F238E27FC236}">
                        <a16:creationId xmlns:a16="http://schemas.microsoft.com/office/drawing/2014/main" id="{E67C062B-CB7B-E759-2406-47BD0AF4AF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4318" y="19514710"/>
                    <a:ext cx="751231" cy="276999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3226" t="-4444" r="-9677" b="-35556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4" name="直線矢印コネクタ 323">
                <a:extLst>
                  <a:ext uri="{FF2B5EF4-FFF2-40B4-BE49-F238E27FC236}">
                    <a16:creationId xmlns:a16="http://schemas.microsoft.com/office/drawing/2014/main" id="{E7F9A4F7-B67C-C38D-B3E0-68294918D8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882416" y="20299736"/>
                <a:ext cx="136439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5" name="直線矢印コネクタ 324">
                <a:extLst>
                  <a:ext uri="{FF2B5EF4-FFF2-40B4-BE49-F238E27FC236}">
                    <a16:creationId xmlns:a16="http://schemas.microsoft.com/office/drawing/2014/main" id="{6533762A-A5A1-95D7-ECBD-795E659081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882416" y="19874644"/>
                <a:ext cx="136439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6" name="直線矢印コネクタ 325">
                <a:extLst>
                  <a:ext uri="{FF2B5EF4-FFF2-40B4-BE49-F238E27FC236}">
                    <a16:creationId xmlns:a16="http://schemas.microsoft.com/office/drawing/2014/main" id="{C9EEE711-92CE-28EA-773B-66B2EB6370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86162" y="19384077"/>
                <a:ext cx="104778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7" name="直線コネクタ 326">
                <a:extLst>
                  <a:ext uri="{FF2B5EF4-FFF2-40B4-BE49-F238E27FC236}">
                    <a16:creationId xmlns:a16="http://schemas.microsoft.com/office/drawing/2014/main" id="{2383132C-B27A-62D8-8E02-5D6F75FB0C80}"/>
                  </a:ext>
                </a:extLst>
              </p:cNvPr>
              <p:cNvCxnSpPr/>
              <p:nvPr/>
            </p:nvCxnSpPr>
            <p:spPr>
              <a:xfrm flipV="1">
                <a:off x="19046792" y="19209239"/>
                <a:ext cx="356826" cy="174219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8" name="直線コネクタ 327">
                <a:extLst>
                  <a:ext uri="{FF2B5EF4-FFF2-40B4-BE49-F238E27FC236}">
                    <a16:creationId xmlns:a16="http://schemas.microsoft.com/office/drawing/2014/main" id="{6AD098EA-1679-7686-030C-326F244FC6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621094" y="19384696"/>
                <a:ext cx="425698" cy="0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9" name="正方形/長方形 328">
                <a:extLst>
                  <a:ext uri="{FF2B5EF4-FFF2-40B4-BE49-F238E27FC236}">
                    <a16:creationId xmlns:a16="http://schemas.microsoft.com/office/drawing/2014/main" id="{10167F54-2F0F-738D-DA44-18598362BFAC}"/>
                  </a:ext>
                </a:extLst>
              </p:cNvPr>
              <p:cNvSpPr/>
              <p:nvPr/>
            </p:nvSpPr>
            <p:spPr>
              <a:xfrm>
                <a:off x="21953367" y="19002180"/>
                <a:ext cx="2422866" cy="1161753"/>
              </a:xfrm>
              <a:prstGeom prst="rect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b="1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Observer</a:t>
                </a:r>
              </a:p>
              <a:p>
                <a:pPr algn="ctr"/>
                <a:r>
                  <a:rPr lang="en-US" altLang="ja-JP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or</a:t>
                </a:r>
              </a:p>
              <a:p>
                <a:pPr algn="ctr"/>
                <a:r>
                  <a:rPr kumimoji="1" lang="en-US" altLang="ja-JP" b="1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Extended </a:t>
                </a:r>
                <a:r>
                  <a:rPr lang="en-US" altLang="ja-JP" b="1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Kalma filter</a:t>
                </a:r>
                <a:endParaRPr kumimoji="1" lang="ja-JP" altLang="en-US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  <p:cxnSp>
            <p:nvCxnSpPr>
              <p:cNvPr id="330" name="直線コネクタ 329">
                <a:extLst>
                  <a:ext uri="{FF2B5EF4-FFF2-40B4-BE49-F238E27FC236}">
                    <a16:creationId xmlns:a16="http://schemas.microsoft.com/office/drawing/2014/main" id="{CC3E1A2D-90F9-C138-B3CF-02103F82F1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86162" y="19384077"/>
                <a:ext cx="0" cy="490567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1" name="直線矢印コネクタ 330">
                <a:extLst>
                  <a:ext uri="{FF2B5EF4-FFF2-40B4-BE49-F238E27FC236}">
                    <a16:creationId xmlns:a16="http://schemas.microsoft.com/office/drawing/2014/main" id="{2C3ED9A8-0B6A-E3CB-733C-15B257D445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03618" y="19383458"/>
                <a:ext cx="2549748" cy="0"/>
              </a:xfrm>
              <a:prstGeom prst="straightConnector1">
                <a:avLst/>
              </a:prstGeom>
              <a:ln>
                <a:solidFill>
                  <a:schemeClr val="dk1"/>
                </a:solidFill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テキスト ボックス 331">
                    <a:extLst>
                      <a:ext uri="{FF2B5EF4-FFF2-40B4-BE49-F238E27FC236}">
                        <a16:creationId xmlns:a16="http://schemas.microsoft.com/office/drawing/2014/main" id="{E0E02D5F-A062-B427-1108-97D30B454EBB}"/>
                      </a:ext>
                    </a:extLst>
                  </p:cNvPr>
                  <p:cNvSpPr txBox="1"/>
                  <p:nvPr/>
                </p:nvSpPr>
                <p:spPr>
                  <a:xfrm>
                    <a:off x="20771383" y="19019349"/>
                    <a:ext cx="755528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78" name="テキスト ボックス 277">
                    <a:extLst>
                      <a:ext uri="{FF2B5EF4-FFF2-40B4-BE49-F238E27FC236}">
                        <a16:creationId xmlns:a16="http://schemas.microsoft.com/office/drawing/2014/main" id="{9D61A246-EE09-1D9B-4137-9DF1342359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771383" y="19019349"/>
                    <a:ext cx="755528" cy="276999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l="-1639" t="-4545" r="-9836" b="-4090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テキスト ボックス 332">
                    <a:extLst>
                      <a:ext uri="{FF2B5EF4-FFF2-40B4-BE49-F238E27FC236}">
                        <a16:creationId xmlns:a16="http://schemas.microsoft.com/office/drawing/2014/main" id="{C9B8339F-6A67-830B-56C8-FADAA1D39DF7}"/>
                      </a:ext>
                    </a:extLst>
                  </p:cNvPr>
                  <p:cNvSpPr txBox="1"/>
                  <p:nvPr/>
                </p:nvSpPr>
                <p:spPr>
                  <a:xfrm>
                    <a:off x="20739829" y="20353152"/>
                    <a:ext cx="485518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79" name="テキスト ボックス 278">
                    <a:extLst>
                      <a:ext uri="{FF2B5EF4-FFF2-40B4-BE49-F238E27FC236}">
                        <a16:creationId xmlns:a16="http://schemas.microsoft.com/office/drawing/2014/main" id="{F5591833-5ED6-2ECA-B0EA-937639E3FE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739829" y="20353152"/>
                    <a:ext cx="485518" cy="276999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l="-5128" r="-15385" b="-2916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4" name="直線矢印コネクタ 333">
                <a:extLst>
                  <a:ext uri="{FF2B5EF4-FFF2-40B4-BE49-F238E27FC236}">
                    <a16:creationId xmlns:a16="http://schemas.microsoft.com/office/drawing/2014/main" id="{F7FD3D32-ABEE-46C8-C24A-AB75B7BA23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58900" y="19937555"/>
                <a:ext cx="43784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5" name="直線矢印コネクタ 334">
                <a:extLst>
                  <a:ext uri="{FF2B5EF4-FFF2-40B4-BE49-F238E27FC236}">
                    <a16:creationId xmlns:a16="http://schemas.microsoft.com/office/drawing/2014/main" id="{29155F02-73D7-F8D1-712F-D59D2AB3AF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58900" y="20278054"/>
                <a:ext cx="60511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6" name="直線コネクタ 335">
                <a:extLst>
                  <a:ext uri="{FF2B5EF4-FFF2-40B4-BE49-F238E27FC236}">
                    <a16:creationId xmlns:a16="http://schemas.microsoft.com/office/drawing/2014/main" id="{1FDF6055-EB6E-A034-0EFD-7F30AEA5DC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46934" y="19765975"/>
                <a:ext cx="356826" cy="174219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直線コネクタ 336">
                <a:extLst>
                  <a:ext uri="{FF2B5EF4-FFF2-40B4-BE49-F238E27FC236}">
                    <a16:creationId xmlns:a16="http://schemas.microsoft.com/office/drawing/2014/main" id="{B1F247F6-A779-EF9D-2ED3-EA9A45FC85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21236" y="19936669"/>
                <a:ext cx="446870" cy="0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8" name="直線矢印コネクタ 337">
                <a:extLst>
                  <a:ext uri="{FF2B5EF4-FFF2-40B4-BE49-F238E27FC236}">
                    <a16:creationId xmlns:a16="http://schemas.microsoft.com/office/drawing/2014/main" id="{C6DBD273-ADA5-D410-D69B-711B3C7B01A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272972" y="19937020"/>
                <a:ext cx="680394" cy="3174"/>
              </a:xfrm>
              <a:prstGeom prst="straightConnector1">
                <a:avLst/>
              </a:prstGeom>
              <a:ln>
                <a:solidFill>
                  <a:schemeClr val="dk1"/>
                </a:solidFill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9" name="テキスト ボックス 338">
                    <a:extLst>
                      <a:ext uri="{FF2B5EF4-FFF2-40B4-BE49-F238E27FC236}">
                        <a16:creationId xmlns:a16="http://schemas.microsoft.com/office/drawing/2014/main" id="{6C99D23A-58B6-FB6B-13F3-D9830DF870B0}"/>
                      </a:ext>
                    </a:extLst>
                  </p:cNvPr>
                  <p:cNvSpPr txBox="1"/>
                  <p:nvPr/>
                </p:nvSpPr>
                <p:spPr>
                  <a:xfrm>
                    <a:off x="20621236" y="19622121"/>
                    <a:ext cx="51110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85" name="テキスト ボックス 284">
                    <a:extLst>
                      <a:ext uri="{FF2B5EF4-FFF2-40B4-BE49-F238E27FC236}">
                        <a16:creationId xmlns:a16="http://schemas.microsoft.com/office/drawing/2014/main" id="{00596224-175F-9977-E5B7-6753239FF2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621236" y="19622121"/>
                    <a:ext cx="511102" cy="276999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 l="-7143" t="-4348" r="-14286" b="-3478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0" name="テキスト ボックス 339">
                    <a:extLst>
                      <a:ext uri="{FF2B5EF4-FFF2-40B4-BE49-F238E27FC236}">
                        <a16:creationId xmlns:a16="http://schemas.microsoft.com/office/drawing/2014/main" id="{5E46C6A0-05AE-6A80-372F-753F4C60EF54}"/>
                      </a:ext>
                    </a:extLst>
                  </p:cNvPr>
                  <p:cNvSpPr txBox="1"/>
                  <p:nvPr/>
                </p:nvSpPr>
                <p:spPr>
                  <a:xfrm>
                    <a:off x="21403760" y="19972739"/>
                    <a:ext cx="515398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86" name="テキスト ボックス 285">
                    <a:extLst>
                      <a:ext uri="{FF2B5EF4-FFF2-40B4-BE49-F238E27FC236}">
                        <a16:creationId xmlns:a16="http://schemas.microsoft.com/office/drawing/2014/main" id="{169BF41B-F736-057E-D5EE-EB51C5EA31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03760" y="19972739"/>
                    <a:ext cx="515398" cy="276999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 l="-7143" t="-4545" r="-11905" b="-36364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1" name="テキスト ボックス 340">
                    <a:extLst>
                      <a:ext uri="{FF2B5EF4-FFF2-40B4-BE49-F238E27FC236}">
                        <a16:creationId xmlns:a16="http://schemas.microsoft.com/office/drawing/2014/main" id="{D45EF2DC-AFC4-5C52-43E8-91A48949DA2E}"/>
                      </a:ext>
                    </a:extLst>
                  </p:cNvPr>
                  <p:cNvSpPr txBox="1"/>
                  <p:nvPr/>
                </p:nvSpPr>
                <p:spPr>
                  <a:xfrm>
                    <a:off x="24813118" y="19383458"/>
                    <a:ext cx="489814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kumimoji="1" lang="ja-JP" alt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87" name="テキスト ボックス 286">
                    <a:extLst>
                      <a:ext uri="{FF2B5EF4-FFF2-40B4-BE49-F238E27FC236}">
                        <a16:creationId xmlns:a16="http://schemas.microsoft.com/office/drawing/2014/main" id="{467F3C33-BE49-6FED-D8C5-38B6FD877C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813118" y="19383458"/>
                    <a:ext cx="489814" cy="276999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 l="-5128" t="-13043" r="-15385" b="-3478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2" name="直線矢印コネクタ 341">
                <a:extLst>
                  <a:ext uri="{FF2B5EF4-FFF2-40B4-BE49-F238E27FC236}">
                    <a16:creationId xmlns:a16="http://schemas.microsoft.com/office/drawing/2014/main" id="{56CAD241-EFED-BE84-AF46-D6FDAC5FF2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76233" y="19765974"/>
                <a:ext cx="822426" cy="10652"/>
              </a:xfrm>
              <a:prstGeom prst="straightConnector1">
                <a:avLst/>
              </a:prstGeom>
              <a:ln>
                <a:solidFill>
                  <a:schemeClr val="dk1"/>
                </a:solidFill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3" name="直線矢印コネクタ 342">
                <a:extLst>
                  <a:ext uri="{FF2B5EF4-FFF2-40B4-BE49-F238E27FC236}">
                    <a16:creationId xmlns:a16="http://schemas.microsoft.com/office/drawing/2014/main" id="{556FBF8C-F4EC-BFB1-0872-0D6DFE5C18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653205" y="20156144"/>
                <a:ext cx="0" cy="612506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4" name="テキスト ボックス 343">
                    <a:extLst>
                      <a:ext uri="{FF2B5EF4-FFF2-40B4-BE49-F238E27FC236}">
                        <a16:creationId xmlns:a16="http://schemas.microsoft.com/office/drawing/2014/main" id="{A1CC3277-329A-2282-1AF9-E3F59B824D54}"/>
                      </a:ext>
                    </a:extLst>
                  </p:cNvPr>
                  <p:cNvSpPr txBox="1"/>
                  <p:nvPr/>
                </p:nvSpPr>
                <p:spPr>
                  <a:xfrm>
                    <a:off x="22730695" y="20491651"/>
                    <a:ext cx="62235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90" name="テキスト ボックス 289">
                    <a:extLst>
                      <a:ext uri="{FF2B5EF4-FFF2-40B4-BE49-F238E27FC236}">
                        <a16:creationId xmlns:a16="http://schemas.microsoft.com/office/drawing/2014/main" id="{EA5224E8-7374-F3CA-3243-E82C00531A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30695" y="20491651"/>
                    <a:ext cx="622350" cy="276999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l="-8163" t="-4348" r="-14286" b="-3043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12" name="グループ化 411">
              <a:extLst>
                <a:ext uri="{FF2B5EF4-FFF2-40B4-BE49-F238E27FC236}">
                  <a16:creationId xmlns:a16="http://schemas.microsoft.com/office/drawing/2014/main" id="{7264AD98-A895-F618-D4B2-6F46FCF9A9C6}"/>
                </a:ext>
              </a:extLst>
            </p:cNvPr>
            <p:cNvGrpSpPr/>
            <p:nvPr/>
          </p:nvGrpSpPr>
          <p:grpSpPr>
            <a:xfrm>
              <a:off x="16060880" y="4794754"/>
              <a:ext cx="9817002" cy="4650209"/>
              <a:chOff x="15706863" y="9871117"/>
              <a:chExt cx="9817002" cy="4650209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3" name="TextBox 383">
                    <a:extLst>
                      <a:ext uri="{FF2B5EF4-FFF2-40B4-BE49-F238E27FC236}">
                        <a16:creationId xmlns:a16="http://schemas.microsoft.com/office/drawing/2014/main" id="{0D4F934E-A254-DB84-60A8-AA8054A32CE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6526889" y="11179887"/>
                    <a:ext cx="7476662" cy="13756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if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)=0</m:t>
                                  </m:r>
                                </m:e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if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)=1</m:t>
                                  </m:r>
                                </m:e>
                              </m:eqArr>
                            </m:e>
                          </m:d>
                        </m:oMath>
                      </m:oMathPara>
                    </a14:m>
                    <a:endParaRPr lang="en-JP" sz="2400" dirty="0"/>
                  </a:p>
                </p:txBody>
              </p:sp>
            </mc:Choice>
            <mc:Fallback>
              <p:sp>
                <p:nvSpPr>
                  <p:cNvPr id="413" name="TextBox 383">
                    <a:extLst>
                      <a:ext uri="{FF2B5EF4-FFF2-40B4-BE49-F238E27FC236}">
                        <a16:creationId xmlns:a16="http://schemas.microsoft.com/office/drawing/2014/main" id="{0D4F934E-A254-DB84-60A8-AA8054A32C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26889" y="11179887"/>
                    <a:ext cx="7476662" cy="1375633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4" name="TextBox 384">
                    <a:extLst>
                      <a:ext uri="{FF2B5EF4-FFF2-40B4-BE49-F238E27FC236}">
                        <a16:creationId xmlns:a16="http://schemas.microsoft.com/office/drawing/2014/main" id="{1DF9C638-2252-C86A-49BE-5D9BCF7EEBD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6021138" y="13608704"/>
                    <a:ext cx="4289444" cy="9126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𝑆𝑥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01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01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𝑆𝑥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oMath>
                      </m:oMathPara>
                    </a14:m>
                    <a:endParaRPr lang="en-JP" sz="2800" dirty="0"/>
                  </a:p>
                </p:txBody>
              </p:sp>
            </mc:Choice>
            <mc:Fallback>
              <p:sp>
                <p:nvSpPr>
                  <p:cNvPr id="414" name="TextBox 384">
                    <a:extLst>
                      <a:ext uri="{FF2B5EF4-FFF2-40B4-BE49-F238E27FC236}">
                        <a16:creationId xmlns:a16="http://schemas.microsoft.com/office/drawing/2014/main" id="{1DF9C638-2252-C86A-49BE-5D9BCF7EEB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021138" y="13608704"/>
                    <a:ext cx="4289444" cy="912622"/>
                  </a:xfrm>
                  <a:prstGeom prst="rect">
                    <a:avLst/>
                  </a:prstGeom>
                  <a:blipFill>
                    <a:blip r:embed="rId5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5" name="TextBox 399">
                    <a:extLst>
                      <a:ext uri="{FF2B5EF4-FFF2-40B4-BE49-F238E27FC236}">
                        <a16:creationId xmlns:a16="http://schemas.microsoft.com/office/drawing/2014/main" id="{F7B63FAA-DA32-8B83-B2F3-D8ED83770F8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5744071" y="9871117"/>
                    <a:ext cx="4387355" cy="130426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nary>
                                <m:naryPr>
                                  <m:chr m:val="∑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</m:d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  <m:d>
                                            <m:d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func>
                        </m:oMath>
                      </m:oMathPara>
                    </a14:m>
                    <a:endParaRPr lang="en-JP" sz="2400" dirty="0"/>
                  </a:p>
                </p:txBody>
              </p:sp>
            </mc:Choice>
            <mc:Fallback>
              <p:sp>
                <p:nvSpPr>
                  <p:cNvPr id="415" name="TextBox 399">
                    <a:extLst>
                      <a:ext uri="{FF2B5EF4-FFF2-40B4-BE49-F238E27FC236}">
                        <a16:creationId xmlns:a16="http://schemas.microsoft.com/office/drawing/2014/main" id="{F7B63FAA-DA32-8B83-B2F3-D8ED83770F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744071" y="9871117"/>
                    <a:ext cx="4387355" cy="1304268"/>
                  </a:xfrm>
                  <a:prstGeom prst="rect">
                    <a:avLst/>
                  </a:prstGeom>
                  <a:blipFill>
                    <a:blip r:embed="rId6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6" name="TextBox 401">
                    <a:extLst>
                      <a:ext uri="{FF2B5EF4-FFF2-40B4-BE49-F238E27FC236}">
                        <a16:creationId xmlns:a16="http://schemas.microsoft.com/office/drawing/2014/main" id="{B39C35C0-5C36-09EF-B9E6-5FB023AB11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5997458" y="11170053"/>
                    <a:ext cx="1562928" cy="43088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subject</m:t>
                          </m:r>
                          <m: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to</m:t>
                          </m:r>
                        </m:oMath>
                      </m:oMathPara>
                    </a14:m>
                    <a:endParaRPr lang="en-JP" sz="2800" dirty="0"/>
                  </a:p>
                </p:txBody>
              </p:sp>
            </mc:Choice>
            <mc:Fallback>
              <p:sp>
                <p:nvSpPr>
                  <p:cNvPr id="416" name="TextBox 401">
                    <a:extLst>
                      <a:ext uri="{FF2B5EF4-FFF2-40B4-BE49-F238E27FC236}">
                        <a16:creationId xmlns:a16="http://schemas.microsoft.com/office/drawing/2014/main" id="{B39C35C0-5C36-09EF-B9E6-5FB023AB11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97458" y="11170053"/>
                    <a:ext cx="1562928" cy="430887"/>
                  </a:xfrm>
                  <a:prstGeom prst="rect">
                    <a:avLst/>
                  </a:prstGeom>
                  <a:blipFill>
                    <a:blip r:embed="rId6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7" name="TextBox 404">
                    <a:extLst>
                      <a:ext uri="{FF2B5EF4-FFF2-40B4-BE49-F238E27FC236}">
                        <a16:creationId xmlns:a16="http://schemas.microsoft.com/office/drawing/2014/main" id="{1A88940B-B533-F7C1-7FD3-823DB4088DE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6599110" y="12600091"/>
                    <a:ext cx="5913222" cy="128657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a14:m>
                    <a:r>
                      <a:rPr lang="en-JP" sz="2400" dirty="0"/>
                      <a:t>, </a:t>
                    </a:r>
                  </a:p>
                  <a:p>
                    <a14:m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0 0 1 1 0 0 0</m:t>
                            </m:r>
                          </m:e>
                        </m:d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a14:m>
                    <a:r>
                      <a:rPr lang="en-JP" sz="2800" i="1" dirty="0">
                        <a:latin typeface="Cambria Math" panose="02040503050406030204" pitchFamily="18" charset="0"/>
                      </a:rPr>
                      <a:t>C </a:t>
                    </a:r>
                    <a14:m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1 0 0 0 0 0 0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r>
                      <a:rPr lang="en-JP" sz="2400" i="1" dirty="0">
                        <a:latin typeface="Cambria Math" panose="02040503050406030204" pitchFamily="18" charset="0"/>
                      </a:rPr>
                      <a:t> </a:t>
                    </a:r>
                    <a:endParaRPr lang="en-US" sz="2400" i="1" dirty="0">
                      <a:latin typeface="Cambria Math" panose="02040503050406030204" pitchFamily="18" charset="0"/>
                    </a:endParaRPr>
                  </a:p>
                  <a:p>
                    <a:endParaRPr lang="en-JP" sz="2400" dirty="0"/>
                  </a:p>
                </p:txBody>
              </p:sp>
            </mc:Choice>
            <mc:Fallback>
              <p:sp>
                <p:nvSpPr>
                  <p:cNvPr id="417" name="TextBox 404">
                    <a:extLst>
                      <a:ext uri="{FF2B5EF4-FFF2-40B4-BE49-F238E27FC236}">
                        <a16:creationId xmlns:a16="http://schemas.microsoft.com/office/drawing/2014/main" id="{1A88940B-B533-F7C1-7FD3-823DB4088D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99110" y="12600091"/>
                    <a:ext cx="5913222" cy="1286571"/>
                  </a:xfrm>
                  <a:prstGeom prst="rect">
                    <a:avLst/>
                  </a:prstGeom>
                  <a:blipFill>
                    <a:blip r:embed="rId62"/>
                    <a:stretch>
                      <a:fillRect t="-474" r="-216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8" name="Left Bracket 1152">
                <a:extLst>
                  <a:ext uri="{FF2B5EF4-FFF2-40B4-BE49-F238E27FC236}">
                    <a16:creationId xmlns:a16="http://schemas.microsoft.com/office/drawing/2014/main" id="{57A1B5EB-4187-C87E-9489-1F9FBC44D18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706863" y="10113981"/>
                <a:ext cx="113022" cy="4388717"/>
              </a:xfrm>
              <a:prstGeom prst="leftBracket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9" name="TextBox 1146">
                    <a:extLst>
                      <a:ext uri="{FF2B5EF4-FFF2-40B4-BE49-F238E27FC236}">
                        <a16:creationId xmlns:a16="http://schemas.microsoft.com/office/drawing/2014/main" id="{C0145DD9-5F8C-A881-166A-17AF9C8EFF0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20618410" y="12353144"/>
                    <a:ext cx="4905455" cy="6043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JP" sz="1600" dirty="0">
                        <a:solidFill>
                          <a:srgbClr val="C00000"/>
                        </a:solidFill>
                      </a:rPr>
                      <a:t>赤字: 代謝パラメータ</a:t>
                    </a:r>
                  </a:p>
                  <a:p>
                    <a:r>
                      <a:rPr lang="en-JP" sz="1600" dirty="0">
                        <a:solidFill>
                          <a:srgbClr val="C00000"/>
                        </a:solidFill>
                      </a:rPr>
                      <a:t>(</a:t>
                    </a:r>
                    <a14:m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a14:m>
                    <a:r>
                      <a:rPr lang="en-JP" sz="1600" dirty="0">
                        <a:solidFill>
                          <a:srgbClr val="C00000"/>
                        </a:solidFill>
                      </a:rPr>
                      <a:t>は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r>
                      <a:rPr lang="en-JP" sz="1600" dirty="0">
                        <a:solidFill>
                          <a:srgbClr val="C00000"/>
                        </a:solidFill>
                      </a:rPr>
                      <a:t>以外をまとめたもの)</a:t>
                    </a:r>
                  </a:p>
                </p:txBody>
              </p:sp>
            </mc:Choice>
            <mc:Fallback>
              <p:sp>
                <p:nvSpPr>
                  <p:cNvPr id="419" name="TextBox 1146">
                    <a:extLst>
                      <a:ext uri="{FF2B5EF4-FFF2-40B4-BE49-F238E27FC236}">
                        <a16:creationId xmlns:a16="http://schemas.microsoft.com/office/drawing/2014/main" id="{C0145DD9-5F8C-A881-166A-17AF9C8EFF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618410" y="12353144"/>
                    <a:ext cx="4905455" cy="604396"/>
                  </a:xfrm>
                  <a:prstGeom prst="rect">
                    <a:avLst/>
                  </a:prstGeom>
                  <a:blipFill>
                    <a:blip r:embed="rId63"/>
                    <a:stretch>
                      <a:fillRect l="-621" t="-3030" b="-1010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20" name="テキスト ボックス 419">
              <a:extLst>
                <a:ext uri="{FF2B5EF4-FFF2-40B4-BE49-F238E27FC236}">
                  <a16:creationId xmlns:a16="http://schemas.microsoft.com/office/drawing/2014/main" id="{D0F1BED2-4BF7-6AF6-CB8E-E43B208308E8}"/>
                </a:ext>
              </a:extLst>
            </p:cNvPr>
            <p:cNvSpPr txBox="1"/>
            <p:nvPr/>
          </p:nvSpPr>
          <p:spPr>
            <a:xfrm>
              <a:off x="16060881" y="9906628"/>
              <a:ext cx="3101904" cy="6537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6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状態推定</a:t>
              </a:r>
              <a:r>
                <a:rPr lang="ja-JP" altLang="en-US" sz="36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器</a:t>
              </a:r>
              <a:endParaRPr kumimoji="1" lang="ja-JP" altLang="en-US" sz="36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423" name="テキスト ボックス 422">
              <a:extLst>
                <a:ext uri="{FF2B5EF4-FFF2-40B4-BE49-F238E27FC236}">
                  <a16:creationId xmlns:a16="http://schemas.microsoft.com/office/drawing/2014/main" id="{4FAD4841-9D95-B302-0946-56E8B327351B}"/>
                </a:ext>
              </a:extLst>
            </p:cNvPr>
            <p:cNvSpPr txBox="1"/>
            <p:nvPr/>
          </p:nvSpPr>
          <p:spPr>
            <a:xfrm>
              <a:off x="16060881" y="10560356"/>
              <a:ext cx="1319991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線形システムに対するオブザーバと拡張カルマンフィルタ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(EKF)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種類を構築．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424" name="テキスト ボックス 423">
              <a:extLst>
                <a:ext uri="{FF2B5EF4-FFF2-40B4-BE49-F238E27FC236}">
                  <a16:creationId xmlns:a16="http://schemas.microsoft.com/office/drawing/2014/main" id="{B7D3A4EC-6C8C-0EBA-5356-6A92C1160E3E}"/>
                </a:ext>
              </a:extLst>
            </p:cNvPr>
            <p:cNvSpPr txBox="1"/>
            <p:nvPr/>
          </p:nvSpPr>
          <p:spPr>
            <a:xfrm>
              <a:off x="16060882" y="11097750"/>
              <a:ext cx="4968008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利用可能データはインスリン入力，食事入力，血糖値データ</a:t>
              </a:r>
              <a:endPara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食事入力とモードの切り換えタイミングが既知であると仮定し，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Ra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をフィードフォワードで与える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grpSp>
          <p:nvGrpSpPr>
            <p:cNvPr id="425" name="Group 407">
              <a:extLst>
                <a:ext uri="{FF2B5EF4-FFF2-40B4-BE49-F238E27FC236}">
                  <a16:creationId xmlns:a16="http://schemas.microsoft.com/office/drawing/2014/main" id="{E18EF74E-0259-F314-9FC6-507AAD099B6D}"/>
                </a:ext>
              </a:extLst>
            </p:cNvPr>
            <p:cNvGrpSpPr>
              <a:grpSpLocks/>
            </p:cNvGrpSpPr>
            <p:nvPr/>
          </p:nvGrpSpPr>
          <p:grpSpPr>
            <a:xfrm>
              <a:off x="22489265" y="4749380"/>
              <a:ext cx="7285885" cy="3960448"/>
              <a:chOff x="492246" y="2763288"/>
              <a:chExt cx="6971214" cy="3735506"/>
            </a:xfrm>
          </p:grpSpPr>
          <p:grpSp>
            <p:nvGrpSpPr>
              <p:cNvPr id="426" name="グループ化 91">
                <a:extLst>
                  <a:ext uri="{FF2B5EF4-FFF2-40B4-BE49-F238E27FC236}">
                    <a16:creationId xmlns:a16="http://schemas.microsoft.com/office/drawing/2014/main" id="{6B4C59F3-50C6-21B6-4AB2-DAF0913CBB82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1650590" y="2897727"/>
                <a:ext cx="2636019" cy="1238280"/>
                <a:chOff x="1074479" y="1180107"/>
                <a:chExt cx="2636019" cy="1238280"/>
              </a:xfrm>
            </p:grpSpPr>
            <p:sp>
              <p:nvSpPr>
                <p:cNvPr id="445" name="角丸四角形 28">
                  <a:extLst>
                    <a:ext uri="{FF2B5EF4-FFF2-40B4-BE49-F238E27FC236}">
                      <a16:creationId xmlns:a16="http://schemas.microsoft.com/office/drawing/2014/main" id="{1A29DEC1-BD31-548A-46C7-1AD6A6B9CB8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4479" y="1180107"/>
                  <a:ext cx="2163040" cy="1235034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/>
                </a:p>
              </p:txBody>
            </p:sp>
            <p:sp>
              <p:nvSpPr>
                <p:cNvPr id="446" name="テキスト ボックス 30">
                  <a:extLst>
                    <a:ext uri="{FF2B5EF4-FFF2-40B4-BE49-F238E27FC236}">
                      <a16:creationId xmlns:a16="http://schemas.microsoft.com/office/drawing/2014/main" id="{F90A7A9B-0A53-83CB-B136-DF2030F088E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216679" y="1218058"/>
                  <a:ext cx="2493819" cy="12003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b="1" dirty="0"/>
                    <a:t>Subject (UVA/Padova Model)</a:t>
                  </a:r>
                  <a:endParaRPr lang="ja-JP" altLang="en-US" sz="2400" b="1" dirty="0"/>
                </a:p>
              </p:txBody>
            </p:sp>
          </p:grpSp>
          <p:sp>
            <p:nvSpPr>
              <p:cNvPr id="427" name="テキスト ボックス 93">
                <a:extLst>
                  <a:ext uri="{FF2B5EF4-FFF2-40B4-BE49-F238E27FC236}">
                    <a16:creationId xmlns:a16="http://schemas.microsoft.com/office/drawing/2014/main" id="{50A5F345-7A8A-7623-EE3E-A4D3C7CBCB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2246" y="3030598"/>
                <a:ext cx="9220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b="1" dirty="0"/>
                  <a:t>Input</a:t>
                </a:r>
                <a:endParaRPr lang="ja-JP" altLang="en-US" sz="2400" b="1"/>
              </a:p>
            </p:txBody>
          </p:sp>
          <p:cxnSp>
            <p:nvCxnSpPr>
              <p:cNvPr id="428" name="直線矢印コネクタ 94">
                <a:extLst>
                  <a:ext uri="{FF2B5EF4-FFF2-40B4-BE49-F238E27FC236}">
                    <a16:creationId xmlns:a16="http://schemas.microsoft.com/office/drawing/2014/main" id="{0A3DE9B9-474C-50FA-27C6-F8F9CDF94C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469" y="3492262"/>
                <a:ext cx="1083120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直線矢印コネクタ 99">
                <a:extLst>
                  <a:ext uri="{FF2B5EF4-FFF2-40B4-BE49-F238E27FC236}">
                    <a16:creationId xmlns:a16="http://schemas.microsoft.com/office/drawing/2014/main" id="{E8F93138-8FB5-DF1C-20E0-9E2FF25982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24347" y="3592324"/>
                <a:ext cx="0" cy="1557652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prstDash val="solid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直線矢印コネクタ 103">
                <a:extLst>
                  <a:ext uri="{FF2B5EF4-FFF2-40B4-BE49-F238E27FC236}">
                    <a16:creationId xmlns:a16="http://schemas.microsoft.com/office/drawing/2014/main" id="{91E128C0-8651-B3D1-DE30-3AFFB24B12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3630" y="3499881"/>
                <a:ext cx="122316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1" name="円/楕円 111">
                <a:extLst>
                  <a:ext uri="{FF2B5EF4-FFF2-40B4-BE49-F238E27FC236}">
                    <a16:creationId xmlns:a16="http://schemas.microsoft.com/office/drawing/2014/main" id="{4575006C-B9FE-48E1-B827-D2D92A10483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447267" y="3422801"/>
                <a:ext cx="154161" cy="154161"/>
              </a:xfrm>
              <a:prstGeom prst="ellipse">
                <a:avLst/>
              </a:prstGeom>
              <a:solidFill>
                <a:schemeClr val="tx1"/>
              </a:solidFill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cxnSp>
            <p:nvCxnSpPr>
              <p:cNvPr id="432" name="直線矢印コネクタ 130">
                <a:extLst>
                  <a:ext uri="{FF2B5EF4-FFF2-40B4-BE49-F238E27FC236}">
                    <a16:creationId xmlns:a16="http://schemas.microsoft.com/office/drawing/2014/main" id="{DA66CA03-1B61-9CFA-D8BE-4D873E0B89EB}"/>
                  </a:ext>
                </a:extLst>
              </p:cNvPr>
              <p:cNvCxnSpPr>
                <a:cxnSpLocks/>
                <a:stCxn id="436" idx="2"/>
              </p:cNvCxnSpPr>
              <p:nvPr/>
            </p:nvCxnSpPr>
            <p:spPr>
              <a:xfrm>
                <a:off x="5966722" y="4589678"/>
                <a:ext cx="4143" cy="58088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prstDash val="solid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33" name="グループ化 138">
                <a:extLst>
                  <a:ext uri="{FF2B5EF4-FFF2-40B4-BE49-F238E27FC236}">
                    <a16:creationId xmlns:a16="http://schemas.microsoft.com/office/drawing/2014/main" id="{B3C044D0-BE8F-F046-C688-BA4E5999DD2F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3343067" y="5189686"/>
                <a:ext cx="3611630" cy="1309108"/>
                <a:chOff x="4289083" y="8237024"/>
                <a:chExt cx="3611630" cy="1309108"/>
              </a:xfrm>
            </p:grpSpPr>
            <p:grpSp>
              <p:nvGrpSpPr>
                <p:cNvPr id="440" name="グループ化 139">
                  <a:extLst>
                    <a:ext uri="{FF2B5EF4-FFF2-40B4-BE49-F238E27FC236}">
                      <a16:creationId xmlns:a16="http://schemas.microsoft.com/office/drawing/2014/main" id="{37E5DD5D-3FB7-E9AA-14E3-1E4CD92838A8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4289083" y="8237024"/>
                  <a:ext cx="3611630" cy="1309108"/>
                  <a:chOff x="4289083" y="8260008"/>
                  <a:chExt cx="3611630" cy="1309108"/>
                </a:xfrm>
              </p:grpSpPr>
              <p:sp>
                <p:nvSpPr>
                  <p:cNvPr id="442" name="角丸四角形 141">
                    <a:extLst>
                      <a:ext uri="{FF2B5EF4-FFF2-40B4-BE49-F238E27FC236}">
                        <a16:creationId xmlns:a16="http://schemas.microsoft.com/office/drawing/2014/main" id="{F5EEB51A-2570-BA68-9D01-A7FF7DEAB78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289083" y="8260008"/>
                    <a:ext cx="3490927" cy="1309108"/>
                  </a:xfrm>
                  <a:prstGeom prst="roundRect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/>
                  </a:p>
                </p:txBody>
              </p:sp>
              <p:sp>
                <p:nvSpPr>
                  <p:cNvPr id="443" name="テキスト ボックス 142">
                    <a:extLst>
                      <a:ext uri="{FF2B5EF4-FFF2-40B4-BE49-F238E27FC236}">
                        <a16:creationId xmlns:a16="http://schemas.microsoft.com/office/drawing/2014/main" id="{7FF239BC-D2D9-0942-5CAC-4617F098F03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4473674" y="8294099"/>
                    <a:ext cx="3427039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400" b="1" dirty="0"/>
                      <a:t>Parameter Estimation</a:t>
                    </a:r>
                    <a:endParaRPr lang="ja-JP" altLang="en-US" sz="2400" b="1" dirty="0"/>
                  </a:p>
                </p:txBody>
              </p:sp>
              <p:sp>
                <p:nvSpPr>
                  <p:cNvPr id="444" name="角丸四角形 143">
                    <a:extLst>
                      <a:ext uri="{FF2B5EF4-FFF2-40B4-BE49-F238E27FC236}">
                        <a16:creationId xmlns:a16="http://schemas.microsoft.com/office/drawing/2014/main" id="{1444EC9A-184A-9621-1A82-41D555CCA089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694198" y="8776287"/>
                    <a:ext cx="2718860" cy="659537"/>
                  </a:xfrm>
                  <a:prstGeom prst="round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/>
                  </a:p>
                </p:txBody>
              </p:sp>
            </p:grpSp>
            <p:sp>
              <p:nvSpPr>
                <p:cNvPr id="441" name="テキスト ボックス 140">
                  <a:extLst>
                    <a:ext uri="{FF2B5EF4-FFF2-40B4-BE49-F238E27FC236}">
                      <a16:creationId xmlns:a16="http://schemas.microsoft.com/office/drawing/2014/main" id="{CFC0E88E-23E1-9D65-AF82-10F3B779314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28057" y="8863648"/>
                  <a:ext cx="166651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b="1" dirty="0"/>
                    <a:t>SSOGMM</a:t>
                  </a:r>
                  <a:endParaRPr lang="ja-JP" altLang="en-US" sz="2400" b="1" dirty="0"/>
                </a:p>
              </p:txBody>
            </p:sp>
          </p:grpSp>
          <p:cxnSp>
            <p:nvCxnSpPr>
              <p:cNvPr id="434" name="直線矢印コネクタ 144">
                <a:extLst>
                  <a:ext uri="{FF2B5EF4-FFF2-40B4-BE49-F238E27FC236}">
                    <a16:creationId xmlns:a16="http://schemas.microsoft.com/office/drawing/2014/main" id="{1022F57B-7C4E-8C90-FDD4-A0C4A40471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33995" y="5844240"/>
                <a:ext cx="62946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5" name="テキスト ボックス 145">
                    <a:extLst>
                      <a:ext uri="{FF2B5EF4-FFF2-40B4-BE49-F238E27FC236}">
                        <a16:creationId xmlns:a16="http://schemas.microsoft.com/office/drawing/2014/main" id="{AC98AA7D-D028-EF7F-66AD-33976DE62B8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7061851" y="5446978"/>
                    <a:ext cx="372474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2400"/>
                  </a:p>
                </p:txBody>
              </p:sp>
            </mc:Choice>
            <mc:Fallback>
              <p:sp>
                <p:nvSpPr>
                  <p:cNvPr id="435" name="テキスト ボックス 145">
                    <a:extLst>
                      <a:ext uri="{FF2B5EF4-FFF2-40B4-BE49-F238E27FC236}">
                        <a16:creationId xmlns:a16="http://schemas.microsoft.com/office/drawing/2014/main" id="{AC98AA7D-D028-EF7F-66AD-33976DE62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61851" y="5446978"/>
                    <a:ext cx="372474" cy="369332"/>
                  </a:xfrm>
                  <a:prstGeom prst="rect">
                    <a:avLst/>
                  </a:prstGeom>
                  <a:blipFill>
                    <a:blip r:embed="rId64"/>
                    <a:stretch>
                      <a:fillRect l="-1562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36" name="角丸四角形 168">
                <a:extLst>
                  <a:ext uri="{FF2B5EF4-FFF2-40B4-BE49-F238E27FC236}">
                    <a16:creationId xmlns:a16="http://schemas.microsoft.com/office/drawing/2014/main" id="{AF8BAF68-004E-4D5C-9248-AB15C72D7F8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045235" y="2763288"/>
                <a:ext cx="1842973" cy="182639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437" name="テキスト ボックス 169">
                <a:extLst>
                  <a:ext uri="{FF2B5EF4-FFF2-40B4-BE49-F238E27FC236}">
                    <a16:creationId xmlns:a16="http://schemas.microsoft.com/office/drawing/2014/main" id="{8A3CD8D7-3873-D9A5-EDC4-7B7804BEE9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93632" y="3199429"/>
                <a:ext cx="1897657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2800" b="1" dirty="0"/>
                  <a:t>Mode </a:t>
                </a:r>
                <a:br>
                  <a:rPr lang="en-US" altLang="ja-JP" sz="2800" b="1" dirty="0"/>
                </a:br>
                <a:r>
                  <a:rPr lang="en-US" altLang="ja-JP" sz="2800" b="1" dirty="0"/>
                  <a:t>Estimator</a:t>
                </a:r>
                <a:endParaRPr lang="ja-JP" altLang="en-US" sz="2800" dirty="0"/>
              </a:p>
            </p:txBody>
          </p:sp>
          <p:sp>
            <p:nvSpPr>
              <p:cNvPr id="438" name="テキスト ボックス 93">
                <a:extLst>
                  <a:ext uri="{FF2B5EF4-FFF2-40B4-BE49-F238E27FC236}">
                    <a16:creationId xmlns:a16="http://schemas.microsoft.com/office/drawing/2014/main" id="{1A0B3BA1-755F-DE0C-AAE6-B1F992DB644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01038" y="3005609"/>
                <a:ext cx="11914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b="1" dirty="0"/>
                  <a:t>Glucose</a:t>
                </a:r>
                <a:endParaRPr lang="ja-JP" altLang="en-US" sz="2400" b="1" dirty="0"/>
              </a:p>
            </p:txBody>
          </p:sp>
          <p:sp>
            <p:nvSpPr>
              <p:cNvPr id="439" name="テキスト ボックス 93">
                <a:extLst>
                  <a:ext uri="{FF2B5EF4-FFF2-40B4-BE49-F238E27FC236}">
                    <a16:creationId xmlns:a16="http://schemas.microsoft.com/office/drawing/2014/main" id="{B6B4E3D4-EA11-7A75-9CCD-6F7BA24FA2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291" y="4649290"/>
                <a:ext cx="9396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b="1" dirty="0"/>
                  <a:t>Mode</a:t>
                </a:r>
                <a:endParaRPr lang="ja-JP" altLang="en-US" sz="2400" b="1"/>
              </a:p>
            </p:txBody>
          </p:sp>
        </p:grpSp>
      </p:grpSp>
      <p:sp>
        <p:nvSpPr>
          <p:cNvPr id="447" name="TextBox 1278">
            <a:extLst>
              <a:ext uri="{FF2B5EF4-FFF2-40B4-BE49-F238E27FC236}">
                <a16:creationId xmlns:a16="http://schemas.microsoft.com/office/drawing/2014/main" id="{667E363E-F84C-6A85-32FE-E4DF805159BB}"/>
              </a:ext>
            </a:extLst>
          </p:cNvPr>
          <p:cNvSpPr txBox="1">
            <a:spLocks/>
          </p:cNvSpPr>
          <p:nvPr/>
        </p:nvSpPr>
        <p:spPr>
          <a:xfrm>
            <a:off x="455270" y="41072006"/>
            <a:ext cx="2649067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[1] </a:t>
            </a:r>
            <a:r>
              <a:rPr lang="en-US" sz="1600" b="0" i="0" dirty="0">
                <a:solidFill>
                  <a:srgbClr val="1B1B1B"/>
                </a:solidFill>
                <a:effectLst/>
                <a:latin typeface="Roboto Mono Web"/>
              </a:rPr>
              <a:t>Magni L, Raimondo DM, Man CD, Breton M, Patek S, Nicolao GD, Cobelli C, Kovatchev BP: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Evaluating the efficacy of closed-loop glucose regulation via control-variability grid analysis</a:t>
            </a:r>
            <a:r>
              <a:rPr kumimoji="1" lang="en-US" altLang="ja-JP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Journal of Diabetes Science and Technology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(2008)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[2] Man CD, Micheletto F,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Breton M, Kovatchev B, Cobelli C: The UVA/PADOVA Type 1 Diabetes Simulator: New Features, </a:t>
            </a:r>
            <a:r>
              <a:rPr lang="en-US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Journal of Diabetes Science and Technology (2014)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[3]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三輪 雄太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平田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健二，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Tam Nguyen,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和佐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泰明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内田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健康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: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グルコース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–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インスリン動態切り換えモデルの構築およびパラメータ推定に関する考察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第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11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回計測自動制御学会制御部門マルチシンポジウム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(2024)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[4]Patek SD,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Ortiz EA, Hughes-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Karvetski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C, Kulkarni S, Zhang Q, Breton MD: Empirical Representation of Blood Glucose Variability in a Compartmental Model (2015)</a:t>
            </a:r>
            <a:endParaRPr lang="en" altLang="ja-JP" dirty="0">
              <a:latin typeface="メイリオ" panose="020B0604030504040204" pitchFamily="34" charset="-128"/>
            </a:endParaRPr>
          </a:p>
        </p:txBody>
      </p:sp>
      <p:sp>
        <p:nvSpPr>
          <p:cNvPr id="450" name="正方形/長方形 449">
            <a:extLst>
              <a:ext uri="{FF2B5EF4-FFF2-40B4-BE49-F238E27FC236}">
                <a16:creationId xmlns:a16="http://schemas.microsoft.com/office/drawing/2014/main" id="{6F3769E0-6D2F-3A2F-E979-D2D92DA21943}"/>
              </a:ext>
            </a:extLst>
          </p:cNvPr>
          <p:cNvSpPr>
            <a:spLocks/>
          </p:cNvSpPr>
          <p:nvPr/>
        </p:nvSpPr>
        <p:spPr>
          <a:xfrm>
            <a:off x="15339739" y="37252250"/>
            <a:ext cx="14391696" cy="3372402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51" name="テキスト ボックス 450">
            <a:extLst>
              <a:ext uri="{FF2B5EF4-FFF2-40B4-BE49-F238E27FC236}">
                <a16:creationId xmlns:a16="http://schemas.microsoft.com/office/drawing/2014/main" id="{AAE99263-5342-149A-3E01-90DE11995543}"/>
              </a:ext>
            </a:extLst>
          </p:cNvPr>
          <p:cNvSpPr txBox="1"/>
          <p:nvPr/>
        </p:nvSpPr>
        <p:spPr>
          <a:xfrm>
            <a:off x="15700000" y="37623741"/>
            <a:ext cx="520054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結論</a:t>
            </a:r>
            <a:endParaRPr lang="ja-JP" altLang="en-US" sz="4400" dirty="0"/>
          </a:p>
        </p:txBody>
      </p:sp>
    </p:spTree>
    <p:extLst>
      <p:ext uri="{BB962C8B-B14F-4D97-AF65-F5344CB8AC3E}">
        <p14:creationId xmlns:p14="http://schemas.microsoft.com/office/powerpoint/2010/main" val="2500380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6274</TotalTime>
  <Words>645</Words>
  <Application>Microsoft Office PowerPoint</Application>
  <PresentationFormat>ユーザー設定</PresentationFormat>
  <Paragraphs>123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13" baseType="lpstr">
      <vt:lpstr>Hiragino Kaku Gothic ProN W3</vt:lpstr>
      <vt:lpstr>Roboto Mono Web</vt:lpstr>
      <vt:lpstr>Meiryo</vt:lpstr>
      <vt:lpstr>Meiryo</vt:lpstr>
      <vt:lpstr>游ゴシック</vt:lpstr>
      <vt:lpstr>游ゴシック Light</vt:lpstr>
      <vt:lpstr>Aptos</vt:lpstr>
      <vt:lpstr>Arial</vt:lpstr>
      <vt:lpstr>Cambria Math</vt:lpstr>
      <vt:lpstr>Helvetica</vt:lpstr>
      <vt:lpstr>Roboto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雄太 三輪</dc:creator>
  <cp:lastModifiedBy>田辺　裕翔</cp:lastModifiedBy>
  <cp:revision>53</cp:revision>
  <cp:lastPrinted>2025-10-27T06:09:31Z</cp:lastPrinted>
  <dcterms:created xsi:type="dcterms:W3CDTF">2024-11-18T03:53:27Z</dcterms:created>
  <dcterms:modified xsi:type="dcterms:W3CDTF">2025-12-02T16:14:30Z</dcterms:modified>
</cp:coreProperties>
</file>