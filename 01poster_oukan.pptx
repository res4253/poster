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30275213" cy="4280376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43" autoAdjust="0"/>
    <p:restoredTop sz="94132" autoAdjust="0"/>
  </p:normalViewPr>
  <p:slideViewPr>
    <p:cSldViewPr snapToGrid="0">
      <p:cViewPr>
        <p:scale>
          <a:sx n="35" d="100"/>
          <a:sy n="35" d="100"/>
        </p:scale>
        <p:origin x="864" y="144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DB59BBA-6D1F-D8FC-C886-3C1DD5E64F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en-US" altLang="ja-JP"/>
              <a:t>CHPS Camp 2025.10.30-31</a:t>
            </a:r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062750C-2E32-2A89-F06C-ACBBB55C81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4F44F-C54D-4C9B-8D0A-99995B90894A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1886D0-5020-6E9E-477E-C685F9DD6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C83648-A312-ABC9-A83B-CAA13C651A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F15C7-33BD-48FA-8EB2-28704FE99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88130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JP"/>
              <a:t>CHPS Camp 2025.10.30-31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D0D6B-84F8-0A45-ADC1-3C71FDF4AF14}" type="datetimeFigureOut">
              <a:rPr lang="en-JP" smtClean="0"/>
              <a:t>12/8/25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5B43D-A405-FB4F-8CE2-7FADAE26F5C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3855969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混合整数非線形計画問題</a:t>
            </a:r>
            <a:endParaRPr kumimoji="1" lang="en-US" altLang="ja-JP" dirty="0"/>
          </a:p>
          <a:p>
            <a:r>
              <a:rPr kumimoji="1" lang="ja-JP" altLang="en-US" dirty="0"/>
              <a:t>非線形計画問題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ヘッダー プレースホルダー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JP"/>
              <a:t>CHPS Camp 2025.10.30-31</a:t>
            </a:r>
          </a:p>
        </p:txBody>
      </p:sp>
    </p:spTree>
    <p:extLst>
      <p:ext uri="{BB962C8B-B14F-4D97-AF65-F5344CB8AC3E}">
        <p14:creationId xmlns:p14="http://schemas.microsoft.com/office/powerpoint/2010/main" val="2982885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C7058-F17E-372F-2227-B466C25E4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402" y="7005156"/>
            <a:ext cx="22706410" cy="14902051"/>
          </a:xfrm>
        </p:spPr>
        <p:txBody>
          <a:bodyPr anchor="b"/>
          <a:lstStyle>
            <a:lvl1pPr algn="ctr">
              <a:defRPr sz="14899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96F9BA-4AC8-D47F-C711-CF450758F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5960"/>
            </a:lvl1pPr>
            <a:lvl2pPr marL="1135319" indent="0" algn="ctr">
              <a:buNone/>
              <a:defRPr sz="4966"/>
            </a:lvl2pPr>
            <a:lvl3pPr marL="2270638" indent="0" algn="ctr">
              <a:buNone/>
              <a:defRPr sz="4470"/>
            </a:lvl3pPr>
            <a:lvl4pPr marL="3405957" indent="0" algn="ctr">
              <a:buNone/>
              <a:defRPr sz="3973"/>
            </a:lvl4pPr>
            <a:lvl5pPr marL="4541276" indent="0" algn="ctr">
              <a:buNone/>
              <a:defRPr sz="3973"/>
            </a:lvl5pPr>
            <a:lvl6pPr marL="5676595" indent="0" algn="ctr">
              <a:buNone/>
              <a:defRPr sz="3973"/>
            </a:lvl6pPr>
            <a:lvl7pPr marL="6811914" indent="0" algn="ctr">
              <a:buNone/>
              <a:defRPr sz="3973"/>
            </a:lvl7pPr>
            <a:lvl8pPr marL="7947233" indent="0" algn="ctr">
              <a:buNone/>
              <a:defRPr sz="3973"/>
            </a:lvl8pPr>
            <a:lvl9pPr marL="9082552" indent="0" algn="ctr">
              <a:buNone/>
              <a:defRPr sz="3973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E6E078-B0A8-374F-EEE2-BB8AE590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ECF2-E9B2-44FB-B3C1-6F1ABD30BEDF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7D9B88-7E67-3A0A-7434-BF334341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687A79-BD80-313C-26A8-1BE6A93F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2272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46E98E-09E5-3F2D-030F-92C84C21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FF4D60-3ABD-400D-6231-07E0D1993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D0A8B1-EECB-4B78-C2E9-411FF934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2299-8DBC-4245-87C6-3E62A2ACA6A6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34C8DA-6683-B216-9F92-1C4A9E73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535CEF-8357-4950-9D77-D3433599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30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E4848E-6E15-DA42-FBCF-18256E7A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53" y="10671222"/>
            <a:ext cx="26112371" cy="17805173"/>
          </a:xfrm>
        </p:spPr>
        <p:txBody>
          <a:bodyPr anchor="b"/>
          <a:lstStyle>
            <a:lvl1pPr>
              <a:defRPr sz="14899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71054B-BD25-652E-D031-ED6D3F976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653" y="28644839"/>
            <a:ext cx="26112371" cy="9363320"/>
          </a:xfrm>
        </p:spPr>
        <p:txBody>
          <a:bodyPr/>
          <a:lstStyle>
            <a:lvl1pPr marL="0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1pPr>
            <a:lvl2pPr marL="1135319" indent="0">
              <a:buNone/>
              <a:defRPr sz="4966">
                <a:solidFill>
                  <a:schemeClr val="tx1">
                    <a:tint val="82000"/>
                  </a:schemeClr>
                </a:solidFill>
              </a:defRPr>
            </a:lvl2pPr>
            <a:lvl3pPr marL="2270638" indent="0">
              <a:buNone/>
              <a:defRPr sz="4470">
                <a:solidFill>
                  <a:schemeClr val="tx1">
                    <a:tint val="82000"/>
                  </a:schemeClr>
                </a:solidFill>
              </a:defRPr>
            </a:lvl3pPr>
            <a:lvl4pPr marL="3405957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4pPr>
            <a:lvl5pPr marL="4541276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5pPr>
            <a:lvl6pPr marL="5676595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6pPr>
            <a:lvl7pPr marL="6811914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7pPr>
            <a:lvl8pPr marL="7947233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8pPr>
            <a:lvl9pPr marL="9082552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6EB535-9065-0F2F-033D-AA979BBE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90C1E-006A-471F-A583-7AAA8224009B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ACCFF7-4082-1DB5-A7C0-5986452E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4DDFD6-C63B-115B-B22F-F68EFBA8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70542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EAC84D-1EDC-EF0F-3CC3-C4744D8C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46B91D-04C0-A593-3934-9401915D9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B49D94-E4D5-516B-F9B0-5735DA287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4A894F-C2D2-300F-7E75-720D759E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F39A-FAA3-4B27-BC07-2AA343CBE051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3C73C4-49DD-6A52-84A6-30745B29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A29D12-1276-FBEA-6E77-44A6AC46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8456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433CB0-71BD-0B16-2C63-06F40D7B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4" y="2278907"/>
            <a:ext cx="26112371" cy="827341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74872C-2B12-26C2-C119-BADD87279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365" y="10492870"/>
            <a:ext cx="12807833" cy="5142393"/>
          </a:xfrm>
        </p:spPr>
        <p:txBody>
          <a:bodyPr anchor="b"/>
          <a:lstStyle>
            <a:lvl1pPr marL="0" indent="0">
              <a:buNone/>
              <a:defRPr sz="5960" b="1"/>
            </a:lvl1pPr>
            <a:lvl2pPr marL="1135319" indent="0">
              <a:buNone/>
              <a:defRPr sz="4966" b="1"/>
            </a:lvl2pPr>
            <a:lvl3pPr marL="2270638" indent="0">
              <a:buNone/>
              <a:defRPr sz="4470" b="1"/>
            </a:lvl3pPr>
            <a:lvl4pPr marL="3405957" indent="0">
              <a:buNone/>
              <a:defRPr sz="3973" b="1"/>
            </a:lvl4pPr>
            <a:lvl5pPr marL="4541276" indent="0">
              <a:buNone/>
              <a:defRPr sz="3973" b="1"/>
            </a:lvl5pPr>
            <a:lvl6pPr marL="5676595" indent="0">
              <a:buNone/>
              <a:defRPr sz="3973" b="1"/>
            </a:lvl6pPr>
            <a:lvl7pPr marL="6811914" indent="0">
              <a:buNone/>
              <a:defRPr sz="3973" b="1"/>
            </a:lvl7pPr>
            <a:lvl8pPr marL="7947233" indent="0">
              <a:buNone/>
              <a:defRPr sz="3973" b="1"/>
            </a:lvl8pPr>
            <a:lvl9pPr marL="9082552" indent="0">
              <a:buNone/>
              <a:defRPr sz="3973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59AD27-0A5A-BC42-A4B3-3EF5C74FA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365" y="15635264"/>
            <a:ext cx="12807833" cy="2299711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6EE6D99-284F-9D5E-CBC3-7A8D787DE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26827" y="10492870"/>
            <a:ext cx="12870909" cy="5142393"/>
          </a:xfrm>
        </p:spPr>
        <p:txBody>
          <a:bodyPr anchor="b"/>
          <a:lstStyle>
            <a:lvl1pPr marL="0" indent="0">
              <a:buNone/>
              <a:defRPr sz="5960" b="1"/>
            </a:lvl1pPr>
            <a:lvl2pPr marL="1135319" indent="0">
              <a:buNone/>
              <a:defRPr sz="4966" b="1"/>
            </a:lvl2pPr>
            <a:lvl3pPr marL="2270638" indent="0">
              <a:buNone/>
              <a:defRPr sz="4470" b="1"/>
            </a:lvl3pPr>
            <a:lvl4pPr marL="3405957" indent="0">
              <a:buNone/>
              <a:defRPr sz="3973" b="1"/>
            </a:lvl4pPr>
            <a:lvl5pPr marL="4541276" indent="0">
              <a:buNone/>
              <a:defRPr sz="3973" b="1"/>
            </a:lvl5pPr>
            <a:lvl6pPr marL="5676595" indent="0">
              <a:buNone/>
              <a:defRPr sz="3973" b="1"/>
            </a:lvl6pPr>
            <a:lvl7pPr marL="6811914" indent="0">
              <a:buNone/>
              <a:defRPr sz="3973" b="1"/>
            </a:lvl7pPr>
            <a:lvl8pPr marL="7947233" indent="0">
              <a:buNone/>
              <a:defRPr sz="3973" b="1"/>
            </a:lvl8pPr>
            <a:lvl9pPr marL="9082552" indent="0">
              <a:buNone/>
              <a:defRPr sz="3973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26228A4-2E17-1C8C-0269-A48CF8D12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26827" y="15635264"/>
            <a:ext cx="12870909" cy="2299711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697EBAC-EA3C-FC72-09C1-7E52E868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D22A-55F2-4547-A5CA-A5A999E6556D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BF6A1C3-9D79-EF58-6440-46FA21BE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15C9C54-6ABB-EBA4-8A6E-B6F90C85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9500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E74465-7FB9-FFDB-5372-EC76AAA4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F0455F-FFF0-F9DA-340E-329FFF24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EEDF-E3BE-4535-8538-9CF15E9FEAAB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2172AED-DB60-7AF8-4CB1-FBBF4609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7A93A3-B6E9-45DC-D658-FF86F9BB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8021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DC4AA7-1391-A576-DDA0-03634997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45DA-CECE-4290-9A52-6E01FD60E4F0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3025198-A93D-F802-4B7D-52114A11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77640C-57E2-47B7-953A-2DA4E322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4616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3B808A-A6CF-9A2A-F238-AE46D353D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7946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C3E228-FBA3-6B0C-898B-81C54A654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>
              <a:defRPr sz="7946"/>
            </a:lvl1pPr>
            <a:lvl2pPr>
              <a:defRPr sz="6953"/>
            </a:lvl2pPr>
            <a:lvl3pPr>
              <a:defRPr sz="5960"/>
            </a:lvl3pPr>
            <a:lvl4pPr>
              <a:defRPr sz="4966"/>
            </a:lvl4pPr>
            <a:lvl5pPr>
              <a:defRPr sz="4966"/>
            </a:lvl5pPr>
            <a:lvl6pPr>
              <a:defRPr sz="4966"/>
            </a:lvl6pPr>
            <a:lvl7pPr>
              <a:defRPr sz="4966"/>
            </a:lvl7pPr>
            <a:lvl8pPr>
              <a:defRPr sz="4966"/>
            </a:lvl8pPr>
            <a:lvl9pPr>
              <a:defRPr sz="4966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B8C242-9ADD-80F9-8035-C6D48E3C7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3973"/>
            </a:lvl1pPr>
            <a:lvl2pPr marL="1135319" indent="0">
              <a:buNone/>
              <a:defRPr sz="3476"/>
            </a:lvl2pPr>
            <a:lvl3pPr marL="2270638" indent="0">
              <a:buNone/>
              <a:defRPr sz="2980"/>
            </a:lvl3pPr>
            <a:lvl4pPr marL="3405957" indent="0">
              <a:buNone/>
              <a:defRPr sz="2483"/>
            </a:lvl4pPr>
            <a:lvl5pPr marL="4541276" indent="0">
              <a:buNone/>
              <a:defRPr sz="2483"/>
            </a:lvl5pPr>
            <a:lvl6pPr marL="5676595" indent="0">
              <a:buNone/>
              <a:defRPr sz="2483"/>
            </a:lvl6pPr>
            <a:lvl7pPr marL="6811914" indent="0">
              <a:buNone/>
              <a:defRPr sz="2483"/>
            </a:lvl7pPr>
            <a:lvl8pPr marL="7947233" indent="0">
              <a:buNone/>
              <a:defRPr sz="2483"/>
            </a:lvl8pPr>
            <a:lvl9pPr marL="9082552" indent="0">
              <a:buNone/>
              <a:defRPr sz="248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27236D-6CD4-B2EB-EE21-85EF91A7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06D8A-3A14-4426-A8F0-6A46E306C20B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892A41-3367-1F26-AFD8-FB7BE38B1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E9165D-48FA-278C-F3E8-A3876430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4966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17AD7F-F958-8B77-9EB2-668DD869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7946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6E6A48-783B-7A67-EE52-D8507BF70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 marL="0" indent="0">
              <a:buNone/>
              <a:defRPr sz="7946"/>
            </a:lvl1pPr>
            <a:lvl2pPr marL="1135319" indent="0">
              <a:buNone/>
              <a:defRPr sz="6953"/>
            </a:lvl2pPr>
            <a:lvl3pPr marL="2270638" indent="0">
              <a:buNone/>
              <a:defRPr sz="5960"/>
            </a:lvl3pPr>
            <a:lvl4pPr marL="3405957" indent="0">
              <a:buNone/>
              <a:defRPr sz="4966"/>
            </a:lvl4pPr>
            <a:lvl5pPr marL="4541276" indent="0">
              <a:buNone/>
              <a:defRPr sz="4966"/>
            </a:lvl5pPr>
            <a:lvl6pPr marL="5676595" indent="0">
              <a:buNone/>
              <a:defRPr sz="4966"/>
            </a:lvl6pPr>
            <a:lvl7pPr marL="6811914" indent="0">
              <a:buNone/>
              <a:defRPr sz="4966"/>
            </a:lvl7pPr>
            <a:lvl8pPr marL="7947233" indent="0">
              <a:buNone/>
              <a:defRPr sz="4966"/>
            </a:lvl8pPr>
            <a:lvl9pPr marL="9082552" indent="0">
              <a:buNone/>
              <a:defRPr sz="4966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EFF546-7EE5-E5DD-65A4-7999A9184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3973"/>
            </a:lvl1pPr>
            <a:lvl2pPr marL="1135319" indent="0">
              <a:buNone/>
              <a:defRPr sz="3476"/>
            </a:lvl2pPr>
            <a:lvl3pPr marL="2270638" indent="0">
              <a:buNone/>
              <a:defRPr sz="2980"/>
            </a:lvl3pPr>
            <a:lvl4pPr marL="3405957" indent="0">
              <a:buNone/>
              <a:defRPr sz="2483"/>
            </a:lvl4pPr>
            <a:lvl5pPr marL="4541276" indent="0">
              <a:buNone/>
              <a:defRPr sz="2483"/>
            </a:lvl5pPr>
            <a:lvl6pPr marL="5676595" indent="0">
              <a:buNone/>
              <a:defRPr sz="2483"/>
            </a:lvl6pPr>
            <a:lvl7pPr marL="6811914" indent="0">
              <a:buNone/>
              <a:defRPr sz="2483"/>
            </a:lvl7pPr>
            <a:lvl8pPr marL="7947233" indent="0">
              <a:buNone/>
              <a:defRPr sz="2483"/>
            </a:lvl8pPr>
            <a:lvl9pPr marL="9082552" indent="0">
              <a:buNone/>
              <a:defRPr sz="248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FE1794-69CF-49F2-4D28-409C7C40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1F37-E86F-4380-AB65-0EB41FBEEA80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6E2E1C-0AA6-0FDC-B6B3-18ADD3D8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C2489E-272F-3A55-084A-8D9E3C47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2948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040D0-1BE0-4013-1632-2D5256A4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9FA83F-3F1A-BC10-DDB0-28793AD2C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FB878B-2CBD-26E6-8E9D-7B27252F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6868-4E8C-4E9E-B32E-86466688C38E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BF4A35-4A4A-285F-1A13-04896682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3A7FA2-EE78-DB17-8FB2-B0CD7C1B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5959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1FCCFB-8BEE-E0BB-0380-637AA5F22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665699" y="2278904"/>
            <a:ext cx="6528093" cy="36274211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41511C-9031-4025-CFBA-BA9E65F1F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81421" y="2278904"/>
            <a:ext cx="19205838" cy="36274211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BA36F5-3740-30BB-71BD-4D6276D3B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9D8D-BF18-40AE-BFF4-DB66FCFC9271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B1005-5A7C-8CC7-52A8-34C7D422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6842DC-9B29-68C3-5A39-4C602599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3880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ECECF5-3310-F538-5C12-9BDA1C3C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21" y="2278907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CC539E-2A49-BD8F-515F-04EA8DBE0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04B298-C42A-959C-A700-BB16E2648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81421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F68B4-EECE-4B65-B2C5-259CAB63F02A}" type="datetime1">
              <a:rPr lang="LID4096" altLang="ja-JP" smtClean="0"/>
              <a:t>12/8/25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C28AD9-9251-5038-E7E7-59234740F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8665" y="39672750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EA4FDD-3782-E177-EE0E-22C891F73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81869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6102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2270638" rtl="0" eaLnBrk="1" latinLnBrk="0" hangingPunct="1">
        <a:lnSpc>
          <a:spcPct val="90000"/>
        </a:lnSpc>
        <a:spcBef>
          <a:spcPct val="0"/>
        </a:spcBef>
        <a:buNone/>
        <a:defRPr kumimoji="1" sz="10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7660" indent="-567660" algn="l" defTabSz="2270638" rtl="0" eaLnBrk="1" latinLnBrk="0" hangingPunct="1">
        <a:lnSpc>
          <a:spcPct val="90000"/>
        </a:lnSpc>
        <a:spcBef>
          <a:spcPts val="2483"/>
        </a:spcBef>
        <a:buFont typeface="Arial" panose="020B0604020202020204" pitchFamily="34" charset="0"/>
        <a:buChar char="•"/>
        <a:defRPr kumimoji="1" sz="6953" kern="1200">
          <a:solidFill>
            <a:schemeClr val="tx1"/>
          </a:solidFill>
          <a:latin typeface="+mn-lt"/>
          <a:ea typeface="+mn-ea"/>
          <a:cs typeface="+mn-cs"/>
        </a:defRPr>
      </a:lvl1pPr>
      <a:lvl2pPr marL="1702979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2838298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966" kern="1200">
          <a:solidFill>
            <a:schemeClr val="tx1"/>
          </a:solidFill>
          <a:latin typeface="+mn-lt"/>
          <a:ea typeface="+mn-ea"/>
          <a:cs typeface="+mn-cs"/>
        </a:defRPr>
      </a:lvl3pPr>
      <a:lvl4pPr marL="3973617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5108936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6244255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7379574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8514893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650212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1pPr>
      <a:lvl2pPr marL="1135319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2pPr>
      <a:lvl3pPr marL="2270638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3pPr>
      <a:lvl4pPr marL="3405957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4541276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5676595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6811914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7947233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082552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.png"/><Relationship Id="rId55" Type="http://schemas.openxmlformats.org/officeDocument/2006/relationships/image" Target="../media/image44.png"/><Relationship Id="rId63" Type="http://schemas.openxmlformats.org/officeDocument/2006/relationships/image" Target="../media/image34.png"/><Relationship Id="rId68" Type="http://schemas.openxmlformats.org/officeDocument/2006/relationships/image" Target="../media/image4.png"/><Relationship Id="rId76" Type="http://schemas.openxmlformats.org/officeDocument/2006/relationships/image" Target="../media/image20.png"/><Relationship Id="rId71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16" Type="http://schemas.openxmlformats.org/officeDocument/2006/relationships/image" Target="../media/image14.png"/><Relationship Id="rId24" Type="http://schemas.openxmlformats.org/officeDocument/2006/relationships/image" Target="../media/image6.png"/><Relationship Id="rId53" Type="http://schemas.openxmlformats.org/officeDocument/2006/relationships/image" Target="../media/image42.png"/><Relationship Id="rId58" Type="http://schemas.openxmlformats.org/officeDocument/2006/relationships/image" Target="../media/image29.png"/><Relationship Id="rId66" Type="http://schemas.openxmlformats.org/officeDocument/2006/relationships/image" Target="../media/image2.png"/><Relationship Id="rId11" Type="http://schemas.openxmlformats.org/officeDocument/2006/relationships/image" Target="../media/image90.png"/><Relationship Id="rId74" Type="http://schemas.openxmlformats.org/officeDocument/2006/relationships/image" Target="../media/image18.png"/><Relationship Id="rId79" Type="http://schemas.openxmlformats.org/officeDocument/2006/relationships/image" Target="../media/image24.png"/><Relationship Id="rId23" Type="http://schemas.openxmlformats.org/officeDocument/2006/relationships/image" Target="../media/image21.png"/><Relationship Id="rId28" Type="http://schemas.openxmlformats.org/officeDocument/2006/relationships/image" Target="../media/image10.png"/><Relationship Id="rId57" Type="http://schemas.openxmlformats.org/officeDocument/2006/relationships/image" Target="../media/image46.png"/><Relationship Id="rId61" Type="http://schemas.openxmlformats.org/officeDocument/2006/relationships/image" Target="../media/image32.png"/><Relationship Id="rId15" Type="http://schemas.openxmlformats.org/officeDocument/2006/relationships/image" Target="../media/image13.png"/><Relationship Id="rId52" Type="http://schemas.openxmlformats.org/officeDocument/2006/relationships/image" Target="../media/image41.png"/><Relationship Id="rId60" Type="http://schemas.openxmlformats.org/officeDocument/2006/relationships/image" Target="../media/image31.png"/><Relationship Id="rId65" Type="http://schemas.openxmlformats.org/officeDocument/2006/relationships/image" Target="../media/image110.png"/><Relationship Id="rId10" Type="http://schemas.openxmlformats.org/officeDocument/2006/relationships/image" Target="../media/image80.png"/><Relationship Id="rId73" Type="http://schemas.openxmlformats.org/officeDocument/2006/relationships/image" Target="../media/image17.png"/><Relationship Id="rId78" Type="http://schemas.openxmlformats.org/officeDocument/2006/relationships/image" Target="../media/image23.png"/><Relationship Id="rId81" Type="http://schemas.openxmlformats.org/officeDocument/2006/relationships/image" Target="../media/image26.png"/><Relationship Id="rId27" Type="http://schemas.openxmlformats.org/officeDocument/2006/relationships/image" Target="../media/image9.png"/><Relationship Id="rId30" Type="http://schemas.openxmlformats.org/officeDocument/2006/relationships/image" Target="../media/image28.png"/><Relationship Id="rId56" Type="http://schemas.openxmlformats.org/officeDocument/2006/relationships/image" Target="../media/image45.png"/><Relationship Id="rId64" Type="http://schemas.openxmlformats.org/officeDocument/2006/relationships/image" Target="../media/image35.png"/><Relationship Id="rId69" Type="http://schemas.openxmlformats.org/officeDocument/2006/relationships/image" Target="../media/image50.png"/><Relationship Id="rId9" Type="http://schemas.openxmlformats.org/officeDocument/2006/relationships/image" Target="../media/image70.png"/><Relationship Id="rId14" Type="http://schemas.openxmlformats.org/officeDocument/2006/relationships/image" Target="../media/image12.png"/><Relationship Id="rId77" Type="http://schemas.openxmlformats.org/officeDocument/2006/relationships/image" Target="../media/image22.png"/><Relationship Id="rId8" Type="http://schemas.openxmlformats.org/officeDocument/2006/relationships/image" Target="../media/image60.png"/><Relationship Id="rId72" Type="http://schemas.openxmlformats.org/officeDocument/2006/relationships/image" Target="../media/image5.png"/><Relationship Id="rId80" Type="http://schemas.openxmlformats.org/officeDocument/2006/relationships/image" Target="../media/image25.png"/><Relationship Id="rId3" Type="http://schemas.openxmlformats.org/officeDocument/2006/relationships/image" Target="../media/image1.png"/><Relationship Id="rId25" Type="http://schemas.openxmlformats.org/officeDocument/2006/relationships/image" Target="../media/image7.png"/><Relationship Id="rId59" Type="http://schemas.openxmlformats.org/officeDocument/2006/relationships/image" Target="../media/image30.png"/><Relationship Id="rId67" Type="http://schemas.openxmlformats.org/officeDocument/2006/relationships/image" Target="../media/image3.png"/><Relationship Id="rId12" Type="http://schemas.openxmlformats.org/officeDocument/2006/relationships/image" Target="../media/image100.png"/><Relationship Id="rId17" Type="http://schemas.openxmlformats.org/officeDocument/2006/relationships/image" Target="../media/image15.png"/><Relationship Id="rId54" Type="http://schemas.openxmlformats.org/officeDocument/2006/relationships/image" Target="../media/image43.png"/><Relationship Id="rId62" Type="http://schemas.openxmlformats.org/officeDocument/2006/relationships/image" Target="../media/image33.png"/><Relationship Id="rId70" Type="http://schemas.openxmlformats.org/officeDocument/2006/relationships/image" Target="../media/image11.png"/><Relationship Id="rId75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EC49079A-525A-7E17-0F95-5DF8120AFF90}"/>
              </a:ext>
            </a:extLst>
          </p:cNvPr>
          <p:cNvGrpSpPr/>
          <p:nvPr/>
        </p:nvGrpSpPr>
        <p:grpSpPr>
          <a:xfrm>
            <a:off x="580100" y="424020"/>
            <a:ext cx="29227506" cy="2700000"/>
            <a:chOff x="551021" y="1219264"/>
            <a:chExt cx="29227506" cy="2700000"/>
          </a:xfrm>
          <a:solidFill>
            <a:schemeClr val="bg1"/>
          </a:solidFill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63602BB-5A0C-1842-50B6-9B7D670AC766}"/>
                </a:ext>
              </a:extLst>
            </p:cNvPr>
            <p:cNvSpPr/>
            <p:nvPr/>
          </p:nvSpPr>
          <p:spPr>
            <a:xfrm>
              <a:off x="551021" y="1219264"/>
              <a:ext cx="29227506" cy="2700000"/>
            </a:xfrm>
            <a:prstGeom prst="rect">
              <a:avLst/>
            </a:prstGeom>
            <a:grpFill/>
            <a:ln w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DC0B4C4-845C-F5B3-9893-B00FC469A730}"/>
                </a:ext>
              </a:extLst>
            </p:cNvPr>
            <p:cNvSpPr txBox="1"/>
            <p:nvPr/>
          </p:nvSpPr>
          <p:spPr>
            <a:xfrm>
              <a:off x="2280743" y="1460305"/>
              <a:ext cx="26134505" cy="923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ja-JP" altLang="en-US" sz="5400" b="1" i="0" u="none" strike="noStrike" dirty="0">
                  <a:effectLst/>
                  <a:latin typeface="Roboto" panose="02000000000000000000" pitchFamily="2" charset="0"/>
                </a:rPr>
                <a:t>グルコース</a:t>
              </a:r>
              <a:r>
                <a:rPr lang="en-US" altLang="ja-JP" sz="5400" b="1" i="0" u="none" strike="noStrike" dirty="0">
                  <a:effectLst/>
                  <a:latin typeface="Roboto" panose="02000000000000000000" pitchFamily="2" charset="0"/>
                </a:rPr>
                <a:t>–</a:t>
              </a:r>
              <a:r>
                <a:rPr lang="ja-JP" altLang="en-US" sz="5400" b="1" i="0" u="none" strike="noStrike" dirty="0">
                  <a:effectLst/>
                  <a:latin typeface="Roboto" panose="02000000000000000000" pitchFamily="2" charset="0"/>
                </a:rPr>
                <a:t>インスリン動態切り換えモデルに対する状態推定</a:t>
              </a:r>
              <a:r>
                <a:rPr lang="ja-JP" altLang="en-US" sz="5400" b="1" dirty="0">
                  <a:latin typeface="Roboto" panose="02000000000000000000" pitchFamily="2" charset="0"/>
                </a:rPr>
                <a:t>器の構築に関する考察</a:t>
              </a:r>
              <a:endParaRPr kumimoji="1" lang="ja-JP" altLang="en-US" sz="5400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8E73365-5806-BF36-19E8-DEDD7F79AA81}"/>
                </a:ext>
              </a:extLst>
            </p:cNvPr>
            <p:cNvSpPr txBox="1"/>
            <p:nvPr/>
          </p:nvSpPr>
          <p:spPr>
            <a:xfrm>
              <a:off x="6140047" y="2445030"/>
              <a:ext cx="17995111" cy="923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On Construction of a State Estimator for a Switched Glucose-insulin Dynamics Model</a:t>
              </a:r>
            </a:p>
            <a:p>
              <a:endParaRPr kumimoji="1" lang="ja-JP" altLang="en-US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A793E4A-42BB-629D-84C8-0C092AFA8C68}"/>
                </a:ext>
              </a:extLst>
            </p:cNvPr>
            <p:cNvSpPr txBox="1"/>
            <p:nvPr/>
          </p:nvSpPr>
          <p:spPr>
            <a:xfrm>
              <a:off x="11908627" y="3075555"/>
              <a:ext cx="6457950" cy="58001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3200" b="1" dirty="0"/>
                <a:t>田辺</a:t>
              </a:r>
              <a:r>
                <a:rPr kumimoji="1" lang="en-US" altLang="ja-JP" sz="3200" b="1" dirty="0"/>
                <a:t> </a:t>
              </a:r>
              <a:r>
                <a:rPr lang="ja-JP" altLang="en-US" sz="3200" b="1" dirty="0"/>
                <a:t>裕翔</a:t>
              </a:r>
              <a:r>
                <a:rPr lang="en-US" altLang="ja-JP" sz="3200" b="1" dirty="0"/>
                <a:t>   </a:t>
              </a:r>
              <a:r>
                <a:rPr lang="ja-JP" altLang="en-US" sz="3200" b="1" dirty="0"/>
                <a:t>平田</a:t>
              </a:r>
              <a:r>
                <a:rPr lang="en-US" altLang="ja-JP" sz="3200" b="1" dirty="0"/>
                <a:t> </a:t>
              </a:r>
              <a:r>
                <a:rPr lang="ja-JP" altLang="en-US" sz="3200" b="1" dirty="0"/>
                <a:t>研二</a:t>
              </a:r>
              <a:r>
                <a:rPr lang="en-US" altLang="ja-JP" sz="3200" b="1" dirty="0"/>
                <a:t>   (</a:t>
              </a:r>
              <a:r>
                <a:rPr lang="ja-JP" altLang="en-US" sz="3200" b="1" dirty="0"/>
                <a:t>富山大学</a:t>
              </a:r>
              <a:r>
                <a:rPr lang="en-US" altLang="ja-JP" sz="3200" b="1" dirty="0"/>
                <a:t>)</a:t>
              </a:r>
              <a:endParaRPr kumimoji="1" lang="ja-JP" altLang="en-US" sz="3200" b="1" dirty="0"/>
            </a:p>
          </p:txBody>
        </p:sp>
      </p:grp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AB61DBAC-5056-D499-9D79-715775F0B4E2}"/>
              </a:ext>
            </a:extLst>
          </p:cNvPr>
          <p:cNvSpPr>
            <a:spLocks/>
          </p:cNvSpPr>
          <p:nvPr/>
        </p:nvSpPr>
        <p:spPr>
          <a:xfrm>
            <a:off x="571832" y="3637127"/>
            <a:ext cx="14343722" cy="24879600"/>
          </a:xfrm>
          <a:prstGeom prst="rect">
            <a:avLst/>
          </a:pr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4AFEC21A-6718-B10F-4361-6B039B41BE5F}"/>
              </a:ext>
            </a:extLst>
          </p:cNvPr>
          <p:cNvSpPr txBox="1">
            <a:spLocks/>
          </p:cNvSpPr>
          <p:nvPr/>
        </p:nvSpPr>
        <p:spPr>
          <a:xfrm>
            <a:off x="1091399" y="3813369"/>
            <a:ext cx="46446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研究背景と目的</a:t>
            </a:r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A6D07511-C71D-3B75-FCDA-3CF414C8336B}"/>
              </a:ext>
            </a:extLst>
          </p:cNvPr>
          <p:cNvSpPr/>
          <p:nvPr/>
        </p:nvSpPr>
        <p:spPr>
          <a:xfrm>
            <a:off x="15487739" y="13499600"/>
            <a:ext cx="14324120" cy="23345004"/>
          </a:xfrm>
          <a:prstGeom prst="rect">
            <a:avLst/>
          </a:pr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049A6EE4-5433-993E-12A7-641868EDB83C}"/>
              </a:ext>
            </a:extLst>
          </p:cNvPr>
          <p:cNvSpPr txBox="1">
            <a:spLocks/>
          </p:cNvSpPr>
          <p:nvPr/>
        </p:nvSpPr>
        <p:spPr>
          <a:xfrm>
            <a:off x="15780424" y="13813651"/>
            <a:ext cx="138476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オブザーバと</a:t>
            </a:r>
            <a:r>
              <a:rPr lang="en-US" altLang="ja-JP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EKF</a:t>
            </a:r>
            <a:r>
              <a:rPr lang="ja-JP" alt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による状態推定結果の比較</a:t>
            </a:r>
            <a:endParaRPr lang="en-US" altLang="ja-JP" sz="44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0A3CECDF-A0B4-6F5C-FAB0-E131380D7146}"/>
              </a:ext>
            </a:extLst>
          </p:cNvPr>
          <p:cNvSpPr txBox="1"/>
          <p:nvPr/>
        </p:nvSpPr>
        <p:spPr>
          <a:xfrm>
            <a:off x="18430384" y="24608447"/>
            <a:ext cx="8393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オブザーバを用いた場合と血糖値の</a:t>
            </a:r>
            <a:r>
              <a:rPr kumimoji="1"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RMSE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F7D2EF-0F0E-E2BA-8F4B-B0472571717C}"/>
              </a:ext>
            </a:extLst>
          </p:cNvPr>
          <p:cNvSpPr txBox="1"/>
          <p:nvPr/>
        </p:nvSpPr>
        <p:spPr>
          <a:xfrm>
            <a:off x="19059320" y="34480647"/>
            <a:ext cx="712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EKF</a:t>
            </a:r>
            <a:r>
              <a:rPr kumimoji="1"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を用いた場合の血糖値の</a:t>
            </a:r>
            <a:r>
              <a:rPr kumimoji="1"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RMSE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AF4C8F1B-4B1B-EBCF-367A-ECD9617743B1}"/>
              </a:ext>
            </a:extLst>
          </p:cNvPr>
          <p:cNvSpPr txBox="1"/>
          <p:nvPr/>
        </p:nvSpPr>
        <p:spPr>
          <a:xfrm>
            <a:off x="15854296" y="14741793"/>
            <a:ext cx="3101904" cy="65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状態推定実験</a:t>
            </a:r>
          </a:p>
        </p:txBody>
      </p: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F6F79DF9-DD2A-8583-2018-5C7325E661D6}"/>
              </a:ext>
            </a:extLst>
          </p:cNvPr>
          <p:cNvCxnSpPr>
            <a:cxnSpLocks/>
          </p:cNvCxnSpPr>
          <p:nvPr/>
        </p:nvCxnSpPr>
        <p:spPr>
          <a:xfrm>
            <a:off x="15780424" y="14741793"/>
            <a:ext cx="0" cy="2729137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4F354D60-74D9-887B-F1A4-50E114B8AD14}"/>
              </a:ext>
            </a:extLst>
          </p:cNvPr>
          <p:cNvSpPr txBox="1"/>
          <p:nvPr/>
        </p:nvSpPr>
        <p:spPr>
          <a:xfrm>
            <a:off x="15854296" y="15379928"/>
            <a:ext cx="1333185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UVA/Padova</a:t>
            </a:r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モデルより</a:t>
            </a:r>
            <a:r>
              <a:rPr kumimoji="1"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日分の仮想的な入出力データ</a:t>
            </a:r>
            <a:r>
              <a:rPr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人分を作成</a:t>
            </a:r>
            <a:endParaRPr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オブザーバ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，</a:t>
            </a:r>
            <a:r>
              <a:rPr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EKF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を用いて状態推定を行う</a:t>
            </a:r>
            <a:endParaRPr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各状態推定結果に対して，推定された血糖値と</a:t>
            </a:r>
            <a:r>
              <a:rPr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UVA/Padova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モデルの</a:t>
            </a:r>
            <a:r>
              <a:rPr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RMSE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を計算</a:t>
            </a:r>
            <a:endParaRPr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801E7AD4-5689-EA0D-B498-B757469A544C}"/>
              </a:ext>
            </a:extLst>
          </p:cNvPr>
          <p:cNvSpPr>
            <a:spLocks/>
          </p:cNvSpPr>
          <p:nvPr/>
        </p:nvSpPr>
        <p:spPr>
          <a:xfrm>
            <a:off x="580100" y="28787808"/>
            <a:ext cx="14343722" cy="11866257"/>
          </a:xfrm>
          <a:custGeom>
            <a:avLst/>
            <a:gdLst>
              <a:gd name="csX0" fmla="*/ 0 w 14343722"/>
              <a:gd name="csY0" fmla="*/ 0 h 11866257"/>
              <a:gd name="csX1" fmla="*/ 14343722 w 14343722"/>
              <a:gd name="csY1" fmla="*/ 0 h 11866257"/>
              <a:gd name="csX2" fmla="*/ 14343722 w 14343722"/>
              <a:gd name="csY2" fmla="*/ 11866257 h 11866257"/>
              <a:gd name="csX3" fmla="*/ 0 w 14343722"/>
              <a:gd name="csY3" fmla="*/ 11866257 h 11866257"/>
              <a:gd name="csX4" fmla="*/ 0 w 14343722"/>
              <a:gd name="csY4" fmla="*/ 0 h 11866257"/>
              <a:gd name="csX0" fmla="*/ 0 w 14343722"/>
              <a:gd name="csY0" fmla="*/ 0 h 11866257"/>
              <a:gd name="csX1" fmla="*/ 14343722 w 14343722"/>
              <a:gd name="csY1" fmla="*/ 0 h 11866257"/>
              <a:gd name="csX2" fmla="*/ 14343722 w 14343722"/>
              <a:gd name="csY2" fmla="*/ 11866257 h 11866257"/>
              <a:gd name="csX3" fmla="*/ 0 w 14343722"/>
              <a:gd name="csY3" fmla="*/ 11866257 h 11866257"/>
              <a:gd name="csX4" fmla="*/ 0 w 14343722"/>
              <a:gd name="csY4" fmla="*/ 0 h 11866257"/>
              <a:gd name="csX0" fmla="*/ 0 w 14343722"/>
              <a:gd name="csY0" fmla="*/ 11866257 h 11957697"/>
              <a:gd name="csX1" fmla="*/ 0 w 14343722"/>
              <a:gd name="csY1" fmla="*/ 0 h 11957697"/>
              <a:gd name="csX2" fmla="*/ 14343722 w 14343722"/>
              <a:gd name="csY2" fmla="*/ 0 h 11957697"/>
              <a:gd name="csX3" fmla="*/ 14343722 w 14343722"/>
              <a:gd name="csY3" fmla="*/ 11866257 h 11957697"/>
              <a:gd name="csX4" fmla="*/ 91440 w 14343722"/>
              <a:gd name="csY4" fmla="*/ 11957697 h 11957697"/>
              <a:gd name="csX0" fmla="*/ 0 w 14343722"/>
              <a:gd name="csY0" fmla="*/ 11866257 h 11866257"/>
              <a:gd name="csX1" fmla="*/ 0 w 14343722"/>
              <a:gd name="csY1" fmla="*/ 0 h 11866257"/>
              <a:gd name="csX2" fmla="*/ 14343722 w 14343722"/>
              <a:gd name="csY2" fmla="*/ 0 h 11866257"/>
              <a:gd name="csX3" fmla="*/ 14343722 w 14343722"/>
              <a:gd name="csY3" fmla="*/ 11866257 h 118662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343722" h="11866257">
                <a:moveTo>
                  <a:pt x="0" y="11866257"/>
                </a:moveTo>
                <a:lnTo>
                  <a:pt x="0" y="0"/>
                </a:lnTo>
                <a:lnTo>
                  <a:pt x="14343722" y="0"/>
                </a:lnTo>
                <a:lnTo>
                  <a:pt x="14343722" y="11866257"/>
                </a:lnTo>
              </a:path>
            </a:pathLst>
          </a:cu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88CEAE84-36A8-BBC4-43DA-CE7DEA78A040}"/>
              </a:ext>
            </a:extLst>
          </p:cNvPr>
          <p:cNvSpPr txBox="1"/>
          <p:nvPr/>
        </p:nvSpPr>
        <p:spPr>
          <a:xfrm>
            <a:off x="1166338" y="29343901"/>
            <a:ext cx="110764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SSOGMM</a:t>
            </a:r>
            <a:r>
              <a:rPr lang="ja-JP" altLang="en-US" sz="4400" b="1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のパラメータ推定</a:t>
            </a:r>
            <a:r>
              <a:rPr lang="en-US" altLang="ja-JP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4400" b="1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状態推定</a:t>
            </a:r>
            <a:endParaRPr lang="ja-JP" altLang="en-US" sz="4400" dirty="0"/>
          </a:p>
        </p:txBody>
      </p:sp>
      <p:grpSp>
        <p:nvGrpSpPr>
          <p:cNvPr id="158" name="グループ化 157">
            <a:extLst>
              <a:ext uri="{FF2B5EF4-FFF2-40B4-BE49-F238E27FC236}">
                <a16:creationId xmlns:a16="http://schemas.microsoft.com/office/drawing/2014/main" id="{88A061C0-590B-1F34-6CBB-925E335436DA}"/>
              </a:ext>
            </a:extLst>
          </p:cNvPr>
          <p:cNvGrpSpPr/>
          <p:nvPr/>
        </p:nvGrpSpPr>
        <p:grpSpPr>
          <a:xfrm>
            <a:off x="1205971" y="30394158"/>
            <a:ext cx="12217464" cy="2737292"/>
            <a:chOff x="1908346" y="12558136"/>
            <a:chExt cx="12599756" cy="2741630"/>
          </a:xfrm>
        </p:grpSpPr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949459D8-2D89-2E19-B0BD-25B8F5BF479F}"/>
                </a:ext>
              </a:extLst>
            </p:cNvPr>
            <p:cNvCxnSpPr>
              <a:cxnSpLocks/>
            </p:cNvCxnSpPr>
            <p:nvPr/>
          </p:nvCxnSpPr>
          <p:spPr>
            <a:xfrm>
              <a:off x="1908346" y="12558136"/>
              <a:ext cx="0" cy="2526989"/>
            </a:xfrm>
            <a:prstGeom prst="line">
              <a:avLst/>
            </a:prstGeom>
            <a:ln w="317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テキスト ボックス 159">
              <a:extLst>
                <a:ext uri="{FF2B5EF4-FFF2-40B4-BE49-F238E27FC236}">
                  <a16:creationId xmlns:a16="http://schemas.microsoft.com/office/drawing/2014/main" id="{9AC390DD-9DD8-59AC-A61C-16F25CDFFA51}"/>
                </a:ext>
              </a:extLst>
            </p:cNvPr>
            <p:cNvSpPr txBox="1">
              <a:spLocks/>
            </p:cNvSpPr>
            <p:nvPr/>
          </p:nvSpPr>
          <p:spPr>
            <a:xfrm>
              <a:off x="2047374" y="12687300"/>
              <a:ext cx="9970529" cy="524049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r>
                <a:rPr kumimoji="1"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UVA/Padova </a:t>
              </a:r>
              <a:r>
                <a:rPr kumimoji="1" lang="ja-JP" altLang="en-US" sz="2800" b="1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モデル</a:t>
              </a:r>
              <a:r>
                <a:rPr kumimoji="1"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(</a:t>
              </a:r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MEAL</a:t>
              </a:r>
              <a:r>
                <a:rPr lang="ja-JP" altLang="en-US" sz="2800" b="1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MODEL</a:t>
              </a:r>
              <a:r>
                <a:rPr kumimoji="1"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)</a:t>
              </a:r>
              <a:r>
                <a:rPr kumimoji="1" lang="en-US" altLang="ja-JP" sz="2800" b="1" baseline="30000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[1][2]</a:t>
              </a:r>
              <a:endParaRPr kumimoji="1" lang="ja-JP" altLang="en-US" sz="2800" b="1" baseline="30000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61" name="テキスト ボックス 160">
              <a:extLst>
                <a:ext uri="{FF2B5EF4-FFF2-40B4-BE49-F238E27FC236}">
                  <a16:creationId xmlns:a16="http://schemas.microsoft.com/office/drawing/2014/main" id="{0477AAA7-09FC-3609-CABE-2EEF2F230CE6}"/>
                </a:ext>
              </a:extLst>
            </p:cNvPr>
            <p:cNvSpPr txBox="1"/>
            <p:nvPr/>
          </p:nvSpPr>
          <p:spPr>
            <a:xfrm>
              <a:off x="2115575" y="13357701"/>
              <a:ext cx="12392527" cy="1942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アメリカ</a:t>
              </a: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FDA</a:t>
              </a:r>
              <a:r>
                <a:rPr kumimoji="1"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が動物実験の代替として承認</a:t>
              </a:r>
              <a:endPara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精密な糖代謝シミュレーション用モデル</a:t>
              </a:r>
              <a:endPara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16</a:t>
              </a:r>
              <a:r>
                <a:rPr kumimoji="1"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次元の次元状態，約</a:t>
              </a: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4</a:t>
              </a:r>
              <a:r>
                <a:rPr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0</a:t>
              </a:r>
              <a:r>
                <a:rPr kumimoji="1"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の代謝パラメータ，複数の非線形項を含む</a:t>
              </a:r>
              <a:endPara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パラメータ同定を行うには複雑</a:t>
              </a:r>
              <a:endPara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62" name="グループ化 161">
            <a:extLst>
              <a:ext uri="{FF2B5EF4-FFF2-40B4-BE49-F238E27FC236}">
                <a16:creationId xmlns:a16="http://schemas.microsoft.com/office/drawing/2014/main" id="{4E30DCD9-EFCD-FC24-6782-26BF7CF47942}"/>
              </a:ext>
            </a:extLst>
          </p:cNvPr>
          <p:cNvGrpSpPr/>
          <p:nvPr/>
        </p:nvGrpSpPr>
        <p:grpSpPr>
          <a:xfrm>
            <a:off x="1164551" y="33233398"/>
            <a:ext cx="14134985" cy="3289338"/>
            <a:chOff x="2013814" y="18698523"/>
            <a:chExt cx="14134985" cy="3289338"/>
          </a:xfrm>
        </p:grpSpPr>
        <p:cxnSp>
          <p:nvCxnSpPr>
            <p:cNvPr id="163" name="直線コネクタ 162">
              <a:extLst>
                <a:ext uri="{FF2B5EF4-FFF2-40B4-BE49-F238E27FC236}">
                  <a16:creationId xmlns:a16="http://schemas.microsoft.com/office/drawing/2014/main" id="{20F2B68A-1F6B-27F0-FCAA-E426866733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3814" y="18738768"/>
              <a:ext cx="33560" cy="2876690"/>
            </a:xfrm>
            <a:prstGeom prst="line">
              <a:avLst/>
            </a:prstGeom>
            <a:ln w="317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8A78771E-4FA8-FEDE-6AB7-E9A473EC2258}"/>
                </a:ext>
              </a:extLst>
            </p:cNvPr>
            <p:cNvSpPr txBox="1"/>
            <p:nvPr/>
          </p:nvSpPr>
          <p:spPr>
            <a:xfrm>
              <a:off x="2209304" y="18698523"/>
              <a:ext cx="139394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SSOGMM</a:t>
              </a:r>
              <a:r>
                <a:rPr lang="en-US" altLang="ja-JP" sz="3200" b="1" baseline="30000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[3] </a:t>
              </a:r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(</a:t>
              </a:r>
              <a:r>
                <a:rPr lang="en-US" altLang="ja-JP" sz="20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Switched Subcutaneous Oral Glucose Minimal Mode</a:t>
              </a:r>
              <a:r>
                <a:rPr lang="en-US" altLang="ja-JP" sz="24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l</a:t>
              </a:r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)</a:t>
              </a:r>
              <a:endParaRPr kumimoji="1" lang="ja-JP" altLang="en-US" sz="32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65" name="テキスト ボックス 164">
              <a:extLst>
                <a:ext uri="{FF2B5EF4-FFF2-40B4-BE49-F238E27FC236}">
                  <a16:creationId xmlns:a16="http://schemas.microsoft.com/office/drawing/2014/main" id="{E8480295-0535-0B7D-A658-FB7D7F18B0DD}"/>
                </a:ext>
              </a:extLst>
            </p:cNvPr>
            <p:cNvSpPr txBox="1"/>
            <p:nvPr/>
          </p:nvSpPr>
          <p:spPr>
            <a:xfrm>
              <a:off x="2348094" y="19248650"/>
              <a:ext cx="6339862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SOGMM</a:t>
              </a:r>
              <a:r>
                <a:rPr kumimoji="1" lang="en-US" altLang="ja-JP" sz="2400" baseline="30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[4]</a:t>
              </a:r>
              <a:r>
                <a:rPr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(Subcutaneous Oral Glucose Minimal Model)</a:t>
              </a: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の消化吸収式</a:t>
              </a:r>
              <a:r>
                <a:rPr lang="ja-JP" altLang="en-US" sz="2400">
                  <a:latin typeface="メイリオ" panose="020B0604030504040204" pitchFamily="50" charset="-128"/>
                  <a:ea typeface="メイリオ" panose="020B0604030504040204" pitchFamily="50" charset="-128"/>
                </a:rPr>
                <a:t>に線形切り換えシステム</a:t>
              </a: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を追加した制御志向モデル．</a:t>
              </a:r>
              <a:endPara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7</a:t>
              </a:r>
              <a:r>
                <a:rPr lang="ja-JP" altLang="en-US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次元の状態次元，</a:t>
              </a:r>
              <a:r>
                <a:rPr lang="en-US" altLang="ja-JP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の代謝パラメータ．</a:t>
              </a:r>
              <a:r>
                <a:rPr lang="en-US" altLang="ja-JP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lang="ja-JP" altLang="en-US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つの非線形項（</a:t>
              </a:r>
              <a:r>
                <a:rPr lang="ja-JP" altLang="en-US" sz="2400" b="1" dirty="0">
                  <a:latin typeface="Meiryo" panose="020B0604030504040204" pitchFamily="34" charset="-128"/>
                  <a:ea typeface="Meiryo" panose="020B0604030504040204" pitchFamily="34" charset="-128"/>
                </a:rPr>
                <a:t>双線形＋</a:t>
              </a:r>
              <a:r>
                <a:rPr lang="ja-JP" altLang="en-US" sz="2400" b="1" dirty="0">
                  <a:solidFill>
                    <a:srgbClr val="C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切り換え項</a:t>
              </a:r>
              <a:r>
                <a:rPr lang="ja-JP" altLang="en-US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）を含む．</a:t>
              </a:r>
            </a:p>
            <a:p>
              <a:endPara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pic>
        <p:nvPicPr>
          <p:cNvPr id="166" name="図 165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4004604-FCB2-CC88-2E01-85BF23108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889" y="36150333"/>
            <a:ext cx="8653315" cy="2174723"/>
          </a:xfrm>
          <a:prstGeom prst="rect">
            <a:avLst/>
          </a:prstGeom>
        </p:spPr>
      </p:pic>
      <p:grpSp>
        <p:nvGrpSpPr>
          <p:cNvPr id="384" name="グループ化 383">
            <a:extLst>
              <a:ext uri="{FF2B5EF4-FFF2-40B4-BE49-F238E27FC236}">
                <a16:creationId xmlns:a16="http://schemas.microsoft.com/office/drawing/2014/main" id="{31A3B04D-4EF0-87DE-1781-CC96CC426AEE}"/>
              </a:ext>
            </a:extLst>
          </p:cNvPr>
          <p:cNvGrpSpPr/>
          <p:nvPr/>
        </p:nvGrpSpPr>
        <p:grpSpPr>
          <a:xfrm>
            <a:off x="1198111" y="38425821"/>
            <a:ext cx="12073818" cy="1700033"/>
            <a:chOff x="13398362" y="9226670"/>
            <a:chExt cx="12073818" cy="17000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1" name="TextBox 405">
                  <a:extLst>
                    <a:ext uri="{FF2B5EF4-FFF2-40B4-BE49-F238E27FC236}">
                      <a16:creationId xmlns:a16="http://schemas.microsoft.com/office/drawing/2014/main" id="{2749136B-1F37-E25E-6F7B-F3554640BDF1}"/>
                    </a:ext>
                  </a:extLst>
                </p:cNvPr>
                <p:cNvSpPr txBox="1"/>
                <p:nvPr/>
              </p:nvSpPr>
              <p:spPr>
                <a:xfrm>
                  <a:off x="13475947" y="9551070"/>
                  <a:ext cx="11996233" cy="13756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𝑆𝑥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ja-JP" altLang="en-US" sz="2800" b="0" i="1" smtClean="0">
                                    <a:latin typeface="Cambria Math" panose="02040503050406030204" pitchFamily="18" charset="0"/>
                                  </a:rPr>
                                  <m:t>　</m:t>
                                </m:r>
                                <m:r>
                                  <a:rPr lang="en-US" altLang="ja-JP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800" b="0" i="0" smtClean="0">
                                    <a:latin typeface="Cambria Math" panose="02040503050406030204" pitchFamily="18" charset="0"/>
                                  </a:rPr>
                                  <m:t>mode</m:t>
                                </m:r>
                                <m:r>
                                  <a:rPr lang="en-US" altLang="ja-JP" sz="2800" b="0" i="1" smtClean="0">
                                    <a:latin typeface="Cambria Math" panose="02040503050406030204" pitchFamily="18" charset="0"/>
                                  </a:rPr>
                                  <m:t> 0)</m:t>
                                </m:r>
                              </m:e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                                   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mode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1)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JP" sz="2800" dirty="0"/>
                </a:p>
              </p:txBody>
            </p:sp>
          </mc:Choice>
          <mc:Fallback xmlns="">
            <p:sp>
              <p:nvSpPr>
                <p:cNvPr id="381" name="TextBox 405">
                  <a:extLst>
                    <a:ext uri="{FF2B5EF4-FFF2-40B4-BE49-F238E27FC236}">
                      <a16:creationId xmlns:a16="http://schemas.microsoft.com/office/drawing/2014/main" id="{2749136B-1F37-E25E-6F7B-F3554640B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75947" y="9551070"/>
                  <a:ext cx="11996233" cy="137563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2" name="Double Bracket 1141">
              <a:extLst>
                <a:ext uri="{FF2B5EF4-FFF2-40B4-BE49-F238E27FC236}">
                  <a16:creationId xmlns:a16="http://schemas.microsoft.com/office/drawing/2014/main" id="{CE95B1C2-3164-E981-E97F-4FF12FE5D2BF}"/>
                </a:ext>
              </a:extLst>
            </p:cNvPr>
            <p:cNvSpPr/>
            <p:nvPr/>
          </p:nvSpPr>
          <p:spPr>
            <a:xfrm>
              <a:off x="13398362" y="9270394"/>
              <a:ext cx="12073818" cy="1585542"/>
            </a:xfrm>
            <a:prstGeom prst="bracketPair">
              <a:avLst>
                <a:gd name="adj" fmla="val 5963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83" name="TextBox 1150">
              <a:extLst>
                <a:ext uri="{FF2B5EF4-FFF2-40B4-BE49-F238E27FC236}">
                  <a16:creationId xmlns:a16="http://schemas.microsoft.com/office/drawing/2014/main" id="{9763EF74-F655-4819-F4CB-311D443A26B5}"/>
                </a:ext>
              </a:extLst>
            </p:cNvPr>
            <p:cNvSpPr txBox="1"/>
            <p:nvPr/>
          </p:nvSpPr>
          <p:spPr>
            <a:xfrm>
              <a:off x="13521185" y="9226670"/>
              <a:ext cx="30192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b="1" dirty="0"/>
                <a:t>SSOGMMの状態方程式</a:t>
              </a:r>
            </a:p>
          </p:txBody>
        </p:sp>
      </p:grpSp>
      <p:grpSp>
        <p:nvGrpSpPr>
          <p:cNvPr id="388" name="グループ化 387">
            <a:extLst>
              <a:ext uri="{FF2B5EF4-FFF2-40B4-BE49-F238E27FC236}">
                <a16:creationId xmlns:a16="http://schemas.microsoft.com/office/drawing/2014/main" id="{1E5CD33E-63AA-C2EF-C9A3-E692F6F27139}"/>
              </a:ext>
            </a:extLst>
          </p:cNvPr>
          <p:cNvGrpSpPr/>
          <p:nvPr/>
        </p:nvGrpSpPr>
        <p:grpSpPr>
          <a:xfrm>
            <a:off x="7707727" y="33976066"/>
            <a:ext cx="6800954" cy="1939314"/>
            <a:chOff x="2867114" y="2676606"/>
            <a:chExt cx="6800954" cy="1939314"/>
          </a:xfrm>
        </p:grpSpPr>
        <p:sp>
          <p:nvSpPr>
            <p:cNvPr id="389" name="正方形/長方形 388">
              <a:extLst>
                <a:ext uri="{FF2B5EF4-FFF2-40B4-BE49-F238E27FC236}">
                  <a16:creationId xmlns:a16="http://schemas.microsoft.com/office/drawing/2014/main" id="{6A80462A-EDAC-473E-0EF9-D2BF5696D820}"/>
                </a:ext>
              </a:extLst>
            </p:cNvPr>
            <p:cNvSpPr/>
            <p:nvPr/>
          </p:nvSpPr>
          <p:spPr>
            <a:xfrm>
              <a:off x="3968160" y="2676606"/>
              <a:ext cx="2027641" cy="810862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Gastrointestinal</a:t>
              </a:r>
            </a:p>
            <a:p>
              <a:pPr algn="ctr"/>
              <a:r>
                <a:rPr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1" lang="en-US" altLang="ja-JP" sz="1400" b="1" dirty="0">
                  <a:solidFill>
                    <a:srgbClr val="FF0000"/>
                  </a:solidFill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switched system</a:t>
              </a:r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)</a:t>
              </a:r>
              <a:endParaRPr kumimoji="1" lang="ja-JP" altLang="en-US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0" name="正方形/長方形 389">
              <a:extLst>
                <a:ext uri="{FF2B5EF4-FFF2-40B4-BE49-F238E27FC236}">
                  <a16:creationId xmlns:a16="http://schemas.microsoft.com/office/drawing/2014/main" id="{7978BD76-BA42-DE24-D8D2-B32210772E3B}"/>
                </a:ext>
              </a:extLst>
            </p:cNvPr>
            <p:cNvSpPr/>
            <p:nvPr/>
          </p:nvSpPr>
          <p:spPr>
            <a:xfrm>
              <a:off x="3968160" y="3805058"/>
              <a:ext cx="2027641" cy="810862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Subcutaneous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Insulin</a:t>
              </a: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Kinetic </a:t>
              </a:r>
              <a:r>
                <a:rPr kumimoji="1"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正方形/長方形 390">
              <a:extLst>
                <a:ext uri="{FF2B5EF4-FFF2-40B4-BE49-F238E27FC236}">
                  <a16:creationId xmlns:a16="http://schemas.microsoft.com/office/drawing/2014/main" id="{72998592-CDE8-AB5C-0995-13AE18CEF380}"/>
                </a:ext>
              </a:extLst>
            </p:cNvPr>
            <p:cNvSpPr/>
            <p:nvPr/>
          </p:nvSpPr>
          <p:spPr>
            <a:xfrm>
              <a:off x="7009621" y="3143369"/>
              <a:ext cx="2027641" cy="1017019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Core </a:t>
              </a:r>
              <a:r>
                <a:rPr kumimoji="1"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(Bergman model)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392" name="直線矢印コネクタ 391">
              <a:extLst>
                <a:ext uri="{FF2B5EF4-FFF2-40B4-BE49-F238E27FC236}">
                  <a16:creationId xmlns:a16="http://schemas.microsoft.com/office/drawing/2014/main" id="{6E84F9EE-3F86-62F0-7EEA-0A63287A8639}"/>
                </a:ext>
              </a:extLst>
            </p:cNvPr>
            <p:cNvCxnSpPr>
              <a:cxnSpLocks/>
            </p:cNvCxnSpPr>
            <p:nvPr/>
          </p:nvCxnSpPr>
          <p:spPr>
            <a:xfrm>
              <a:off x="3367668" y="3082037"/>
              <a:ext cx="60049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テキスト ボックス 392">
                  <a:extLst>
                    <a:ext uri="{FF2B5EF4-FFF2-40B4-BE49-F238E27FC236}">
                      <a16:creationId xmlns:a16="http://schemas.microsoft.com/office/drawing/2014/main" id="{92A819E0-6A1D-A303-89DE-CCFFE04A6A5C}"/>
                    </a:ext>
                  </a:extLst>
                </p:cNvPr>
                <p:cNvSpPr txBox="1"/>
                <p:nvPr/>
              </p:nvSpPr>
              <p:spPr>
                <a:xfrm>
                  <a:off x="2867114" y="2676606"/>
                  <a:ext cx="909809" cy="5113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3" name="テキスト ボックス 392">
                  <a:extLst>
                    <a:ext uri="{FF2B5EF4-FFF2-40B4-BE49-F238E27FC236}">
                      <a16:creationId xmlns:a16="http://schemas.microsoft.com/office/drawing/2014/main" id="{92A819E0-6A1D-A303-89DE-CCFFE04A6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7114" y="2676606"/>
                  <a:ext cx="909809" cy="51137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4" name="テキスト ボックス 393">
                  <a:extLst>
                    <a:ext uri="{FF2B5EF4-FFF2-40B4-BE49-F238E27FC236}">
                      <a16:creationId xmlns:a16="http://schemas.microsoft.com/office/drawing/2014/main" id="{ECAD4B03-64EB-A164-0675-7C90F0BBFAAA}"/>
                    </a:ext>
                  </a:extLst>
                </p:cNvPr>
                <p:cNvSpPr txBox="1"/>
                <p:nvPr/>
              </p:nvSpPr>
              <p:spPr>
                <a:xfrm>
                  <a:off x="6251256" y="2945434"/>
                  <a:ext cx="574942" cy="5113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4" name="テキスト ボックス 393">
                  <a:extLst>
                    <a:ext uri="{FF2B5EF4-FFF2-40B4-BE49-F238E27FC236}">
                      <a16:creationId xmlns:a16="http://schemas.microsoft.com/office/drawing/2014/main" id="{ECAD4B03-64EB-A164-0675-7C90F0BBFA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1256" y="2945434"/>
                  <a:ext cx="574942" cy="51137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5" name="テキスト ボックス 394">
                  <a:extLst>
                    <a:ext uri="{FF2B5EF4-FFF2-40B4-BE49-F238E27FC236}">
                      <a16:creationId xmlns:a16="http://schemas.microsoft.com/office/drawing/2014/main" id="{BBE6FC6D-336A-70EC-BC77-00D107F5029B}"/>
                    </a:ext>
                  </a:extLst>
                </p:cNvPr>
                <p:cNvSpPr txBox="1"/>
                <p:nvPr/>
              </p:nvSpPr>
              <p:spPr>
                <a:xfrm>
                  <a:off x="6366802" y="3959438"/>
                  <a:ext cx="387364" cy="5113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5" name="テキスト ボックス 394">
                  <a:extLst>
                    <a:ext uri="{FF2B5EF4-FFF2-40B4-BE49-F238E27FC236}">
                      <a16:creationId xmlns:a16="http://schemas.microsoft.com/office/drawing/2014/main" id="{BBE6FC6D-336A-70EC-BC77-00D107F502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802" y="3959438"/>
                  <a:ext cx="387364" cy="51137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6" name="テキスト ボックス 395">
                  <a:extLst>
                    <a:ext uri="{FF2B5EF4-FFF2-40B4-BE49-F238E27FC236}">
                      <a16:creationId xmlns:a16="http://schemas.microsoft.com/office/drawing/2014/main" id="{4F5F00B3-A740-2E42-CE33-4D61F80C232E}"/>
                    </a:ext>
                  </a:extLst>
                </p:cNvPr>
                <p:cNvSpPr txBox="1"/>
                <p:nvPr/>
              </p:nvSpPr>
              <p:spPr>
                <a:xfrm>
                  <a:off x="3063380" y="3767675"/>
                  <a:ext cx="517276" cy="3835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6" name="テキスト ボックス 395">
                  <a:extLst>
                    <a:ext uri="{FF2B5EF4-FFF2-40B4-BE49-F238E27FC236}">
                      <a16:creationId xmlns:a16="http://schemas.microsoft.com/office/drawing/2014/main" id="{4F5F00B3-A740-2E42-CE33-4D61F80C23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3380" y="3767675"/>
                  <a:ext cx="517276" cy="38352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7" name="直線矢印コネクタ 396">
              <a:extLst>
                <a:ext uri="{FF2B5EF4-FFF2-40B4-BE49-F238E27FC236}">
                  <a16:creationId xmlns:a16="http://schemas.microsoft.com/office/drawing/2014/main" id="{A4BF610A-54CE-FE5C-231D-F2604B9046EE}"/>
                </a:ext>
              </a:extLst>
            </p:cNvPr>
            <p:cNvCxnSpPr>
              <a:cxnSpLocks/>
            </p:cNvCxnSpPr>
            <p:nvPr/>
          </p:nvCxnSpPr>
          <p:spPr>
            <a:xfrm>
              <a:off x="9037262" y="3645125"/>
              <a:ext cx="630806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テキスト ボックス 397">
                  <a:extLst>
                    <a:ext uri="{FF2B5EF4-FFF2-40B4-BE49-F238E27FC236}">
                      <a16:creationId xmlns:a16="http://schemas.microsoft.com/office/drawing/2014/main" id="{1F73A967-E25F-3368-0F83-9385090C5056}"/>
                    </a:ext>
                  </a:extLst>
                </p:cNvPr>
                <p:cNvSpPr txBox="1"/>
                <p:nvPr/>
              </p:nvSpPr>
              <p:spPr>
                <a:xfrm>
                  <a:off x="9228499" y="3362220"/>
                  <a:ext cx="248332" cy="3835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8" name="テキスト ボックス 397">
                  <a:extLst>
                    <a:ext uri="{FF2B5EF4-FFF2-40B4-BE49-F238E27FC236}">
                      <a16:creationId xmlns:a16="http://schemas.microsoft.com/office/drawing/2014/main" id="{1F73A967-E25F-3368-0F83-9385090C5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8499" y="3362220"/>
                  <a:ext cx="248332" cy="383527"/>
                </a:xfrm>
                <a:prstGeom prst="rect">
                  <a:avLst/>
                </a:prstGeom>
                <a:blipFill>
                  <a:blip r:embed="rId28"/>
                  <a:stretch>
                    <a:fillRect l="-9524" r="-476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9" name="直線矢印コネクタ 398">
              <a:extLst>
                <a:ext uri="{FF2B5EF4-FFF2-40B4-BE49-F238E27FC236}">
                  <a16:creationId xmlns:a16="http://schemas.microsoft.com/office/drawing/2014/main" id="{DCF94F9A-26D1-4532-F4FA-F8E82905B275}"/>
                </a:ext>
              </a:extLst>
            </p:cNvPr>
            <p:cNvCxnSpPr>
              <a:cxnSpLocks/>
            </p:cNvCxnSpPr>
            <p:nvPr/>
          </p:nvCxnSpPr>
          <p:spPr>
            <a:xfrm>
              <a:off x="5995801" y="3328639"/>
              <a:ext cx="102105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0" name="直線矢印コネクタ 399">
              <a:extLst>
                <a:ext uri="{FF2B5EF4-FFF2-40B4-BE49-F238E27FC236}">
                  <a16:creationId xmlns:a16="http://schemas.microsoft.com/office/drawing/2014/main" id="{4DD69105-DC4E-E78C-F2CE-34BE9BB52507}"/>
                </a:ext>
              </a:extLst>
            </p:cNvPr>
            <p:cNvCxnSpPr>
              <a:cxnSpLocks/>
            </p:cNvCxnSpPr>
            <p:nvPr/>
          </p:nvCxnSpPr>
          <p:spPr>
            <a:xfrm>
              <a:off x="5995801" y="3937510"/>
              <a:ext cx="102105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1" name="直線矢印コネクタ 400">
              <a:extLst>
                <a:ext uri="{FF2B5EF4-FFF2-40B4-BE49-F238E27FC236}">
                  <a16:creationId xmlns:a16="http://schemas.microsoft.com/office/drawing/2014/main" id="{13A5CFE7-F444-1E9E-586B-2C60E285452B}"/>
                </a:ext>
              </a:extLst>
            </p:cNvPr>
            <p:cNvCxnSpPr>
              <a:cxnSpLocks/>
            </p:cNvCxnSpPr>
            <p:nvPr/>
          </p:nvCxnSpPr>
          <p:spPr>
            <a:xfrm>
              <a:off x="3367668" y="4160971"/>
              <a:ext cx="60049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DE71BC2E-A7A5-42DB-6A25-0029045E163C}"/>
              </a:ext>
            </a:extLst>
          </p:cNvPr>
          <p:cNvSpPr>
            <a:spLocks/>
          </p:cNvSpPr>
          <p:nvPr/>
        </p:nvSpPr>
        <p:spPr>
          <a:xfrm>
            <a:off x="15478916" y="3453582"/>
            <a:ext cx="14346066" cy="9803737"/>
          </a:xfrm>
          <a:custGeom>
            <a:avLst/>
            <a:gdLst>
              <a:gd name="csX0" fmla="*/ 0 w 14343722"/>
              <a:gd name="csY0" fmla="*/ 0 h 9649871"/>
              <a:gd name="csX1" fmla="*/ 14343722 w 14343722"/>
              <a:gd name="csY1" fmla="*/ 0 h 9649871"/>
              <a:gd name="csX2" fmla="*/ 14343722 w 14343722"/>
              <a:gd name="csY2" fmla="*/ 9649871 h 9649871"/>
              <a:gd name="csX3" fmla="*/ 0 w 14343722"/>
              <a:gd name="csY3" fmla="*/ 9649871 h 9649871"/>
              <a:gd name="csX4" fmla="*/ 0 w 14343722"/>
              <a:gd name="csY4" fmla="*/ 0 h 9649871"/>
              <a:gd name="csX0" fmla="*/ 0 w 14343722"/>
              <a:gd name="csY0" fmla="*/ 0 h 9649871"/>
              <a:gd name="csX1" fmla="*/ 14343722 w 14343722"/>
              <a:gd name="csY1" fmla="*/ 0 h 9649871"/>
              <a:gd name="csX2" fmla="*/ 14343722 w 14343722"/>
              <a:gd name="csY2" fmla="*/ 9649871 h 9649871"/>
              <a:gd name="csX3" fmla="*/ 0 w 14343722"/>
              <a:gd name="csY3" fmla="*/ 9649871 h 9649871"/>
              <a:gd name="csX4" fmla="*/ 91440 w 14343722"/>
              <a:gd name="csY4" fmla="*/ 91440 h 9649871"/>
              <a:gd name="csX0" fmla="*/ 14343722 w 14343722"/>
              <a:gd name="csY0" fmla="*/ 0 h 9649871"/>
              <a:gd name="csX1" fmla="*/ 14343722 w 14343722"/>
              <a:gd name="csY1" fmla="*/ 9649871 h 9649871"/>
              <a:gd name="csX2" fmla="*/ 0 w 14343722"/>
              <a:gd name="csY2" fmla="*/ 9649871 h 9649871"/>
              <a:gd name="csX3" fmla="*/ 91440 w 14343722"/>
              <a:gd name="csY3" fmla="*/ 91440 h 9649871"/>
              <a:gd name="csX0" fmla="*/ 14346066 w 14346066"/>
              <a:gd name="csY0" fmla="*/ 0 h 9649871"/>
              <a:gd name="csX1" fmla="*/ 14346066 w 14346066"/>
              <a:gd name="csY1" fmla="*/ 9649871 h 9649871"/>
              <a:gd name="csX2" fmla="*/ 2344 w 14346066"/>
              <a:gd name="csY2" fmla="*/ 9649871 h 9649871"/>
              <a:gd name="csX3" fmla="*/ 0 w 14346066"/>
              <a:gd name="csY3" fmla="*/ 114886 h 9649871"/>
              <a:gd name="csX0" fmla="*/ 14346066 w 14346066"/>
              <a:gd name="csY0" fmla="*/ 0 h 9649871"/>
              <a:gd name="csX1" fmla="*/ 14346066 w 14346066"/>
              <a:gd name="csY1" fmla="*/ 9649871 h 9649871"/>
              <a:gd name="csX2" fmla="*/ 2344 w 14346066"/>
              <a:gd name="csY2" fmla="*/ 9649871 h 9649871"/>
              <a:gd name="csX3" fmla="*/ 0 w 14346066"/>
              <a:gd name="csY3" fmla="*/ 114886 h 9649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346066" h="9649871">
                <a:moveTo>
                  <a:pt x="14346066" y="0"/>
                </a:moveTo>
                <a:lnTo>
                  <a:pt x="14346066" y="9649871"/>
                </a:lnTo>
                <a:lnTo>
                  <a:pt x="2344" y="9649871"/>
                </a:lnTo>
                <a:cubicBezTo>
                  <a:pt x="2344" y="6433247"/>
                  <a:pt x="0" y="114886"/>
                  <a:pt x="0" y="114886"/>
                </a:cubicBezTo>
              </a:path>
            </a:pathLst>
          </a:cu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BF69E977-25EF-0D1F-2496-5D2A7A2CDB70}"/>
              </a:ext>
            </a:extLst>
          </p:cNvPr>
          <p:cNvGrpSpPr/>
          <p:nvPr/>
        </p:nvGrpSpPr>
        <p:grpSpPr>
          <a:xfrm>
            <a:off x="20971843" y="10765731"/>
            <a:ext cx="8420516" cy="1996544"/>
            <a:chOff x="16882416" y="19002180"/>
            <a:chExt cx="8420516" cy="1996544"/>
          </a:xfrm>
        </p:grpSpPr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9E716EF4-EE9F-44E6-580E-F13751504EEA}"/>
                </a:ext>
              </a:extLst>
            </p:cNvPr>
            <p:cNvSpPr/>
            <p:nvPr/>
          </p:nvSpPr>
          <p:spPr>
            <a:xfrm>
              <a:off x="18248336" y="19711867"/>
              <a:ext cx="2310564" cy="717781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メイリオ" panose="020B0604030504040204" pitchFamily="50" charset="-128"/>
                  <a:ea typeface="メイリオ" panose="020B0604030504040204" pitchFamily="50" charset="-128"/>
                  <a:cs typeface="Arial" panose="020B0604020202020204" pitchFamily="34" charset="0"/>
                </a:rPr>
                <a:t>Subject</a:t>
              </a:r>
            </a:p>
            <a:p>
              <a:pPr algn="ctr"/>
              <a:r>
                <a:rPr lang="en-US" altLang="ja-JP" sz="1400" b="1" dirty="0">
                  <a:latin typeface="メイリオ" panose="020B0604030504040204" pitchFamily="50" charset="-128"/>
                  <a:ea typeface="メイリオ" panose="020B0604030504040204" pitchFamily="50" charset="-128"/>
                  <a:cs typeface="Arial" panose="020B0604020202020204" pitchFamily="34" charset="0"/>
                </a:rPr>
                <a:t>(UVA/Padova Model</a:t>
              </a:r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)</a:t>
              </a:r>
              <a:r>
                <a:rPr lang="ja-JP" altLang="en-US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　</a:t>
              </a:r>
              <a:endPara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テキスト ボックス 321">
                  <a:extLst>
                    <a:ext uri="{FF2B5EF4-FFF2-40B4-BE49-F238E27FC236}">
                      <a16:creationId xmlns:a16="http://schemas.microsoft.com/office/drawing/2014/main" id="{5000212D-75D8-92F9-464D-71B91126E802}"/>
                    </a:ext>
                  </a:extLst>
                </p:cNvPr>
                <p:cNvSpPr txBox="1"/>
                <p:nvPr/>
              </p:nvSpPr>
              <p:spPr>
                <a:xfrm>
                  <a:off x="16931663" y="19961081"/>
                  <a:ext cx="6180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22" name="テキスト ボックス 321">
                  <a:extLst>
                    <a:ext uri="{FF2B5EF4-FFF2-40B4-BE49-F238E27FC236}">
                      <a16:creationId xmlns:a16="http://schemas.microsoft.com/office/drawing/2014/main" id="{5000212D-75D8-92F9-464D-71B91126E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31663" y="19961081"/>
                  <a:ext cx="618054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725" t="-2222" r="-53922" b="-3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3" name="テキスト ボックス 322">
                  <a:extLst>
                    <a:ext uri="{FF2B5EF4-FFF2-40B4-BE49-F238E27FC236}">
                      <a16:creationId xmlns:a16="http://schemas.microsoft.com/office/drawing/2014/main" id="{E67C062B-CB7B-E759-2406-47BD0AF4AF46}"/>
                    </a:ext>
                  </a:extLst>
                </p:cNvPr>
                <p:cNvSpPr txBox="1"/>
                <p:nvPr/>
              </p:nvSpPr>
              <p:spPr>
                <a:xfrm>
                  <a:off x="16884318" y="19514710"/>
                  <a:ext cx="751231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23" name="テキスト ボックス 322">
                  <a:extLst>
                    <a:ext uri="{FF2B5EF4-FFF2-40B4-BE49-F238E27FC236}">
                      <a16:creationId xmlns:a16="http://schemas.microsoft.com/office/drawing/2014/main" id="{E67C062B-CB7B-E759-2406-47BD0AF4A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4318" y="19514710"/>
                  <a:ext cx="751231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226" t="-4444" r="-9677" b="-3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4" name="直線矢印コネクタ 323">
              <a:extLst>
                <a:ext uri="{FF2B5EF4-FFF2-40B4-BE49-F238E27FC236}">
                  <a16:creationId xmlns:a16="http://schemas.microsoft.com/office/drawing/2014/main" id="{E7F9A4F7-B67C-C38D-B3E0-68294918D88E}"/>
                </a:ext>
              </a:extLst>
            </p:cNvPr>
            <p:cNvCxnSpPr>
              <a:cxnSpLocks/>
            </p:cNvCxnSpPr>
            <p:nvPr/>
          </p:nvCxnSpPr>
          <p:spPr>
            <a:xfrm>
              <a:off x="16882416" y="20299736"/>
              <a:ext cx="1364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5" name="直線矢印コネクタ 324">
              <a:extLst>
                <a:ext uri="{FF2B5EF4-FFF2-40B4-BE49-F238E27FC236}">
                  <a16:creationId xmlns:a16="http://schemas.microsoft.com/office/drawing/2014/main" id="{6533762A-A5A1-95D7-ECBD-795E65908122}"/>
                </a:ext>
              </a:extLst>
            </p:cNvPr>
            <p:cNvCxnSpPr>
              <a:cxnSpLocks/>
            </p:cNvCxnSpPr>
            <p:nvPr/>
          </p:nvCxnSpPr>
          <p:spPr>
            <a:xfrm>
              <a:off x="16882416" y="19874644"/>
              <a:ext cx="1364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6" name="直線矢印コネクタ 325">
              <a:extLst>
                <a:ext uri="{FF2B5EF4-FFF2-40B4-BE49-F238E27FC236}">
                  <a16:creationId xmlns:a16="http://schemas.microsoft.com/office/drawing/2014/main" id="{C9EEE711-92CE-28EA-773B-66B2EB63705B}"/>
                </a:ext>
              </a:extLst>
            </p:cNvPr>
            <p:cNvCxnSpPr>
              <a:cxnSpLocks/>
            </p:cNvCxnSpPr>
            <p:nvPr/>
          </p:nvCxnSpPr>
          <p:spPr>
            <a:xfrm>
              <a:off x="17786162" y="19384077"/>
              <a:ext cx="10477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7" name="直線コネクタ 326">
              <a:extLst>
                <a:ext uri="{FF2B5EF4-FFF2-40B4-BE49-F238E27FC236}">
                  <a16:creationId xmlns:a16="http://schemas.microsoft.com/office/drawing/2014/main" id="{2383132C-B27A-62D8-8E02-5D6F75FB0C80}"/>
                </a:ext>
              </a:extLst>
            </p:cNvPr>
            <p:cNvCxnSpPr/>
            <p:nvPr/>
          </p:nvCxnSpPr>
          <p:spPr>
            <a:xfrm flipV="1">
              <a:off x="19046792" y="19209239"/>
              <a:ext cx="356826" cy="174219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8" name="直線コネクタ 327">
              <a:extLst>
                <a:ext uri="{FF2B5EF4-FFF2-40B4-BE49-F238E27FC236}">
                  <a16:creationId xmlns:a16="http://schemas.microsoft.com/office/drawing/2014/main" id="{6AD098EA-1679-7686-030C-326F244FC673}"/>
                </a:ext>
              </a:extLst>
            </p:cNvPr>
            <p:cNvCxnSpPr>
              <a:cxnSpLocks/>
            </p:cNvCxnSpPr>
            <p:nvPr/>
          </p:nvCxnSpPr>
          <p:spPr>
            <a:xfrm>
              <a:off x="18621094" y="19384696"/>
              <a:ext cx="425698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10167F54-2F0F-738D-DA44-18598362BFAC}"/>
                </a:ext>
              </a:extLst>
            </p:cNvPr>
            <p:cNvSpPr/>
            <p:nvPr/>
          </p:nvSpPr>
          <p:spPr>
            <a:xfrm>
              <a:off x="21953367" y="19002180"/>
              <a:ext cx="2422866" cy="1161753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メイリオ" panose="020B0604030504040204" pitchFamily="50" charset="-128"/>
                  <a:ea typeface="メイリオ" panose="020B0604030504040204" pitchFamily="50" charset="-128"/>
                </a:rPr>
                <a:t>Observer</a:t>
              </a:r>
            </a:p>
            <a:p>
              <a:pPr algn="ctr"/>
              <a:r>
                <a:rPr lang="en-US" altLang="ja-JP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メイリオ" panose="020B0604030504040204" pitchFamily="50" charset="-128"/>
                  <a:ea typeface="メイリオ" panose="020B0604030504040204" pitchFamily="50" charset="-128"/>
                </a:rPr>
                <a:t>or</a:t>
              </a:r>
            </a:p>
            <a:p>
              <a:pPr algn="ctr"/>
              <a:r>
                <a:rPr kumimoji="1" lang="en-US" altLang="ja-JP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メイリオ" panose="020B0604030504040204" pitchFamily="50" charset="-128"/>
                  <a:ea typeface="メイリオ" panose="020B0604030504040204" pitchFamily="50" charset="-128"/>
                </a:rPr>
                <a:t>Extended </a:t>
              </a:r>
              <a:r>
                <a:rPr lang="en-US" altLang="ja-JP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メイリオ" panose="020B0604030504040204" pitchFamily="50" charset="-128"/>
                  <a:ea typeface="メイリオ" panose="020B0604030504040204" pitchFamily="50" charset="-128"/>
                </a:rPr>
                <a:t>Kalma filter</a:t>
              </a:r>
              <a:endParaRPr kumimoji="1" lang="ja-JP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330" name="直線コネクタ 329">
              <a:extLst>
                <a:ext uri="{FF2B5EF4-FFF2-40B4-BE49-F238E27FC236}">
                  <a16:creationId xmlns:a16="http://schemas.microsoft.com/office/drawing/2014/main" id="{CC3E1A2D-90F9-C138-B3CF-02103F82F14D}"/>
                </a:ext>
              </a:extLst>
            </p:cNvPr>
            <p:cNvCxnSpPr>
              <a:cxnSpLocks/>
            </p:cNvCxnSpPr>
            <p:nvPr/>
          </p:nvCxnSpPr>
          <p:spPr>
            <a:xfrm>
              <a:off x="17786162" y="19384077"/>
              <a:ext cx="0" cy="490567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1" name="直線矢印コネクタ 330">
              <a:extLst>
                <a:ext uri="{FF2B5EF4-FFF2-40B4-BE49-F238E27FC236}">
                  <a16:creationId xmlns:a16="http://schemas.microsoft.com/office/drawing/2014/main" id="{2C3ED9A8-0B6A-E3CB-733C-15B257D44513}"/>
                </a:ext>
              </a:extLst>
            </p:cNvPr>
            <p:cNvCxnSpPr>
              <a:cxnSpLocks/>
            </p:cNvCxnSpPr>
            <p:nvPr/>
          </p:nvCxnSpPr>
          <p:spPr>
            <a:xfrm>
              <a:off x="19403618" y="19383458"/>
              <a:ext cx="2549748" cy="0"/>
            </a:xfrm>
            <a:prstGeom prst="straightConnector1">
              <a:avLst/>
            </a:prstGeom>
            <a:ln>
              <a:solidFill>
                <a:schemeClr val="dk1"/>
              </a:solidFill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2" name="テキスト ボックス 331">
                  <a:extLst>
                    <a:ext uri="{FF2B5EF4-FFF2-40B4-BE49-F238E27FC236}">
                      <a16:creationId xmlns:a16="http://schemas.microsoft.com/office/drawing/2014/main" id="{E0E02D5F-A062-B427-1108-97D30B454EBB}"/>
                    </a:ext>
                  </a:extLst>
                </p:cNvPr>
                <p:cNvSpPr txBox="1"/>
                <p:nvPr/>
              </p:nvSpPr>
              <p:spPr>
                <a:xfrm>
                  <a:off x="20771383" y="19019349"/>
                  <a:ext cx="7555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78" name="テキスト ボックス 277">
                  <a:extLst>
                    <a:ext uri="{FF2B5EF4-FFF2-40B4-BE49-F238E27FC236}">
                      <a16:creationId xmlns:a16="http://schemas.microsoft.com/office/drawing/2014/main" id="{9D61A246-EE09-1D9B-4137-9DF134235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71383" y="19019349"/>
                  <a:ext cx="755528" cy="276999"/>
                </a:xfrm>
                <a:prstGeom prst="rect">
                  <a:avLst/>
                </a:prstGeom>
                <a:blipFill>
                  <a:blip r:embed="rId52"/>
                  <a:stretch>
                    <a:fillRect l="-1639" t="-4545" r="-9836" b="-4090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3" name="テキスト ボックス 332">
                  <a:extLst>
                    <a:ext uri="{FF2B5EF4-FFF2-40B4-BE49-F238E27FC236}">
                      <a16:creationId xmlns:a16="http://schemas.microsoft.com/office/drawing/2014/main" id="{C9B8339F-6A67-830B-56C8-FADAA1D39DF7}"/>
                    </a:ext>
                  </a:extLst>
                </p:cNvPr>
                <p:cNvSpPr txBox="1"/>
                <p:nvPr/>
              </p:nvSpPr>
              <p:spPr>
                <a:xfrm>
                  <a:off x="20739829" y="20353152"/>
                  <a:ext cx="48551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79" name="テキスト ボックス 278">
                  <a:extLst>
                    <a:ext uri="{FF2B5EF4-FFF2-40B4-BE49-F238E27FC236}">
                      <a16:creationId xmlns:a16="http://schemas.microsoft.com/office/drawing/2014/main" id="{F5591833-5ED6-2ECA-B0EA-937639E3F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9829" y="20353152"/>
                  <a:ext cx="485518" cy="276999"/>
                </a:xfrm>
                <a:prstGeom prst="rect">
                  <a:avLst/>
                </a:prstGeom>
                <a:blipFill>
                  <a:blip r:embed="rId53"/>
                  <a:stretch>
                    <a:fillRect l="-5128" r="-15385" b="-291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4" name="直線矢印コネクタ 333">
              <a:extLst>
                <a:ext uri="{FF2B5EF4-FFF2-40B4-BE49-F238E27FC236}">
                  <a16:creationId xmlns:a16="http://schemas.microsoft.com/office/drawing/2014/main" id="{F7FD3D32-ABEE-46C8-C24A-AB75B7BA23CB}"/>
                </a:ext>
              </a:extLst>
            </p:cNvPr>
            <p:cNvCxnSpPr>
              <a:cxnSpLocks/>
            </p:cNvCxnSpPr>
            <p:nvPr/>
          </p:nvCxnSpPr>
          <p:spPr>
            <a:xfrm>
              <a:off x="20558900" y="19937555"/>
              <a:ext cx="4378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5" name="直線矢印コネクタ 334">
              <a:extLst>
                <a:ext uri="{FF2B5EF4-FFF2-40B4-BE49-F238E27FC236}">
                  <a16:creationId xmlns:a16="http://schemas.microsoft.com/office/drawing/2014/main" id="{29155F02-73D7-F8D1-712F-D59D2AB3AF47}"/>
                </a:ext>
              </a:extLst>
            </p:cNvPr>
            <p:cNvCxnSpPr>
              <a:cxnSpLocks/>
            </p:cNvCxnSpPr>
            <p:nvPr/>
          </p:nvCxnSpPr>
          <p:spPr>
            <a:xfrm>
              <a:off x="20558900" y="20278054"/>
              <a:ext cx="605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6" name="直線コネクタ 335">
              <a:extLst>
                <a:ext uri="{FF2B5EF4-FFF2-40B4-BE49-F238E27FC236}">
                  <a16:creationId xmlns:a16="http://schemas.microsoft.com/office/drawing/2014/main" id="{1FDF6055-EB6E-A034-0EFD-7F30AEA5D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46934" y="19765975"/>
              <a:ext cx="356826" cy="174219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7" name="直線コネクタ 336">
              <a:extLst>
                <a:ext uri="{FF2B5EF4-FFF2-40B4-BE49-F238E27FC236}">
                  <a16:creationId xmlns:a16="http://schemas.microsoft.com/office/drawing/2014/main" id="{B1F247F6-A779-EF9D-2ED3-EA9A45FC85A3}"/>
                </a:ext>
              </a:extLst>
            </p:cNvPr>
            <p:cNvCxnSpPr>
              <a:cxnSpLocks/>
            </p:cNvCxnSpPr>
            <p:nvPr/>
          </p:nvCxnSpPr>
          <p:spPr>
            <a:xfrm>
              <a:off x="20621236" y="19936669"/>
              <a:ext cx="44687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8" name="直線矢印コネクタ 337">
              <a:extLst>
                <a:ext uri="{FF2B5EF4-FFF2-40B4-BE49-F238E27FC236}">
                  <a16:creationId xmlns:a16="http://schemas.microsoft.com/office/drawing/2014/main" id="{C6DBD273-ADA5-D410-D69B-711B3C7B01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72972" y="19937020"/>
              <a:ext cx="680394" cy="3174"/>
            </a:xfrm>
            <a:prstGeom prst="straightConnector1">
              <a:avLst/>
            </a:prstGeom>
            <a:ln>
              <a:solidFill>
                <a:schemeClr val="dk1"/>
              </a:solidFill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9" name="テキスト ボックス 338">
                  <a:extLst>
                    <a:ext uri="{FF2B5EF4-FFF2-40B4-BE49-F238E27FC236}">
                      <a16:creationId xmlns:a16="http://schemas.microsoft.com/office/drawing/2014/main" id="{6C99D23A-58B6-FB6B-13F3-D9830DF870B0}"/>
                    </a:ext>
                  </a:extLst>
                </p:cNvPr>
                <p:cNvSpPr txBox="1"/>
                <p:nvPr/>
              </p:nvSpPr>
              <p:spPr>
                <a:xfrm>
                  <a:off x="20621236" y="19622121"/>
                  <a:ext cx="51110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85" name="テキスト ボックス 284">
                  <a:extLst>
                    <a:ext uri="{FF2B5EF4-FFF2-40B4-BE49-F238E27FC236}">
                      <a16:creationId xmlns:a16="http://schemas.microsoft.com/office/drawing/2014/main" id="{00596224-175F-9977-E5B7-6753239FF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1236" y="19622121"/>
                  <a:ext cx="511102" cy="276999"/>
                </a:xfrm>
                <a:prstGeom prst="rect">
                  <a:avLst/>
                </a:prstGeom>
                <a:blipFill>
                  <a:blip r:embed="rId54"/>
                  <a:stretch>
                    <a:fillRect l="-7143" t="-4348" r="-14286" b="-3478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0" name="テキスト ボックス 339">
                  <a:extLst>
                    <a:ext uri="{FF2B5EF4-FFF2-40B4-BE49-F238E27FC236}">
                      <a16:creationId xmlns:a16="http://schemas.microsoft.com/office/drawing/2014/main" id="{5E46C6A0-05AE-6A80-372F-753F4C60EF54}"/>
                    </a:ext>
                  </a:extLst>
                </p:cNvPr>
                <p:cNvSpPr txBox="1"/>
                <p:nvPr/>
              </p:nvSpPr>
              <p:spPr>
                <a:xfrm>
                  <a:off x="21403760" y="19972739"/>
                  <a:ext cx="51539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86" name="テキスト ボックス 285">
                  <a:extLst>
                    <a:ext uri="{FF2B5EF4-FFF2-40B4-BE49-F238E27FC236}">
                      <a16:creationId xmlns:a16="http://schemas.microsoft.com/office/drawing/2014/main" id="{169BF41B-F736-057E-D5EE-EB51C5EA3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03760" y="19972739"/>
                  <a:ext cx="515398" cy="276999"/>
                </a:xfrm>
                <a:prstGeom prst="rect">
                  <a:avLst/>
                </a:prstGeom>
                <a:blipFill>
                  <a:blip r:embed="rId55"/>
                  <a:stretch>
                    <a:fillRect l="-7143" t="-4545" r="-11905" b="-3636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テキスト ボックス 340">
                  <a:extLst>
                    <a:ext uri="{FF2B5EF4-FFF2-40B4-BE49-F238E27FC236}">
                      <a16:creationId xmlns:a16="http://schemas.microsoft.com/office/drawing/2014/main" id="{D45EF2DC-AFC4-5C52-43E8-91A48949DA2E}"/>
                    </a:ext>
                  </a:extLst>
                </p:cNvPr>
                <p:cNvSpPr txBox="1"/>
                <p:nvPr/>
              </p:nvSpPr>
              <p:spPr>
                <a:xfrm>
                  <a:off x="24813118" y="19383458"/>
                  <a:ext cx="48981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1"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87" name="テキスト ボックス 286">
                  <a:extLst>
                    <a:ext uri="{FF2B5EF4-FFF2-40B4-BE49-F238E27FC236}">
                      <a16:creationId xmlns:a16="http://schemas.microsoft.com/office/drawing/2014/main" id="{467F3C33-BE49-6FED-D8C5-38B6FD877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13118" y="19383458"/>
                  <a:ext cx="489814" cy="276999"/>
                </a:xfrm>
                <a:prstGeom prst="rect">
                  <a:avLst/>
                </a:prstGeom>
                <a:blipFill>
                  <a:blip r:embed="rId56"/>
                  <a:stretch>
                    <a:fillRect l="-5128" t="-13043" r="-15385" b="-3478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2" name="直線矢印コネクタ 341">
              <a:extLst>
                <a:ext uri="{FF2B5EF4-FFF2-40B4-BE49-F238E27FC236}">
                  <a16:creationId xmlns:a16="http://schemas.microsoft.com/office/drawing/2014/main" id="{56CAD241-EFED-BE84-AF46-D6FDAC5FF2F2}"/>
                </a:ext>
              </a:extLst>
            </p:cNvPr>
            <p:cNvCxnSpPr>
              <a:cxnSpLocks/>
            </p:cNvCxnSpPr>
            <p:nvPr/>
          </p:nvCxnSpPr>
          <p:spPr>
            <a:xfrm>
              <a:off x="24376233" y="19765974"/>
              <a:ext cx="822426" cy="10652"/>
            </a:xfrm>
            <a:prstGeom prst="straightConnector1">
              <a:avLst/>
            </a:prstGeom>
            <a:ln>
              <a:solidFill>
                <a:schemeClr val="dk1"/>
              </a:solidFill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3" name="直線矢印コネクタ 342">
              <a:extLst>
                <a:ext uri="{FF2B5EF4-FFF2-40B4-BE49-F238E27FC236}">
                  <a16:creationId xmlns:a16="http://schemas.microsoft.com/office/drawing/2014/main" id="{556FBF8C-F4EC-BFB1-0872-0D6DFE5C18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53205" y="20156144"/>
              <a:ext cx="0" cy="84258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テキスト ボックス 343">
                  <a:extLst>
                    <a:ext uri="{FF2B5EF4-FFF2-40B4-BE49-F238E27FC236}">
                      <a16:creationId xmlns:a16="http://schemas.microsoft.com/office/drawing/2014/main" id="{A1CC3277-329A-2282-1AF9-E3F59B824D54}"/>
                    </a:ext>
                  </a:extLst>
                </p:cNvPr>
                <p:cNvSpPr txBox="1"/>
                <p:nvPr/>
              </p:nvSpPr>
              <p:spPr>
                <a:xfrm>
                  <a:off x="22730695" y="20491651"/>
                  <a:ext cx="6223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90" name="テキスト ボックス 289">
                  <a:extLst>
                    <a:ext uri="{FF2B5EF4-FFF2-40B4-BE49-F238E27FC236}">
                      <a16:creationId xmlns:a16="http://schemas.microsoft.com/office/drawing/2014/main" id="{EA5224E8-7374-F3CA-3243-E82C00531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30695" y="20491651"/>
                  <a:ext cx="622350" cy="276999"/>
                </a:xfrm>
                <a:prstGeom prst="rect">
                  <a:avLst/>
                </a:prstGeom>
                <a:blipFill>
                  <a:blip r:embed="rId57"/>
                  <a:stretch>
                    <a:fillRect l="-8163" t="-4348" r="-14286" b="-3043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2" name="グループ化 411">
            <a:extLst>
              <a:ext uri="{FF2B5EF4-FFF2-40B4-BE49-F238E27FC236}">
                <a16:creationId xmlns:a16="http://schemas.microsoft.com/office/drawing/2014/main" id="{7264AD98-A895-F618-D4B2-6F46FCF9A9C6}"/>
              </a:ext>
            </a:extLst>
          </p:cNvPr>
          <p:cNvGrpSpPr/>
          <p:nvPr/>
        </p:nvGrpSpPr>
        <p:grpSpPr>
          <a:xfrm>
            <a:off x="15957967" y="4328935"/>
            <a:ext cx="9817002" cy="4650209"/>
            <a:chOff x="15706863" y="9871117"/>
            <a:chExt cx="9817002" cy="46502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3" name="TextBox 383">
                  <a:extLst>
                    <a:ext uri="{FF2B5EF4-FFF2-40B4-BE49-F238E27FC236}">
                      <a16:creationId xmlns:a16="http://schemas.microsoft.com/office/drawing/2014/main" id="{0D4F934E-A254-DB84-60A8-AA8054A32CE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526889" y="11179887"/>
                  <a:ext cx="7476662" cy="13756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acc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)=0</m:t>
                                </m:r>
                              </m:e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acc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)=1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JP" sz="2400" dirty="0"/>
                </a:p>
              </p:txBody>
            </p:sp>
          </mc:Choice>
          <mc:Fallback xmlns="">
            <p:sp>
              <p:nvSpPr>
                <p:cNvPr id="413" name="TextBox 383">
                  <a:extLst>
                    <a:ext uri="{FF2B5EF4-FFF2-40B4-BE49-F238E27FC236}">
                      <a16:creationId xmlns:a16="http://schemas.microsoft.com/office/drawing/2014/main" id="{0D4F934E-A254-DB84-60A8-AA8054A32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26889" y="11179887"/>
                  <a:ext cx="7476662" cy="1375633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4" name="TextBox 384">
                  <a:extLst>
                    <a:ext uri="{FF2B5EF4-FFF2-40B4-BE49-F238E27FC236}">
                      <a16:creationId xmlns:a16="http://schemas.microsoft.com/office/drawing/2014/main" id="{1DF9C638-2252-C86A-49BE-5D9BCF7EEBD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021138" y="13608704"/>
                  <a:ext cx="4289444" cy="9126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𝑆𝑥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𝑆𝑥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JP" sz="2800" dirty="0"/>
                </a:p>
              </p:txBody>
            </p:sp>
          </mc:Choice>
          <mc:Fallback xmlns="">
            <p:sp>
              <p:nvSpPr>
                <p:cNvPr id="414" name="TextBox 384">
                  <a:extLst>
                    <a:ext uri="{FF2B5EF4-FFF2-40B4-BE49-F238E27FC236}">
                      <a16:creationId xmlns:a16="http://schemas.microsoft.com/office/drawing/2014/main" id="{1DF9C638-2252-C86A-49BE-5D9BCF7EE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21138" y="13608704"/>
                  <a:ext cx="4289444" cy="91262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5" name="TextBox 399">
                  <a:extLst>
                    <a:ext uri="{FF2B5EF4-FFF2-40B4-BE49-F238E27FC236}">
                      <a16:creationId xmlns:a16="http://schemas.microsoft.com/office/drawing/2014/main" id="{F7B63FAA-DA32-8B83-B2F3-D8ED83770F8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744071" y="9871117"/>
                  <a:ext cx="4387355" cy="13042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d>
                                          <m:d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d>
                                          <m:d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nary>
                          </m:e>
                        </m:func>
                      </m:oMath>
                    </m:oMathPara>
                  </a14:m>
                  <a:endParaRPr lang="en-JP" sz="2400" dirty="0"/>
                </a:p>
              </p:txBody>
            </p:sp>
          </mc:Choice>
          <mc:Fallback xmlns="">
            <p:sp>
              <p:nvSpPr>
                <p:cNvPr id="415" name="TextBox 399">
                  <a:extLst>
                    <a:ext uri="{FF2B5EF4-FFF2-40B4-BE49-F238E27FC236}">
                      <a16:creationId xmlns:a16="http://schemas.microsoft.com/office/drawing/2014/main" id="{F7B63FAA-DA32-8B83-B2F3-D8ED83770F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4071" y="9871117"/>
                  <a:ext cx="4387355" cy="1304268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6" name="TextBox 401">
                  <a:extLst>
                    <a:ext uri="{FF2B5EF4-FFF2-40B4-BE49-F238E27FC236}">
                      <a16:creationId xmlns:a16="http://schemas.microsoft.com/office/drawing/2014/main" id="{B39C35C0-5C36-09EF-B9E6-5FB023AB116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997458" y="11170053"/>
                  <a:ext cx="1562928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subject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to</m:t>
                        </m:r>
                      </m:oMath>
                    </m:oMathPara>
                  </a14:m>
                  <a:endParaRPr lang="en-JP" sz="2800" dirty="0"/>
                </a:p>
              </p:txBody>
            </p:sp>
          </mc:Choice>
          <mc:Fallback xmlns="">
            <p:sp>
              <p:nvSpPr>
                <p:cNvPr id="416" name="TextBox 401">
                  <a:extLst>
                    <a:ext uri="{FF2B5EF4-FFF2-40B4-BE49-F238E27FC236}">
                      <a16:creationId xmlns:a16="http://schemas.microsoft.com/office/drawing/2014/main" id="{B39C35C0-5C36-09EF-B9E6-5FB023AB11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97458" y="11170053"/>
                  <a:ext cx="1562928" cy="430887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7" name="TextBox 404">
                  <a:extLst>
                    <a:ext uri="{FF2B5EF4-FFF2-40B4-BE49-F238E27FC236}">
                      <a16:creationId xmlns:a16="http://schemas.microsoft.com/office/drawing/2014/main" id="{1A88940B-B533-F7C1-7FD3-823DB4088DE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599110" y="12600091"/>
                  <a:ext cx="5913222" cy="128657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JP" sz="2400" dirty="0"/>
                    <a:t>, </a:t>
                  </a:r>
                </a:p>
                <a:p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0 0 1 1 0 0 0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a14:m>
                  <a:r>
                    <a:rPr lang="en-JP" sz="2800" i="1" dirty="0">
                      <a:latin typeface="Cambria Math" panose="02040503050406030204" pitchFamily="18" charset="0"/>
                    </a:rPr>
                    <a:t>C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1 0 0 0 0 0 0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JP" sz="2400" i="1" dirty="0">
                      <a:latin typeface="Cambria Math" panose="02040503050406030204" pitchFamily="18" charset="0"/>
                    </a:rPr>
                    <a:t> </a:t>
                  </a:r>
                  <a:endParaRPr lang="en-US" sz="2400" i="1" dirty="0">
                    <a:latin typeface="Cambria Math" panose="02040503050406030204" pitchFamily="18" charset="0"/>
                  </a:endParaRPr>
                </a:p>
                <a:p>
                  <a:endParaRPr lang="en-JP" sz="2400" dirty="0"/>
                </a:p>
              </p:txBody>
            </p:sp>
          </mc:Choice>
          <mc:Fallback xmlns="">
            <p:sp>
              <p:nvSpPr>
                <p:cNvPr id="417" name="TextBox 404">
                  <a:extLst>
                    <a:ext uri="{FF2B5EF4-FFF2-40B4-BE49-F238E27FC236}">
                      <a16:creationId xmlns:a16="http://schemas.microsoft.com/office/drawing/2014/main" id="{1A88940B-B533-F7C1-7FD3-823DB4088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9110" y="12600091"/>
                  <a:ext cx="5913222" cy="1286571"/>
                </a:xfrm>
                <a:prstGeom prst="rect">
                  <a:avLst/>
                </a:prstGeom>
                <a:blipFill>
                  <a:blip r:embed="rId62"/>
                  <a:stretch>
                    <a:fillRect t="-474" r="-216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8" name="Left Bracket 1152">
              <a:extLst>
                <a:ext uri="{FF2B5EF4-FFF2-40B4-BE49-F238E27FC236}">
                  <a16:creationId xmlns:a16="http://schemas.microsoft.com/office/drawing/2014/main" id="{57A1B5EB-4187-C87E-9489-1F9FBC44D186}"/>
                </a:ext>
              </a:extLst>
            </p:cNvPr>
            <p:cNvSpPr>
              <a:spLocks/>
            </p:cNvSpPr>
            <p:nvPr/>
          </p:nvSpPr>
          <p:spPr>
            <a:xfrm>
              <a:off x="15706863" y="10113981"/>
              <a:ext cx="113022" cy="4388717"/>
            </a:xfrm>
            <a:prstGeom prst="leftBracket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9" name="TextBox 1146">
                  <a:extLst>
                    <a:ext uri="{FF2B5EF4-FFF2-40B4-BE49-F238E27FC236}">
                      <a16:creationId xmlns:a16="http://schemas.microsoft.com/office/drawing/2014/main" id="{C0145DD9-5F8C-A881-166A-17AF9C8EFF0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618410" y="12353144"/>
                  <a:ext cx="4905455" cy="6043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JP" sz="1600" dirty="0">
                      <a:solidFill>
                        <a:srgbClr val="C00000"/>
                      </a:solidFill>
                    </a:rPr>
                    <a:t>赤字: 代謝パラメータ</a:t>
                  </a:r>
                </a:p>
                <a:p>
                  <a:r>
                    <a:rPr lang="en-JP" sz="1600" dirty="0">
                      <a:solidFill>
                        <a:srgbClr val="C0000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JP" sz="1600" dirty="0">
                      <a:solidFill>
                        <a:srgbClr val="C00000"/>
                      </a:solidFill>
                    </a:rPr>
                    <a:t>は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JP" sz="1600" dirty="0">
                      <a:solidFill>
                        <a:srgbClr val="C00000"/>
                      </a:solidFill>
                    </a:rPr>
                    <a:t>以外をまとめたもの)</a:t>
                  </a:r>
                </a:p>
              </p:txBody>
            </p:sp>
          </mc:Choice>
          <mc:Fallback xmlns="">
            <p:sp>
              <p:nvSpPr>
                <p:cNvPr id="419" name="TextBox 1146">
                  <a:extLst>
                    <a:ext uri="{FF2B5EF4-FFF2-40B4-BE49-F238E27FC236}">
                      <a16:creationId xmlns:a16="http://schemas.microsoft.com/office/drawing/2014/main" id="{C0145DD9-5F8C-A881-166A-17AF9C8EF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410" y="12353144"/>
                  <a:ext cx="4905455" cy="604396"/>
                </a:xfrm>
                <a:prstGeom prst="rect">
                  <a:avLst/>
                </a:prstGeom>
                <a:blipFill>
                  <a:blip r:embed="rId63"/>
                  <a:stretch>
                    <a:fillRect l="-621" t="-3030" b="-1010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0" name="テキスト ボックス 419">
            <a:extLst>
              <a:ext uri="{FF2B5EF4-FFF2-40B4-BE49-F238E27FC236}">
                <a16:creationId xmlns:a16="http://schemas.microsoft.com/office/drawing/2014/main" id="{D0F1BED2-4BF7-6AF6-CB8E-E43B208308E8}"/>
              </a:ext>
            </a:extLst>
          </p:cNvPr>
          <p:cNvSpPr txBox="1"/>
          <p:nvPr/>
        </p:nvSpPr>
        <p:spPr>
          <a:xfrm>
            <a:off x="15854296" y="9440809"/>
            <a:ext cx="3101904" cy="65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状態推定</a:t>
            </a:r>
            <a:r>
              <a:rPr lang="ja-JP" altLang="en-US" sz="36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器</a:t>
            </a:r>
            <a:endParaRPr kumimoji="1" lang="ja-JP" altLang="en-US" sz="3600" b="1" dirty="0">
              <a:solidFill>
                <a:schemeClr val="tx2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3" name="テキスト ボックス 422">
            <a:extLst>
              <a:ext uri="{FF2B5EF4-FFF2-40B4-BE49-F238E27FC236}">
                <a16:creationId xmlns:a16="http://schemas.microsoft.com/office/drawing/2014/main" id="{4FAD4841-9D95-B302-0946-56E8B327351B}"/>
              </a:ext>
            </a:extLst>
          </p:cNvPr>
          <p:cNvSpPr txBox="1"/>
          <p:nvPr/>
        </p:nvSpPr>
        <p:spPr>
          <a:xfrm>
            <a:off x="15957968" y="10094537"/>
            <a:ext cx="13199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線形システムに対するオブザーバと拡張カルマンフィルタ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(EKF)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種類を構築．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4" name="テキスト ボックス 423">
            <a:extLst>
              <a:ext uri="{FF2B5EF4-FFF2-40B4-BE49-F238E27FC236}">
                <a16:creationId xmlns:a16="http://schemas.microsoft.com/office/drawing/2014/main" id="{B7D3A4EC-6C8C-0EBA-5356-6A92C1160E3E}"/>
              </a:ext>
            </a:extLst>
          </p:cNvPr>
          <p:cNvSpPr txBox="1"/>
          <p:nvPr/>
        </p:nvSpPr>
        <p:spPr>
          <a:xfrm>
            <a:off x="15957969" y="10631931"/>
            <a:ext cx="49680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利用可能データはインスリン入力，食事入力，血糖値データ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食事入力とモードの切り換えタイミングが既知であると仮定し，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Ra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をフィードフォワードで与える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425" name="Group 407">
            <a:extLst>
              <a:ext uri="{FF2B5EF4-FFF2-40B4-BE49-F238E27FC236}">
                <a16:creationId xmlns:a16="http://schemas.microsoft.com/office/drawing/2014/main" id="{E18EF74E-0259-F314-9FC6-507AAD099B6D}"/>
              </a:ext>
            </a:extLst>
          </p:cNvPr>
          <p:cNvGrpSpPr>
            <a:grpSpLocks/>
          </p:cNvGrpSpPr>
          <p:nvPr/>
        </p:nvGrpSpPr>
        <p:grpSpPr>
          <a:xfrm>
            <a:off x="22386352" y="4283561"/>
            <a:ext cx="7285885" cy="3960448"/>
            <a:chOff x="492246" y="2763288"/>
            <a:chExt cx="6971214" cy="3735506"/>
          </a:xfrm>
        </p:grpSpPr>
        <p:grpSp>
          <p:nvGrpSpPr>
            <p:cNvPr id="426" name="グループ化 91">
              <a:extLst>
                <a:ext uri="{FF2B5EF4-FFF2-40B4-BE49-F238E27FC236}">
                  <a16:creationId xmlns:a16="http://schemas.microsoft.com/office/drawing/2014/main" id="{6B4C59F3-50C6-21B6-4AB2-DAF0913CBB8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650590" y="2897727"/>
              <a:ext cx="2636019" cy="1238280"/>
              <a:chOff x="1074479" y="1180107"/>
              <a:chExt cx="2636019" cy="1238280"/>
            </a:xfrm>
          </p:grpSpPr>
          <p:sp>
            <p:nvSpPr>
              <p:cNvPr id="445" name="角丸四角形 28">
                <a:extLst>
                  <a:ext uri="{FF2B5EF4-FFF2-40B4-BE49-F238E27FC236}">
                    <a16:creationId xmlns:a16="http://schemas.microsoft.com/office/drawing/2014/main" id="{1A29DEC1-BD31-548A-46C7-1AD6A6B9CB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74479" y="1180107"/>
                <a:ext cx="2163040" cy="123503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46" name="テキスト ボックス 30">
                <a:extLst>
                  <a:ext uri="{FF2B5EF4-FFF2-40B4-BE49-F238E27FC236}">
                    <a16:creationId xmlns:a16="http://schemas.microsoft.com/office/drawing/2014/main" id="{F90A7A9B-0A53-83CB-B136-DF2030F088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6679" y="1218058"/>
                <a:ext cx="249381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400" b="1" dirty="0"/>
                  <a:t>Subject (UVA/Padova Model)</a:t>
                </a:r>
                <a:endParaRPr lang="ja-JP" altLang="en-US" sz="2400" b="1" dirty="0"/>
              </a:p>
            </p:txBody>
          </p:sp>
        </p:grpSp>
        <p:sp>
          <p:nvSpPr>
            <p:cNvPr id="427" name="テキスト ボックス 93">
              <a:extLst>
                <a:ext uri="{FF2B5EF4-FFF2-40B4-BE49-F238E27FC236}">
                  <a16:creationId xmlns:a16="http://schemas.microsoft.com/office/drawing/2014/main" id="{50A5F345-7A8A-7623-EE3E-A4D3C7CBCB3D}"/>
                </a:ext>
              </a:extLst>
            </p:cNvPr>
            <p:cNvSpPr txBox="1">
              <a:spLocks/>
            </p:cNvSpPr>
            <p:nvPr/>
          </p:nvSpPr>
          <p:spPr>
            <a:xfrm>
              <a:off x="492246" y="3030598"/>
              <a:ext cx="9220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b="1" dirty="0"/>
                <a:t>Input</a:t>
              </a:r>
              <a:endParaRPr lang="ja-JP" altLang="en-US" sz="2400" b="1"/>
            </a:p>
          </p:txBody>
        </p:sp>
        <p:cxnSp>
          <p:nvCxnSpPr>
            <p:cNvPr id="428" name="直線矢印コネクタ 94">
              <a:extLst>
                <a:ext uri="{FF2B5EF4-FFF2-40B4-BE49-F238E27FC236}">
                  <a16:creationId xmlns:a16="http://schemas.microsoft.com/office/drawing/2014/main" id="{0A3DE9B9-474C-50FA-27C6-F8F9CDF94C06}"/>
                </a:ext>
              </a:extLst>
            </p:cNvPr>
            <p:cNvCxnSpPr>
              <a:cxnSpLocks/>
            </p:cNvCxnSpPr>
            <p:nvPr/>
          </p:nvCxnSpPr>
          <p:spPr>
            <a:xfrm>
              <a:off x="567469" y="3492262"/>
              <a:ext cx="108312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線矢印コネクタ 99">
              <a:extLst>
                <a:ext uri="{FF2B5EF4-FFF2-40B4-BE49-F238E27FC236}">
                  <a16:creationId xmlns:a16="http://schemas.microsoft.com/office/drawing/2014/main" id="{E8F93138-8FB5-DF1C-20E0-9E2FF25982F5}"/>
                </a:ext>
              </a:extLst>
            </p:cNvPr>
            <p:cNvCxnSpPr>
              <a:cxnSpLocks/>
            </p:cNvCxnSpPr>
            <p:nvPr/>
          </p:nvCxnSpPr>
          <p:spPr>
            <a:xfrm>
              <a:off x="4524347" y="3592324"/>
              <a:ext cx="0" cy="155765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線矢印コネクタ 103">
              <a:extLst>
                <a:ext uri="{FF2B5EF4-FFF2-40B4-BE49-F238E27FC236}">
                  <a16:creationId xmlns:a16="http://schemas.microsoft.com/office/drawing/2014/main" id="{91E128C0-8651-B3D1-DE30-3AFFB24B12CC}"/>
                </a:ext>
              </a:extLst>
            </p:cNvPr>
            <p:cNvCxnSpPr>
              <a:cxnSpLocks/>
            </p:cNvCxnSpPr>
            <p:nvPr/>
          </p:nvCxnSpPr>
          <p:spPr>
            <a:xfrm>
              <a:off x="3813630" y="3499881"/>
              <a:ext cx="12231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円/楕円 111">
              <a:extLst>
                <a:ext uri="{FF2B5EF4-FFF2-40B4-BE49-F238E27FC236}">
                  <a16:creationId xmlns:a16="http://schemas.microsoft.com/office/drawing/2014/main" id="{4575006C-B9FE-48E1-B827-D2D92A104831}"/>
                </a:ext>
              </a:extLst>
            </p:cNvPr>
            <p:cNvSpPr>
              <a:spLocks/>
            </p:cNvSpPr>
            <p:nvPr/>
          </p:nvSpPr>
          <p:spPr>
            <a:xfrm>
              <a:off x="4447267" y="3422801"/>
              <a:ext cx="154161" cy="154161"/>
            </a:xfrm>
            <a:prstGeom prst="ellipse">
              <a:avLst/>
            </a:prstGeom>
            <a:solidFill>
              <a:schemeClr val="tx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cxnSp>
          <p:nvCxnSpPr>
            <p:cNvPr id="432" name="直線矢印コネクタ 130">
              <a:extLst>
                <a:ext uri="{FF2B5EF4-FFF2-40B4-BE49-F238E27FC236}">
                  <a16:creationId xmlns:a16="http://schemas.microsoft.com/office/drawing/2014/main" id="{DA66CA03-1B61-9CFA-D8BE-4D873E0B89EB}"/>
                </a:ext>
              </a:extLst>
            </p:cNvPr>
            <p:cNvCxnSpPr>
              <a:cxnSpLocks/>
              <a:stCxn id="436" idx="2"/>
            </p:cNvCxnSpPr>
            <p:nvPr/>
          </p:nvCxnSpPr>
          <p:spPr>
            <a:xfrm>
              <a:off x="5966722" y="4589678"/>
              <a:ext cx="4143" cy="58088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3" name="グループ化 138">
              <a:extLst>
                <a:ext uri="{FF2B5EF4-FFF2-40B4-BE49-F238E27FC236}">
                  <a16:creationId xmlns:a16="http://schemas.microsoft.com/office/drawing/2014/main" id="{B3C044D0-BE8F-F046-C688-BA4E5999DD2F}"/>
                </a:ext>
              </a:extLst>
            </p:cNvPr>
            <p:cNvGrpSpPr>
              <a:grpSpLocks/>
            </p:cNvGrpSpPr>
            <p:nvPr/>
          </p:nvGrpSpPr>
          <p:grpSpPr>
            <a:xfrm>
              <a:off x="3343067" y="5189686"/>
              <a:ext cx="3611630" cy="1309108"/>
              <a:chOff x="4289083" y="8237024"/>
              <a:chExt cx="3611630" cy="1309108"/>
            </a:xfrm>
          </p:grpSpPr>
          <p:grpSp>
            <p:nvGrpSpPr>
              <p:cNvPr id="440" name="グループ化 139">
                <a:extLst>
                  <a:ext uri="{FF2B5EF4-FFF2-40B4-BE49-F238E27FC236}">
                    <a16:creationId xmlns:a16="http://schemas.microsoft.com/office/drawing/2014/main" id="{37E5DD5D-3FB7-E9AA-14E3-1E4CD92838A8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4289083" y="8237024"/>
                <a:ext cx="3611630" cy="1309108"/>
                <a:chOff x="4289083" y="8260008"/>
                <a:chExt cx="3611630" cy="1309108"/>
              </a:xfrm>
            </p:grpSpPr>
            <p:sp>
              <p:nvSpPr>
                <p:cNvPr id="442" name="角丸四角形 141">
                  <a:extLst>
                    <a:ext uri="{FF2B5EF4-FFF2-40B4-BE49-F238E27FC236}">
                      <a16:creationId xmlns:a16="http://schemas.microsoft.com/office/drawing/2014/main" id="{F5EEB51A-2570-BA68-9D01-A7FF7DEAB78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89083" y="8260008"/>
                  <a:ext cx="3490927" cy="1309108"/>
                </a:xfrm>
                <a:prstGeom prst="round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443" name="テキスト ボックス 142">
                  <a:extLst>
                    <a:ext uri="{FF2B5EF4-FFF2-40B4-BE49-F238E27FC236}">
                      <a16:creationId xmlns:a16="http://schemas.microsoft.com/office/drawing/2014/main" id="{7FF239BC-D2D9-0942-5CAC-4617F098F03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73674" y="8294099"/>
                  <a:ext cx="342703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400" b="1" dirty="0"/>
                    <a:t>Parameter Estimation</a:t>
                  </a:r>
                  <a:endParaRPr lang="ja-JP" altLang="en-US" sz="2400" b="1" dirty="0"/>
                </a:p>
              </p:txBody>
            </p:sp>
            <p:sp>
              <p:nvSpPr>
                <p:cNvPr id="444" name="角丸四角形 143">
                  <a:extLst>
                    <a:ext uri="{FF2B5EF4-FFF2-40B4-BE49-F238E27FC236}">
                      <a16:creationId xmlns:a16="http://schemas.microsoft.com/office/drawing/2014/main" id="{1444EC9A-184A-9621-1A82-41D555CCA08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4198" y="8776287"/>
                  <a:ext cx="2718860" cy="659537"/>
                </a:xfrm>
                <a:prstGeom prst="round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</p:grpSp>
          <p:sp>
            <p:nvSpPr>
              <p:cNvPr id="441" name="テキスト ボックス 140">
                <a:extLst>
                  <a:ext uri="{FF2B5EF4-FFF2-40B4-BE49-F238E27FC236}">
                    <a16:creationId xmlns:a16="http://schemas.microsoft.com/office/drawing/2014/main" id="{CFC0E88E-23E1-9D65-AF82-10F3B77931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28057" y="8863648"/>
                <a:ext cx="16665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400" b="1" dirty="0"/>
                  <a:t>SSOGMM</a:t>
                </a:r>
                <a:endParaRPr lang="ja-JP" altLang="en-US" sz="2400" b="1" dirty="0"/>
              </a:p>
            </p:txBody>
          </p:sp>
        </p:grpSp>
        <p:cxnSp>
          <p:nvCxnSpPr>
            <p:cNvPr id="434" name="直線矢印コネクタ 144">
              <a:extLst>
                <a:ext uri="{FF2B5EF4-FFF2-40B4-BE49-F238E27FC236}">
                  <a16:creationId xmlns:a16="http://schemas.microsoft.com/office/drawing/2014/main" id="{1022F57B-7C4E-8C90-FDD4-A0C4A404712B}"/>
                </a:ext>
              </a:extLst>
            </p:cNvPr>
            <p:cNvCxnSpPr>
              <a:cxnSpLocks/>
            </p:cNvCxnSpPr>
            <p:nvPr/>
          </p:nvCxnSpPr>
          <p:spPr>
            <a:xfrm>
              <a:off x="6833995" y="5844240"/>
              <a:ext cx="629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5" name="テキスト ボックス 145">
                  <a:extLst>
                    <a:ext uri="{FF2B5EF4-FFF2-40B4-BE49-F238E27FC236}">
                      <a16:creationId xmlns:a16="http://schemas.microsoft.com/office/drawing/2014/main" id="{AC98AA7D-D028-EF7F-66AD-33976DE62B8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061851" y="5446978"/>
                  <a:ext cx="3724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ja-JP" altLang="en-US" sz="2400"/>
                </a:p>
              </p:txBody>
            </p:sp>
          </mc:Choice>
          <mc:Fallback xmlns="">
            <p:sp>
              <p:nvSpPr>
                <p:cNvPr id="435" name="テキスト ボックス 145">
                  <a:extLst>
                    <a:ext uri="{FF2B5EF4-FFF2-40B4-BE49-F238E27FC236}">
                      <a16:creationId xmlns:a16="http://schemas.microsoft.com/office/drawing/2014/main" id="{AC98AA7D-D028-EF7F-66AD-33976DE62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1851" y="5446978"/>
                  <a:ext cx="372474" cy="369332"/>
                </a:xfrm>
                <a:prstGeom prst="rect">
                  <a:avLst/>
                </a:prstGeom>
                <a:blipFill>
                  <a:blip r:embed="rId64"/>
                  <a:stretch>
                    <a:fillRect l="-1562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6" name="角丸四角形 168">
              <a:extLst>
                <a:ext uri="{FF2B5EF4-FFF2-40B4-BE49-F238E27FC236}">
                  <a16:creationId xmlns:a16="http://schemas.microsoft.com/office/drawing/2014/main" id="{AF8BAF68-004E-4D5C-9248-AB15C72D7F87}"/>
                </a:ext>
              </a:extLst>
            </p:cNvPr>
            <p:cNvSpPr>
              <a:spLocks/>
            </p:cNvSpPr>
            <p:nvPr/>
          </p:nvSpPr>
          <p:spPr>
            <a:xfrm>
              <a:off x="5045235" y="2763288"/>
              <a:ext cx="1842973" cy="182639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437" name="テキスト ボックス 169">
              <a:extLst>
                <a:ext uri="{FF2B5EF4-FFF2-40B4-BE49-F238E27FC236}">
                  <a16:creationId xmlns:a16="http://schemas.microsoft.com/office/drawing/2014/main" id="{8A3CD8D7-3873-D9A5-EDC4-7B7804BEE9D0}"/>
                </a:ext>
              </a:extLst>
            </p:cNvPr>
            <p:cNvSpPr txBox="1">
              <a:spLocks/>
            </p:cNvSpPr>
            <p:nvPr/>
          </p:nvSpPr>
          <p:spPr>
            <a:xfrm>
              <a:off x="5193632" y="3199429"/>
              <a:ext cx="1897657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800" b="1" dirty="0"/>
                <a:t>Mode </a:t>
              </a:r>
              <a:br>
                <a:rPr lang="en-US" altLang="ja-JP" sz="2800" b="1" dirty="0"/>
              </a:br>
              <a:r>
                <a:rPr lang="en-US" altLang="ja-JP" sz="2800" b="1" dirty="0"/>
                <a:t>Estimator</a:t>
              </a:r>
              <a:endParaRPr lang="ja-JP" altLang="en-US" sz="2800" dirty="0"/>
            </a:p>
          </p:txBody>
        </p:sp>
        <p:sp>
          <p:nvSpPr>
            <p:cNvPr id="438" name="テキスト ボックス 93">
              <a:extLst>
                <a:ext uri="{FF2B5EF4-FFF2-40B4-BE49-F238E27FC236}">
                  <a16:creationId xmlns:a16="http://schemas.microsoft.com/office/drawing/2014/main" id="{1A0B3BA1-755F-DE0C-AAE6-B1F992DB6446}"/>
                </a:ext>
              </a:extLst>
            </p:cNvPr>
            <p:cNvSpPr txBox="1">
              <a:spLocks/>
            </p:cNvSpPr>
            <p:nvPr/>
          </p:nvSpPr>
          <p:spPr>
            <a:xfrm>
              <a:off x="3801038" y="3005609"/>
              <a:ext cx="11914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b="1" dirty="0"/>
                <a:t>Glucose</a:t>
              </a:r>
              <a:endParaRPr lang="ja-JP" altLang="en-US" sz="2400" b="1" dirty="0"/>
            </a:p>
          </p:txBody>
        </p:sp>
        <p:sp>
          <p:nvSpPr>
            <p:cNvPr id="439" name="テキスト ボックス 93">
              <a:extLst>
                <a:ext uri="{FF2B5EF4-FFF2-40B4-BE49-F238E27FC236}">
                  <a16:creationId xmlns:a16="http://schemas.microsoft.com/office/drawing/2014/main" id="{B6B4E3D4-EA11-7A75-9CCD-6F7BA24FA2CB}"/>
                </a:ext>
              </a:extLst>
            </p:cNvPr>
            <p:cNvSpPr txBox="1">
              <a:spLocks/>
            </p:cNvSpPr>
            <p:nvPr/>
          </p:nvSpPr>
          <p:spPr>
            <a:xfrm>
              <a:off x="6080291" y="4649290"/>
              <a:ext cx="9396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b="1" dirty="0"/>
                <a:t>Mode</a:t>
              </a:r>
              <a:endParaRPr lang="ja-JP" altLang="en-US" sz="2400" b="1"/>
            </a:p>
          </p:txBody>
        </p:sp>
      </p:grpSp>
      <p:sp>
        <p:nvSpPr>
          <p:cNvPr id="447" name="TextBox 1278">
            <a:extLst>
              <a:ext uri="{FF2B5EF4-FFF2-40B4-BE49-F238E27FC236}">
                <a16:creationId xmlns:a16="http://schemas.microsoft.com/office/drawing/2014/main" id="{667E363E-F84C-6A85-32FE-E4DF805159BB}"/>
              </a:ext>
            </a:extLst>
          </p:cNvPr>
          <p:cNvSpPr txBox="1">
            <a:spLocks/>
          </p:cNvSpPr>
          <p:nvPr/>
        </p:nvSpPr>
        <p:spPr>
          <a:xfrm>
            <a:off x="543524" y="41013939"/>
            <a:ext cx="264906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[1] </a:t>
            </a:r>
            <a:r>
              <a:rPr lang="en-US" sz="1600" b="0" i="0" dirty="0">
                <a:solidFill>
                  <a:srgbClr val="1B1B1B"/>
                </a:solidFill>
                <a:effectLst/>
                <a:latin typeface="Roboto Mono Web"/>
              </a:rPr>
              <a:t>Magni L, Raimondo DM, Man CD, Breton M, Patek S, Nicolao GD, Cobelli C, Kovatchev BP: </a:t>
            </a:r>
            <a:r>
              <a:rPr kumimoji="1"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Evaluating the efficacy of closed-loop glucose regulation via control-variability grid analysis</a:t>
            </a:r>
            <a:r>
              <a:rPr kumimoji="1" lang="en-US" altLang="ja-JP" sz="1600" i="1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Journal of Diabetes Science and Technology </a:t>
            </a:r>
            <a:r>
              <a:rPr kumimoji="1"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(2008)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[2] Man CD, Micheletto F,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Lv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D, Breton M, Kovatchev B, Cobelli C: The UVA/PADOVA Type 1 Diabetes Simulator: New Features, </a:t>
            </a:r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Journal of Diabetes Science and Technology (2014)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[3]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三輪 雄太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平田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健二，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Tam Nguyen,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和佐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泰明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内田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健康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: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グルコース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–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インスリン動態切り換えモデルの構築およびパラメータ推定に関する考察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第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11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回計測自動制御学会制御部門マルチシンポジウム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(2024)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[4]Patek SD,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Lv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D, Ortiz EA, Hughes-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Karvetski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C, Kulkarni S, Zhang Q, Breton MD: Empirical Representation of Blood Glucose Variability in a Compartmental Model (2015)</a:t>
            </a:r>
            <a:endParaRPr lang="en" altLang="ja-JP" dirty="0">
              <a:latin typeface="メイリオ" panose="020B0604030504040204" pitchFamily="34" charset="-128"/>
            </a:endParaRPr>
          </a:p>
        </p:txBody>
      </p:sp>
      <p:sp>
        <p:nvSpPr>
          <p:cNvPr id="450" name="正方形/長方形 449">
            <a:extLst>
              <a:ext uri="{FF2B5EF4-FFF2-40B4-BE49-F238E27FC236}">
                <a16:creationId xmlns:a16="http://schemas.microsoft.com/office/drawing/2014/main" id="{6F3769E0-6D2F-3A2F-E979-D2D92DA21943}"/>
              </a:ext>
            </a:extLst>
          </p:cNvPr>
          <p:cNvSpPr>
            <a:spLocks/>
          </p:cNvSpPr>
          <p:nvPr/>
        </p:nvSpPr>
        <p:spPr>
          <a:xfrm>
            <a:off x="15439645" y="37263867"/>
            <a:ext cx="14391696" cy="3372402"/>
          </a:xfrm>
          <a:prstGeom prst="rect">
            <a:avLst/>
          </a:pr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51" name="テキスト ボックス 450">
            <a:extLst>
              <a:ext uri="{FF2B5EF4-FFF2-40B4-BE49-F238E27FC236}">
                <a16:creationId xmlns:a16="http://schemas.microsoft.com/office/drawing/2014/main" id="{AAE99263-5342-149A-3E01-90DE11995543}"/>
              </a:ext>
            </a:extLst>
          </p:cNvPr>
          <p:cNvSpPr txBox="1"/>
          <p:nvPr/>
        </p:nvSpPr>
        <p:spPr>
          <a:xfrm>
            <a:off x="15700000" y="37623741"/>
            <a:ext cx="52005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  <a:endParaRPr lang="ja-JP" altLang="en-US" sz="44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9B7550F-3C27-CFDF-29A6-8D94A6EBD57D}"/>
              </a:ext>
            </a:extLst>
          </p:cNvPr>
          <p:cNvGrpSpPr/>
          <p:nvPr/>
        </p:nvGrpSpPr>
        <p:grpSpPr>
          <a:xfrm>
            <a:off x="1438211" y="11094743"/>
            <a:ext cx="12191263" cy="10942926"/>
            <a:chOff x="1459372" y="9807043"/>
            <a:chExt cx="12191263" cy="10942926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33785B09-F066-D101-A934-373986B89E73}"/>
                </a:ext>
              </a:extLst>
            </p:cNvPr>
            <p:cNvSpPr/>
            <p:nvPr/>
          </p:nvSpPr>
          <p:spPr>
            <a:xfrm>
              <a:off x="2982854" y="18902718"/>
              <a:ext cx="2615036" cy="77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2800" b="1" dirty="0"/>
                <a:t>Insulin pump</a:t>
              </a:r>
              <a:endParaRPr kumimoji="1" lang="ja-JP" altLang="en-US" sz="2800" b="1" dirty="0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346E8F27-0991-C28A-680B-81DB921A8112}"/>
                </a:ext>
              </a:extLst>
            </p:cNvPr>
            <p:cNvSpPr/>
            <p:nvPr/>
          </p:nvSpPr>
          <p:spPr>
            <a:xfrm>
              <a:off x="9694543" y="18919117"/>
              <a:ext cx="2371249" cy="7316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800" b="1" dirty="0"/>
                <a:t>Sensor</a:t>
              </a:r>
              <a:endParaRPr kumimoji="1" lang="ja-JP" altLang="en-US" sz="2800" b="1" dirty="0"/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F43DE248-D16E-FD4E-0369-BFCF1A71BF18}"/>
                </a:ext>
              </a:extLst>
            </p:cNvPr>
            <p:cNvSpPr/>
            <p:nvPr/>
          </p:nvSpPr>
          <p:spPr>
            <a:xfrm>
              <a:off x="6421370" y="19850465"/>
              <a:ext cx="2615036" cy="8995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2800" b="1" dirty="0"/>
                <a:t>Controller</a:t>
              </a:r>
            </a:p>
          </p:txBody>
        </p:sp>
        <p:sp>
          <p:nvSpPr>
            <p:cNvPr id="97" name="矢印: 下 96">
              <a:extLst>
                <a:ext uri="{FF2B5EF4-FFF2-40B4-BE49-F238E27FC236}">
                  <a16:creationId xmlns:a16="http://schemas.microsoft.com/office/drawing/2014/main" id="{3031B432-E487-0548-6EE3-BE1A0D94B921}"/>
                </a:ext>
              </a:extLst>
            </p:cNvPr>
            <p:cNvSpPr/>
            <p:nvPr/>
          </p:nvSpPr>
          <p:spPr>
            <a:xfrm>
              <a:off x="10608322" y="18055473"/>
              <a:ext cx="759360" cy="856090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矢印: 下 97">
              <a:extLst>
                <a:ext uri="{FF2B5EF4-FFF2-40B4-BE49-F238E27FC236}">
                  <a16:creationId xmlns:a16="http://schemas.microsoft.com/office/drawing/2014/main" id="{7D43DB88-D41B-0861-1AB3-BFF1C98B787B}"/>
                </a:ext>
              </a:extLst>
            </p:cNvPr>
            <p:cNvSpPr/>
            <p:nvPr/>
          </p:nvSpPr>
          <p:spPr>
            <a:xfrm rot="10800000">
              <a:off x="3885600" y="18095969"/>
              <a:ext cx="759359" cy="77509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kumimoji="1" lang="ja-JP" altLang="en-US" dirty="0"/>
            </a:p>
          </p:txBody>
        </p:sp>
        <p:sp>
          <p:nvSpPr>
            <p:cNvPr id="106" name="矢印: 上向き折線 105">
              <a:extLst>
                <a:ext uri="{FF2B5EF4-FFF2-40B4-BE49-F238E27FC236}">
                  <a16:creationId xmlns:a16="http://schemas.microsoft.com/office/drawing/2014/main" id="{D0921656-D252-FCAF-9239-B6D9413ED06F}"/>
                </a:ext>
              </a:extLst>
            </p:cNvPr>
            <p:cNvSpPr/>
            <p:nvPr/>
          </p:nvSpPr>
          <p:spPr>
            <a:xfrm rot="10800000" flipV="1">
              <a:off x="4028211" y="19550002"/>
              <a:ext cx="2388727" cy="858915"/>
            </a:xfrm>
            <a:prstGeom prst="bent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3E096905-A962-C0A9-584F-3E61E6918AB0}"/>
                </a:ext>
              </a:extLst>
            </p:cNvPr>
            <p:cNvGrpSpPr/>
            <p:nvPr/>
          </p:nvGrpSpPr>
          <p:grpSpPr>
            <a:xfrm>
              <a:off x="1459372" y="9807043"/>
              <a:ext cx="12191263" cy="8390119"/>
              <a:chOff x="861870" y="9885430"/>
              <a:chExt cx="12191263" cy="8390119"/>
            </a:xfrm>
          </p:grpSpPr>
          <p:sp>
            <p:nvSpPr>
              <p:cNvPr id="2" name="四角形: 角を丸くする 1">
                <a:extLst>
                  <a:ext uri="{FF2B5EF4-FFF2-40B4-BE49-F238E27FC236}">
                    <a16:creationId xmlns:a16="http://schemas.microsoft.com/office/drawing/2014/main" id="{9DFCE3F7-01FF-F91A-6B86-357CB4764391}"/>
                  </a:ext>
                </a:extLst>
              </p:cNvPr>
              <p:cNvSpPr/>
              <p:nvPr/>
            </p:nvSpPr>
            <p:spPr>
              <a:xfrm>
                <a:off x="861870" y="9885430"/>
                <a:ext cx="12191263" cy="839011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grpSp>
            <p:nvGrpSpPr>
              <p:cNvPr id="186" name="グループ化 185">
                <a:extLst>
                  <a:ext uri="{FF2B5EF4-FFF2-40B4-BE49-F238E27FC236}">
                    <a16:creationId xmlns:a16="http://schemas.microsoft.com/office/drawing/2014/main" id="{CAD7D54B-3827-0D54-0403-90792D5CA422}"/>
                  </a:ext>
                </a:extLst>
              </p:cNvPr>
              <p:cNvGrpSpPr/>
              <p:nvPr/>
            </p:nvGrpSpPr>
            <p:grpSpPr>
              <a:xfrm>
                <a:off x="1208888" y="10304267"/>
                <a:ext cx="10980866" cy="7513976"/>
                <a:chOff x="563828" y="315646"/>
                <a:chExt cx="10800545" cy="3940488"/>
              </a:xfrm>
            </p:grpSpPr>
            <p:sp>
              <p:nvSpPr>
                <p:cNvPr id="187" name="正方形/長方形 186">
                  <a:extLst>
                    <a:ext uri="{FF2B5EF4-FFF2-40B4-BE49-F238E27FC236}">
                      <a16:creationId xmlns:a16="http://schemas.microsoft.com/office/drawing/2014/main" id="{FAEF99C1-2F1D-5634-8D2E-D75D248DC4CA}"/>
                    </a:ext>
                  </a:extLst>
                </p:cNvPr>
                <p:cNvSpPr/>
                <p:nvPr/>
              </p:nvSpPr>
              <p:spPr>
                <a:xfrm>
                  <a:off x="4529723" y="3559395"/>
                  <a:ext cx="2080563" cy="696739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Subcutaneous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Insulin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" name="正方形/長方形 187">
                  <a:extLst>
                    <a:ext uri="{FF2B5EF4-FFF2-40B4-BE49-F238E27FC236}">
                      <a16:creationId xmlns:a16="http://schemas.microsoft.com/office/drawing/2014/main" id="{FE9ACF2D-0C62-75B8-3B46-3FB322725E99}"/>
                    </a:ext>
                  </a:extLst>
                </p:cNvPr>
                <p:cNvSpPr/>
                <p:nvPr/>
              </p:nvSpPr>
              <p:spPr>
                <a:xfrm>
                  <a:off x="7403594" y="3559396"/>
                  <a:ext cx="1566847" cy="696738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Insulin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system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" name="正方形/長方形 188">
                  <a:extLst>
                    <a:ext uri="{FF2B5EF4-FFF2-40B4-BE49-F238E27FC236}">
                      <a16:creationId xmlns:a16="http://schemas.microsoft.com/office/drawing/2014/main" id="{C18B012E-88F3-385A-0428-96C3DF410ED7}"/>
                    </a:ext>
                  </a:extLst>
                </p:cNvPr>
                <p:cNvSpPr/>
                <p:nvPr/>
              </p:nvSpPr>
              <p:spPr>
                <a:xfrm>
                  <a:off x="7357067" y="2003330"/>
                  <a:ext cx="1655819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Glucose</a:t>
                  </a:r>
                </a:p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system</a:t>
                  </a:r>
                </a:p>
              </p:txBody>
            </p:sp>
            <p:sp>
              <p:nvSpPr>
                <p:cNvPr id="190" name="正方形/長方形 189">
                  <a:extLst>
                    <a:ext uri="{FF2B5EF4-FFF2-40B4-BE49-F238E27FC236}">
                      <a16:creationId xmlns:a16="http://schemas.microsoft.com/office/drawing/2014/main" id="{2CA457E6-7DE9-911F-9F57-39855C03FDEE}"/>
                    </a:ext>
                  </a:extLst>
                </p:cNvPr>
                <p:cNvSpPr/>
                <p:nvPr/>
              </p:nvSpPr>
              <p:spPr>
                <a:xfrm>
                  <a:off x="9678401" y="2055882"/>
                  <a:ext cx="1655818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Muscle and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adipose tissues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" name="正方形/長方形 190">
                  <a:extLst>
                    <a:ext uri="{FF2B5EF4-FFF2-40B4-BE49-F238E27FC236}">
                      <a16:creationId xmlns:a16="http://schemas.microsoft.com/office/drawing/2014/main" id="{9AC11E7C-415D-BF94-7875-9887B3648EFE}"/>
                    </a:ext>
                  </a:extLst>
                </p:cNvPr>
                <p:cNvSpPr/>
                <p:nvPr/>
              </p:nvSpPr>
              <p:spPr>
                <a:xfrm>
                  <a:off x="5031407" y="2023914"/>
                  <a:ext cx="1311631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LIVER</a:t>
                  </a:r>
                </a:p>
              </p:txBody>
            </p:sp>
            <p:sp>
              <p:nvSpPr>
                <p:cNvPr id="192" name="正方形/長方形 191">
                  <a:extLst>
                    <a:ext uri="{FF2B5EF4-FFF2-40B4-BE49-F238E27FC236}">
                      <a16:creationId xmlns:a16="http://schemas.microsoft.com/office/drawing/2014/main" id="{D25E0A77-3D10-3B38-4678-DF9B93210804}"/>
                    </a:ext>
                  </a:extLst>
                </p:cNvPr>
                <p:cNvSpPr/>
                <p:nvPr/>
              </p:nvSpPr>
              <p:spPr>
                <a:xfrm>
                  <a:off x="5005617" y="718540"/>
                  <a:ext cx="2078640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Gastrointestinal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tract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" name="正方形/長方形 192">
                  <a:extLst>
                    <a:ext uri="{FF2B5EF4-FFF2-40B4-BE49-F238E27FC236}">
                      <a16:creationId xmlns:a16="http://schemas.microsoft.com/office/drawing/2014/main" id="{8548DE79-72A8-DC34-3F84-339E2B7F83E0}"/>
                    </a:ext>
                  </a:extLst>
                </p:cNvPr>
                <p:cNvSpPr/>
                <p:nvPr/>
              </p:nvSpPr>
              <p:spPr>
                <a:xfrm>
                  <a:off x="8147354" y="1141591"/>
                  <a:ext cx="1531047" cy="335109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Renal</a:t>
                  </a:r>
                </a:p>
              </p:txBody>
            </p:sp>
            <p:sp>
              <p:nvSpPr>
                <p:cNvPr id="194" name="正方形/長方形 193">
                  <a:extLst>
                    <a:ext uri="{FF2B5EF4-FFF2-40B4-BE49-F238E27FC236}">
                      <a16:creationId xmlns:a16="http://schemas.microsoft.com/office/drawing/2014/main" id="{3E9AB794-5CCD-9F6A-381E-5C1665B19498}"/>
                    </a:ext>
                  </a:extLst>
                </p:cNvPr>
                <p:cNvSpPr/>
                <p:nvPr/>
              </p:nvSpPr>
              <p:spPr>
                <a:xfrm>
                  <a:off x="8378157" y="423283"/>
                  <a:ext cx="2986216" cy="383355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Brain and erythrocytes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" name="正方形/長方形 194">
                  <a:extLst>
                    <a:ext uri="{FF2B5EF4-FFF2-40B4-BE49-F238E27FC236}">
                      <a16:creationId xmlns:a16="http://schemas.microsoft.com/office/drawing/2014/main" id="{9A5B9BCB-CDE5-515C-EC04-20041C6ABA37}"/>
                    </a:ext>
                  </a:extLst>
                </p:cNvPr>
                <p:cNvSpPr/>
                <p:nvPr/>
              </p:nvSpPr>
              <p:spPr>
                <a:xfrm>
                  <a:off x="2997581" y="2029443"/>
                  <a:ext cx="1655819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Glucagon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system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正方形/長方形 195">
                  <a:extLst>
                    <a:ext uri="{FF2B5EF4-FFF2-40B4-BE49-F238E27FC236}">
                      <a16:creationId xmlns:a16="http://schemas.microsoft.com/office/drawing/2014/main" id="{5F0FDE7C-2443-EEDB-570E-02D0836B40BE}"/>
                    </a:ext>
                  </a:extLst>
                </p:cNvPr>
                <p:cNvSpPr/>
                <p:nvPr/>
              </p:nvSpPr>
              <p:spPr>
                <a:xfrm>
                  <a:off x="563828" y="2035324"/>
                  <a:ext cx="1655818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Alpha-cell</a:t>
                  </a:r>
                </a:p>
              </p:txBody>
            </p:sp>
            <p:sp>
              <p:nvSpPr>
                <p:cNvPr id="197" name="正方形/長方形 196">
                  <a:extLst>
                    <a:ext uri="{FF2B5EF4-FFF2-40B4-BE49-F238E27FC236}">
                      <a16:creationId xmlns:a16="http://schemas.microsoft.com/office/drawing/2014/main" id="{EA135851-4603-652A-35F5-A33768B02A8B}"/>
                    </a:ext>
                  </a:extLst>
                </p:cNvPr>
                <p:cNvSpPr/>
                <p:nvPr/>
              </p:nvSpPr>
              <p:spPr>
                <a:xfrm>
                  <a:off x="923938" y="1249756"/>
                  <a:ext cx="2181983" cy="623678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Subcutaneous</a:t>
                  </a:r>
                </a:p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Glucagon</a:t>
                  </a:r>
                </a:p>
              </p:txBody>
            </p:sp>
            <p:cxnSp>
              <p:nvCxnSpPr>
                <p:cNvPr id="198" name="直線矢印コネクタ 197">
                  <a:extLst>
                    <a:ext uri="{FF2B5EF4-FFF2-40B4-BE49-F238E27FC236}">
                      <a16:creationId xmlns:a16="http://schemas.microsoft.com/office/drawing/2014/main" id="{FEC57C9B-B9CC-E4BD-10F5-D8775B577586}"/>
                    </a:ext>
                  </a:extLst>
                </p:cNvPr>
                <p:cNvCxnSpPr>
                  <a:cxnSpLocks/>
                  <a:stCxn id="191" idx="3"/>
                </p:cNvCxnSpPr>
                <p:nvPr/>
              </p:nvCxnSpPr>
              <p:spPr>
                <a:xfrm>
                  <a:off x="6343038" y="2407269"/>
                  <a:ext cx="101402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線矢印コネクタ 198">
                  <a:extLst>
                    <a:ext uri="{FF2B5EF4-FFF2-40B4-BE49-F238E27FC236}">
                      <a16:creationId xmlns:a16="http://schemas.microsoft.com/office/drawing/2014/main" id="{0CAE6731-58BD-3FB2-BF0D-A86C8E693658}"/>
                    </a:ext>
                  </a:extLst>
                </p:cNvPr>
                <p:cNvCxnSpPr/>
                <p:nvPr/>
              </p:nvCxnSpPr>
              <p:spPr>
                <a:xfrm>
                  <a:off x="9012885" y="2496018"/>
                  <a:ext cx="66551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00" name="グループ化 199">
                  <a:extLst>
                    <a:ext uri="{FF2B5EF4-FFF2-40B4-BE49-F238E27FC236}">
                      <a16:creationId xmlns:a16="http://schemas.microsoft.com/office/drawing/2014/main" id="{BBDF9307-9072-83F0-2054-DC5321BE016B}"/>
                    </a:ext>
                  </a:extLst>
                </p:cNvPr>
                <p:cNvGrpSpPr/>
                <p:nvPr/>
              </p:nvGrpSpPr>
              <p:grpSpPr>
                <a:xfrm>
                  <a:off x="7084257" y="1073503"/>
                  <a:ext cx="444654" cy="929827"/>
                  <a:chOff x="5159378" y="1006298"/>
                  <a:chExt cx="444654" cy="929827"/>
                </a:xfrm>
              </p:grpSpPr>
              <p:cxnSp>
                <p:nvCxnSpPr>
                  <p:cNvPr id="245" name="直線コネクタ 244">
                    <a:extLst>
                      <a:ext uri="{FF2B5EF4-FFF2-40B4-BE49-F238E27FC236}">
                        <a16:creationId xmlns:a16="http://schemas.microsoft.com/office/drawing/2014/main" id="{87BD32B1-D96D-7F86-FC28-F4FEC0FD6B03}"/>
                      </a:ext>
                    </a:extLst>
                  </p:cNvPr>
                  <p:cNvCxnSpPr/>
                  <p:nvPr/>
                </p:nvCxnSpPr>
                <p:spPr>
                  <a:xfrm>
                    <a:off x="5159378" y="1006298"/>
                    <a:ext cx="444654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6" name="直線矢印コネクタ 245">
                    <a:extLst>
                      <a:ext uri="{FF2B5EF4-FFF2-40B4-BE49-F238E27FC236}">
                        <a16:creationId xmlns:a16="http://schemas.microsoft.com/office/drawing/2014/main" id="{97B8C291-27C6-B5B5-036C-D7D930144D1C}"/>
                      </a:ext>
                    </a:extLst>
                  </p:cNvPr>
                  <p:cNvCxnSpPr/>
                  <p:nvPr/>
                </p:nvCxnSpPr>
                <p:spPr>
                  <a:xfrm>
                    <a:off x="5604032" y="1006298"/>
                    <a:ext cx="0" cy="92982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1" name="グループ化 200">
                  <a:extLst>
                    <a:ext uri="{FF2B5EF4-FFF2-40B4-BE49-F238E27FC236}">
                      <a16:creationId xmlns:a16="http://schemas.microsoft.com/office/drawing/2014/main" id="{A2825E5A-293A-8289-2677-D74B84D42FA5}"/>
                    </a:ext>
                  </a:extLst>
                </p:cNvPr>
                <p:cNvGrpSpPr/>
                <p:nvPr/>
              </p:nvGrpSpPr>
              <p:grpSpPr>
                <a:xfrm>
                  <a:off x="7874085" y="614961"/>
                  <a:ext cx="504072" cy="1388369"/>
                  <a:chOff x="5954812" y="547756"/>
                  <a:chExt cx="504072" cy="1388369"/>
                </a:xfrm>
              </p:grpSpPr>
              <p:cxnSp>
                <p:nvCxnSpPr>
                  <p:cNvPr id="243" name="直線コネクタ 242">
                    <a:extLst>
                      <a:ext uri="{FF2B5EF4-FFF2-40B4-BE49-F238E27FC236}">
                        <a16:creationId xmlns:a16="http://schemas.microsoft.com/office/drawing/2014/main" id="{DC04D90E-6E95-34F9-72B8-7D8221349FB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954812" y="547756"/>
                    <a:ext cx="0" cy="138836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直線矢印コネクタ 243">
                    <a:extLst>
                      <a:ext uri="{FF2B5EF4-FFF2-40B4-BE49-F238E27FC236}">
                        <a16:creationId xmlns:a16="http://schemas.microsoft.com/office/drawing/2014/main" id="{E9570462-3241-684A-6AA1-D56E741CB8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54812" y="547756"/>
                    <a:ext cx="50407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2" name="直線矢印コネクタ 201">
                  <a:extLst>
                    <a:ext uri="{FF2B5EF4-FFF2-40B4-BE49-F238E27FC236}">
                      <a16:creationId xmlns:a16="http://schemas.microsoft.com/office/drawing/2014/main" id="{4E6AF7AE-8DA0-984B-C554-868C6F3C6F72}"/>
                    </a:ext>
                  </a:extLst>
                </p:cNvPr>
                <p:cNvCxnSpPr/>
                <p:nvPr/>
              </p:nvCxnSpPr>
              <p:spPr>
                <a:xfrm flipV="1">
                  <a:off x="8462664" y="1476700"/>
                  <a:ext cx="0" cy="52663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直線矢印コネクタ 202">
                  <a:extLst>
                    <a:ext uri="{FF2B5EF4-FFF2-40B4-BE49-F238E27FC236}">
                      <a16:creationId xmlns:a16="http://schemas.microsoft.com/office/drawing/2014/main" id="{F9BB7BFC-7AB8-DA1D-CA4C-FD89FAC5D85A}"/>
                    </a:ext>
                  </a:extLst>
                </p:cNvPr>
                <p:cNvCxnSpPr>
                  <a:cxnSpLocks/>
                  <a:endCxn id="193" idx="2"/>
                </p:cNvCxnSpPr>
                <p:nvPr/>
              </p:nvCxnSpPr>
              <p:spPr>
                <a:xfrm flipV="1">
                  <a:off x="8912877" y="1476700"/>
                  <a:ext cx="1" cy="526630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直線矢印コネクタ 203">
                  <a:extLst>
                    <a:ext uri="{FF2B5EF4-FFF2-40B4-BE49-F238E27FC236}">
                      <a16:creationId xmlns:a16="http://schemas.microsoft.com/office/drawing/2014/main" id="{E7AA07E8-9461-9477-0315-5948A4594EC4}"/>
                    </a:ext>
                  </a:extLst>
                </p:cNvPr>
                <p:cNvCxnSpPr/>
                <p:nvPr/>
              </p:nvCxnSpPr>
              <p:spPr>
                <a:xfrm>
                  <a:off x="9012885" y="2280556"/>
                  <a:ext cx="665516" cy="0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線矢印コネクタ 204">
                  <a:extLst>
                    <a:ext uri="{FF2B5EF4-FFF2-40B4-BE49-F238E27FC236}">
                      <a16:creationId xmlns:a16="http://schemas.microsoft.com/office/drawing/2014/main" id="{4859B38C-ACDF-10CB-8863-2CC7BA39E4A0}"/>
                    </a:ext>
                  </a:extLst>
                </p:cNvPr>
                <p:cNvCxnSpPr>
                  <a:cxnSpLocks/>
                  <a:stCxn id="187" idx="3"/>
                  <a:endCxn id="188" idx="1"/>
                </p:cNvCxnSpPr>
                <p:nvPr/>
              </p:nvCxnSpPr>
              <p:spPr>
                <a:xfrm>
                  <a:off x="6610287" y="3907765"/>
                  <a:ext cx="79330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線矢印コネクタ 205">
                  <a:extLst>
                    <a:ext uri="{FF2B5EF4-FFF2-40B4-BE49-F238E27FC236}">
                      <a16:creationId xmlns:a16="http://schemas.microsoft.com/office/drawing/2014/main" id="{DBB5FE52-453D-7745-F340-F6CEDC543AA1}"/>
                    </a:ext>
                  </a:extLst>
                </p:cNvPr>
                <p:cNvCxnSpPr/>
                <p:nvPr/>
              </p:nvCxnSpPr>
              <p:spPr>
                <a:xfrm flipV="1">
                  <a:off x="8979647" y="3930176"/>
                  <a:ext cx="1194496" cy="101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線コネクタ 206">
                  <a:extLst>
                    <a:ext uri="{FF2B5EF4-FFF2-40B4-BE49-F238E27FC236}">
                      <a16:creationId xmlns:a16="http://schemas.microsoft.com/office/drawing/2014/main" id="{DDFD3263-2448-F451-9805-FFE6DB5D06BD}"/>
                    </a:ext>
                  </a:extLst>
                </p:cNvPr>
                <p:cNvCxnSpPr>
                  <a:cxnSpLocks/>
                  <a:stCxn id="188" idx="0"/>
                  <a:endCxn id="210" idx="4"/>
                </p:cNvCxnSpPr>
                <p:nvPr/>
              </p:nvCxnSpPr>
              <p:spPr>
                <a:xfrm flipV="1">
                  <a:off x="8187018" y="3352429"/>
                  <a:ext cx="0" cy="206967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カギ線コネクタ 51">
                  <a:extLst>
                    <a:ext uri="{FF2B5EF4-FFF2-40B4-BE49-F238E27FC236}">
                      <a16:creationId xmlns:a16="http://schemas.microsoft.com/office/drawing/2014/main" id="{7E6F0726-0E19-EB38-D77D-1B31E3248EBC}"/>
                    </a:ext>
                  </a:extLst>
                </p:cNvPr>
                <p:cNvCxnSpPr>
                  <a:cxnSpLocks/>
                  <a:stCxn id="210" idx="2"/>
                  <a:endCxn id="191" idx="2"/>
                </p:cNvCxnSpPr>
                <p:nvPr/>
              </p:nvCxnSpPr>
              <p:spPr>
                <a:xfrm rot="10800000">
                  <a:off x="5687224" y="2790625"/>
                  <a:ext cx="2461751" cy="538080"/>
                </a:xfrm>
                <a:prstGeom prst="bentConnector2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カギ線コネクタ 53">
                  <a:extLst>
                    <a:ext uri="{FF2B5EF4-FFF2-40B4-BE49-F238E27FC236}">
                      <a16:creationId xmlns:a16="http://schemas.microsoft.com/office/drawing/2014/main" id="{F99F82EC-A625-2AC2-A43B-AFA632F0FEB0}"/>
                    </a:ext>
                  </a:extLst>
                </p:cNvPr>
                <p:cNvCxnSpPr>
                  <a:cxnSpLocks/>
                  <a:stCxn id="210" idx="6"/>
                  <a:endCxn id="190" idx="2"/>
                </p:cNvCxnSpPr>
                <p:nvPr/>
              </p:nvCxnSpPr>
              <p:spPr>
                <a:xfrm flipV="1">
                  <a:off x="8225061" y="2822592"/>
                  <a:ext cx="2281250" cy="506112"/>
                </a:xfrm>
                <a:prstGeom prst="bentConnector2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円/楕円 54">
                  <a:extLst>
                    <a:ext uri="{FF2B5EF4-FFF2-40B4-BE49-F238E27FC236}">
                      <a16:creationId xmlns:a16="http://schemas.microsoft.com/office/drawing/2014/main" id="{158E0C22-CB48-FE7D-18C1-7F292BCE73A3}"/>
                    </a:ext>
                  </a:extLst>
                </p:cNvPr>
                <p:cNvSpPr/>
                <p:nvPr/>
              </p:nvSpPr>
              <p:spPr>
                <a:xfrm>
                  <a:off x="8148974" y="3304978"/>
                  <a:ext cx="76088" cy="4745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2400"/>
                </a:p>
              </p:txBody>
            </p:sp>
            <p:sp>
              <p:nvSpPr>
                <p:cNvPr id="211" name="円/楕円 71">
                  <a:extLst>
                    <a:ext uri="{FF2B5EF4-FFF2-40B4-BE49-F238E27FC236}">
                      <a16:creationId xmlns:a16="http://schemas.microsoft.com/office/drawing/2014/main" id="{50D1C516-F093-4F51-7314-6B094015464A}"/>
                    </a:ext>
                  </a:extLst>
                </p:cNvPr>
                <p:cNvSpPr/>
                <p:nvPr/>
              </p:nvSpPr>
              <p:spPr>
                <a:xfrm>
                  <a:off x="8148976" y="2995945"/>
                  <a:ext cx="72000" cy="72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2400"/>
                </a:p>
              </p:txBody>
            </p:sp>
            <p:cxnSp>
              <p:nvCxnSpPr>
                <p:cNvPr id="212" name="直線コネクタ 211">
                  <a:extLst>
                    <a:ext uri="{FF2B5EF4-FFF2-40B4-BE49-F238E27FC236}">
                      <a16:creationId xmlns:a16="http://schemas.microsoft.com/office/drawing/2014/main" id="{689C37A8-CE64-35B3-A3E4-B86A0A6B88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4976" y="2802195"/>
                  <a:ext cx="0" cy="20035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線コネクタ 212">
                  <a:extLst>
                    <a:ext uri="{FF2B5EF4-FFF2-40B4-BE49-F238E27FC236}">
                      <a16:creationId xmlns:a16="http://schemas.microsoft.com/office/drawing/2014/main" id="{C29DC843-AB28-88CA-C4B3-F63A28BB62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20977" y="3035727"/>
                  <a:ext cx="1888418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線矢印コネクタ 213">
                  <a:extLst>
                    <a:ext uri="{FF2B5EF4-FFF2-40B4-BE49-F238E27FC236}">
                      <a16:creationId xmlns:a16="http://schemas.microsoft.com/office/drawing/2014/main" id="{419685EA-BF6D-9AA8-33C1-FEBE3ACE01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097810" y="2819015"/>
                  <a:ext cx="11585" cy="216712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線コネクタ 214">
                  <a:extLst>
                    <a:ext uri="{FF2B5EF4-FFF2-40B4-BE49-F238E27FC236}">
                      <a16:creationId xmlns:a16="http://schemas.microsoft.com/office/drawing/2014/main" id="{3E317EE1-E2FB-668F-A055-FD059E49E7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2900" y="3039419"/>
                  <a:ext cx="6412076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線矢印コネクタ 215">
                  <a:extLst>
                    <a:ext uri="{FF2B5EF4-FFF2-40B4-BE49-F238E27FC236}">
                      <a16:creationId xmlns:a16="http://schemas.microsoft.com/office/drawing/2014/main" id="{7113070C-0CB1-49D5-D17E-2C8DE986C2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2900" y="2790623"/>
                  <a:ext cx="0" cy="258438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線矢印コネクタ 216">
                  <a:extLst>
                    <a:ext uri="{FF2B5EF4-FFF2-40B4-BE49-F238E27FC236}">
                      <a16:creationId xmlns:a16="http://schemas.microsoft.com/office/drawing/2014/main" id="{872C1429-0DAC-FA74-710C-91FCB28AD5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3562" y="2790623"/>
                  <a:ext cx="0" cy="244677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円/楕円 94">
                  <a:extLst>
                    <a:ext uri="{FF2B5EF4-FFF2-40B4-BE49-F238E27FC236}">
                      <a16:creationId xmlns:a16="http://schemas.microsoft.com/office/drawing/2014/main" id="{315B33A8-3342-45F1-40AE-A75BFBD3EBB0}"/>
                    </a:ext>
                  </a:extLst>
                </p:cNvPr>
                <p:cNvSpPr/>
                <p:nvPr/>
              </p:nvSpPr>
              <p:spPr>
                <a:xfrm>
                  <a:off x="5247562" y="3013061"/>
                  <a:ext cx="72000" cy="72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2400"/>
                </a:p>
              </p:txBody>
            </p:sp>
            <p:cxnSp>
              <p:nvCxnSpPr>
                <p:cNvPr id="219" name="直線矢印コネクタ 218">
                  <a:extLst>
                    <a:ext uri="{FF2B5EF4-FFF2-40B4-BE49-F238E27FC236}">
                      <a16:creationId xmlns:a16="http://schemas.microsoft.com/office/drawing/2014/main" id="{99918309-2D9E-B0CD-41CB-1227988CDBCC}"/>
                    </a:ext>
                  </a:extLst>
                </p:cNvPr>
                <p:cNvCxnSpPr>
                  <a:cxnSpLocks/>
                  <a:stCxn id="196" idx="3"/>
                  <a:endCxn id="195" idx="1"/>
                </p:cNvCxnSpPr>
                <p:nvPr/>
              </p:nvCxnSpPr>
              <p:spPr>
                <a:xfrm flipV="1">
                  <a:off x="2219646" y="2412798"/>
                  <a:ext cx="77793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線コネクタ 219">
                  <a:extLst>
                    <a:ext uri="{FF2B5EF4-FFF2-40B4-BE49-F238E27FC236}">
                      <a16:creationId xmlns:a16="http://schemas.microsoft.com/office/drawing/2014/main" id="{55FC362D-2CBB-17CD-821C-F03327AD0F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05921" y="1561595"/>
                  <a:ext cx="72149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線矢印コネクタ 220">
                  <a:extLst>
                    <a:ext uri="{FF2B5EF4-FFF2-40B4-BE49-F238E27FC236}">
                      <a16:creationId xmlns:a16="http://schemas.microsoft.com/office/drawing/2014/main" id="{AB320429-CA58-90E1-1487-2A027A891F4D}"/>
                    </a:ext>
                  </a:extLst>
                </p:cNvPr>
                <p:cNvCxnSpPr>
                  <a:cxnSpLocks/>
                  <a:endCxn id="195" idx="0"/>
                </p:cNvCxnSpPr>
                <p:nvPr/>
              </p:nvCxnSpPr>
              <p:spPr>
                <a:xfrm>
                  <a:off x="3825491" y="1558602"/>
                  <a:ext cx="0" cy="47084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線矢印コネクタ 221">
                  <a:extLst>
                    <a:ext uri="{FF2B5EF4-FFF2-40B4-BE49-F238E27FC236}">
                      <a16:creationId xmlns:a16="http://schemas.microsoft.com/office/drawing/2014/main" id="{27126B9D-F8D4-EF07-571F-F4DF9117C363}"/>
                    </a:ext>
                  </a:extLst>
                </p:cNvPr>
                <p:cNvCxnSpPr>
                  <a:cxnSpLocks/>
                  <a:endCxn id="192" idx="1"/>
                </p:cNvCxnSpPr>
                <p:nvPr/>
              </p:nvCxnSpPr>
              <p:spPr>
                <a:xfrm>
                  <a:off x="2652647" y="1098511"/>
                  <a:ext cx="2352970" cy="338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直線矢印コネクタ 222">
                  <a:extLst>
                    <a:ext uri="{FF2B5EF4-FFF2-40B4-BE49-F238E27FC236}">
                      <a16:creationId xmlns:a16="http://schemas.microsoft.com/office/drawing/2014/main" id="{165607B3-76BD-F6F2-8C73-52D47438434B}"/>
                    </a:ext>
                  </a:extLst>
                </p:cNvPr>
                <p:cNvCxnSpPr/>
                <p:nvPr/>
              </p:nvCxnSpPr>
              <p:spPr>
                <a:xfrm flipV="1">
                  <a:off x="3337325" y="3954073"/>
                  <a:ext cx="1145152" cy="101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4" name="テキスト ボックス 223">
                      <a:extLst>
                        <a:ext uri="{FF2B5EF4-FFF2-40B4-BE49-F238E27FC236}">
                          <a16:creationId xmlns:a16="http://schemas.microsoft.com/office/drawing/2014/main" id="{348E6F88-268C-6952-9DE5-B2D2D7A2A7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14865" y="782450"/>
                      <a:ext cx="393918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ja-JP" sz="2400" b="0" dirty="0"/>
                    </a:p>
                  </p:txBody>
                </p:sp>
              </mc:Choice>
              <mc:Fallback xmlns="">
                <p:sp>
                  <p:nvSpPr>
                    <p:cNvPr id="224" name="テキスト ボックス 223">
                      <a:extLst>
                        <a:ext uri="{FF2B5EF4-FFF2-40B4-BE49-F238E27FC236}">
                          <a16:creationId xmlns:a16="http://schemas.microsoft.com/office/drawing/2014/main" id="{348E6F88-268C-6952-9DE5-B2D2D7A2A7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14865" y="782450"/>
                      <a:ext cx="393918" cy="193686"/>
                    </a:xfrm>
                    <a:prstGeom prst="rect">
                      <a:avLst/>
                    </a:prstGeom>
                    <a:blipFill>
                      <a:blip r:embed="rId65"/>
                      <a:stretch>
                        <a:fillRect l="-21212" r="-1515" b="-819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5" name="テキスト ボックス 224">
                      <a:extLst>
                        <a:ext uri="{FF2B5EF4-FFF2-40B4-BE49-F238E27FC236}">
                          <a16:creationId xmlns:a16="http://schemas.microsoft.com/office/drawing/2014/main" id="{05F808EA-219E-64AB-7E9D-584E92F0D3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74883" y="2122363"/>
                      <a:ext cx="661701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𝐸𝐺𝑃</m:t>
                            </m:r>
                          </m:oMath>
                        </m:oMathPara>
                      </a14:m>
                      <a:endParaRPr kumimoji="1" lang="en-US" altLang="ja-JP" sz="2400" b="0" dirty="0"/>
                    </a:p>
                  </p:txBody>
                </p:sp>
              </mc:Choice>
              <mc:Fallback xmlns="">
                <p:sp>
                  <p:nvSpPr>
                    <p:cNvPr id="225" name="テキスト ボックス 224">
                      <a:extLst>
                        <a:ext uri="{FF2B5EF4-FFF2-40B4-BE49-F238E27FC236}">
                          <a16:creationId xmlns:a16="http://schemas.microsoft.com/office/drawing/2014/main" id="{05F808EA-219E-64AB-7E9D-584E92F0D3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4883" y="2122363"/>
                      <a:ext cx="661701" cy="193686"/>
                    </a:xfrm>
                    <a:prstGeom prst="rect">
                      <a:avLst/>
                    </a:prstGeom>
                    <a:blipFill>
                      <a:blip r:embed="rId66"/>
                      <a:stretch>
                        <a:fillRect l="-8108" r="-8108" b="-49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6" name="テキスト ボックス 225">
                      <a:extLst>
                        <a:ext uri="{FF2B5EF4-FFF2-40B4-BE49-F238E27FC236}">
                          <a16:creationId xmlns:a16="http://schemas.microsoft.com/office/drawing/2014/main" id="{D6B0B2DB-2D29-5FD5-288C-1F8CC37C97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66556" y="315646"/>
                      <a:ext cx="450993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ja-JP" sz="2400" b="0" dirty="0"/>
                    </a:p>
                  </p:txBody>
                </p:sp>
              </mc:Choice>
              <mc:Fallback xmlns="">
                <p:sp>
                  <p:nvSpPr>
                    <p:cNvPr id="226" name="テキスト ボックス 225">
                      <a:extLst>
                        <a:ext uri="{FF2B5EF4-FFF2-40B4-BE49-F238E27FC236}">
                          <a16:creationId xmlns:a16="http://schemas.microsoft.com/office/drawing/2014/main" id="{D6B0B2DB-2D29-5FD5-288C-1F8CC37C97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66556" y="315646"/>
                      <a:ext cx="450993" cy="193686"/>
                    </a:xfrm>
                    <a:prstGeom prst="rect">
                      <a:avLst/>
                    </a:prstGeom>
                    <a:blipFill>
                      <a:blip r:embed="rId67"/>
                      <a:stretch>
                        <a:fillRect l="-13333" r="-2667"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7" name="テキスト ボックス 226">
                      <a:extLst>
                        <a:ext uri="{FF2B5EF4-FFF2-40B4-BE49-F238E27FC236}">
                          <a16:creationId xmlns:a16="http://schemas.microsoft.com/office/drawing/2014/main" id="{CB8BC2C9-C601-263C-CB51-231D5E1675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10816" y="1627791"/>
                      <a:ext cx="287775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27" name="テキスト ボックス 226">
                      <a:extLst>
                        <a:ext uri="{FF2B5EF4-FFF2-40B4-BE49-F238E27FC236}">
                          <a16:creationId xmlns:a16="http://schemas.microsoft.com/office/drawing/2014/main" id="{CB8BC2C9-C601-263C-CB51-231D5E1675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10816" y="1627791"/>
                      <a:ext cx="287775" cy="193686"/>
                    </a:xfrm>
                    <a:prstGeom prst="rect">
                      <a:avLst/>
                    </a:prstGeom>
                    <a:blipFill>
                      <a:blip r:embed="rId68"/>
                      <a:stretch>
                        <a:fillRect l="-22917" r="-14583"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8" name="テキスト ボックス 227">
                      <a:extLst>
                        <a:ext uri="{FF2B5EF4-FFF2-40B4-BE49-F238E27FC236}">
                          <a16:creationId xmlns:a16="http://schemas.microsoft.com/office/drawing/2014/main" id="{DDFF6146-724D-0A31-E8A8-E175AFDD88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97406" y="1678639"/>
                      <a:ext cx="413784" cy="20864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28" name="テキスト ボックス 227">
                      <a:extLst>
                        <a:ext uri="{FF2B5EF4-FFF2-40B4-BE49-F238E27FC236}">
                          <a16:creationId xmlns:a16="http://schemas.microsoft.com/office/drawing/2014/main" id="{DDFF6146-724D-0A31-E8A8-E175AFDD88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97406" y="1678639"/>
                      <a:ext cx="413784" cy="208649"/>
                    </a:xfrm>
                    <a:prstGeom prst="rect">
                      <a:avLst/>
                    </a:prstGeom>
                    <a:blipFill>
                      <a:blip r:embed="rId69"/>
                      <a:stretch>
                        <a:fillRect l="-14493" r="-4348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9" name="テキスト ボックス 228">
                      <a:extLst>
                        <a:ext uri="{FF2B5EF4-FFF2-40B4-BE49-F238E27FC236}">
                          <a16:creationId xmlns:a16="http://schemas.microsoft.com/office/drawing/2014/main" id="{D81003A4-7E60-797E-6E49-B40004FF50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85995" y="2489774"/>
                      <a:ext cx="515071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𝑖𝑑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29" name="テキスト ボックス 228">
                      <a:extLst>
                        <a:ext uri="{FF2B5EF4-FFF2-40B4-BE49-F238E27FC236}">
                          <a16:creationId xmlns:a16="http://schemas.microsoft.com/office/drawing/2014/main" id="{D81003A4-7E60-797E-6E49-B40004FF50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85995" y="2489774"/>
                      <a:ext cx="515071" cy="19368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2791" r="-2326"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0" name="テキスト ボックス 229">
                      <a:extLst>
                        <a:ext uri="{FF2B5EF4-FFF2-40B4-BE49-F238E27FC236}">
                          <a16:creationId xmlns:a16="http://schemas.microsoft.com/office/drawing/2014/main" id="{D07B29E3-7EC7-B61D-8CF1-110AB8CF58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85253" y="1958568"/>
                      <a:ext cx="384836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30" name="テキスト ボックス 229">
                      <a:extLst>
                        <a:ext uri="{FF2B5EF4-FFF2-40B4-BE49-F238E27FC236}">
                          <a16:creationId xmlns:a16="http://schemas.microsoft.com/office/drawing/2014/main" id="{D07B29E3-7EC7-B61D-8CF1-110AB8CF58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85253" y="1958568"/>
                      <a:ext cx="384836" cy="193686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5625" r="-3125" b="-114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1" name="テキスト ボックス 230">
                      <a:extLst>
                        <a:ext uri="{FF2B5EF4-FFF2-40B4-BE49-F238E27FC236}">
                          <a16:creationId xmlns:a16="http://schemas.microsoft.com/office/drawing/2014/main" id="{3DE0F130-09F4-1EF6-AF1F-5435311BC2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94599" y="3625947"/>
                      <a:ext cx="510025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𝑎𝑖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31" name="テキスト ボックス 230">
                      <a:extLst>
                        <a:ext uri="{FF2B5EF4-FFF2-40B4-BE49-F238E27FC236}">
                          <a16:creationId xmlns:a16="http://schemas.microsoft.com/office/drawing/2014/main" id="{3DE0F130-09F4-1EF6-AF1F-5435311BC2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94599" y="3625947"/>
                      <a:ext cx="510025" cy="193686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2941" r="-2353"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2" name="テキスト ボックス 231">
                      <a:extLst>
                        <a:ext uri="{FF2B5EF4-FFF2-40B4-BE49-F238E27FC236}">
                          <a16:creationId xmlns:a16="http://schemas.microsoft.com/office/drawing/2014/main" id="{C957824E-45F0-A9DE-3CE0-D89A3E9EF1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86150" y="1550847"/>
                      <a:ext cx="640699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 dirty="0"/>
                    </a:p>
                  </p:txBody>
                </p:sp>
              </mc:Choice>
              <mc:Fallback xmlns="">
                <p:sp>
                  <p:nvSpPr>
                    <p:cNvPr id="232" name="テキスト ボックス 231">
                      <a:extLst>
                        <a:ext uri="{FF2B5EF4-FFF2-40B4-BE49-F238E27FC236}">
                          <a16:creationId xmlns:a16="http://schemas.microsoft.com/office/drawing/2014/main" id="{C957824E-45F0-A9DE-3CE0-D89A3E9EF15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6150" y="1550847"/>
                      <a:ext cx="640699" cy="193686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9346" r="-1869"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3" name="テキスト ボックス 232">
                  <a:extLst>
                    <a:ext uri="{FF2B5EF4-FFF2-40B4-BE49-F238E27FC236}">
                      <a16:creationId xmlns:a16="http://schemas.microsoft.com/office/drawing/2014/main" id="{36CFAB54-5E15-32CF-CD01-B09426C76990}"/>
                    </a:ext>
                  </a:extLst>
                </p:cNvPr>
                <p:cNvSpPr txBox="1"/>
                <p:nvPr/>
              </p:nvSpPr>
              <p:spPr>
                <a:xfrm>
                  <a:off x="9331574" y="3764446"/>
                  <a:ext cx="829334" cy="887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kumimoji="1" lang="en-US" altLang="ja-JP" sz="1100" b="1" dirty="0"/>
                    <a:t>Degradation</a:t>
                  </a:r>
                  <a:endParaRPr kumimoji="1" lang="ja-JP" altLang="en-US" sz="1100" b="1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4" name="テキスト ボックス 233">
                      <a:extLst>
                        <a:ext uri="{FF2B5EF4-FFF2-40B4-BE49-F238E27FC236}">
                          <a16:creationId xmlns:a16="http://schemas.microsoft.com/office/drawing/2014/main" id="{C0F2402E-9A3C-2E74-0DD6-48E617DEF3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02285" y="3320940"/>
                      <a:ext cx="211402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34" name="テキスト ボックス 233">
                      <a:extLst>
                        <a:ext uri="{FF2B5EF4-FFF2-40B4-BE49-F238E27FC236}">
                          <a16:creationId xmlns:a16="http://schemas.microsoft.com/office/drawing/2014/main" id="{C0F2402E-9A3C-2E74-0DD6-48E617DEF3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02285" y="3320940"/>
                      <a:ext cx="211402" cy="193686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8571" r="-25714" b="-49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5" name="テキスト ボックス 234">
                      <a:extLst>
                        <a:ext uri="{FF2B5EF4-FFF2-40B4-BE49-F238E27FC236}">
                          <a16:creationId xmlns:a16="http://schemas.microsoft.com/office/drawing/2014/main" id="{9DCDE141-E4F2-9BAC-5E4A-4FB4A9EBCE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64927" y="3665787"/>
                      <a:ext cx="806439" cy="258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𝑖𝑛𝑠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32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5" name="テキスト ボックス 234">
                      <a:extLst>
                        <a:ext uri="{FF2B5EF4-FFF2-40B4-BE49-F238E27FC236}">
                          <a16:creationId xmlns:a16="http://schemas.microsoft.com/office/drawing/2014/main" id="{9DCDE141-E4F2-9BAC-5E4A-4FB4A9EBCE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64927" y="3665787"/>
                      <a:ext cx="806439" cy="258248"/>
                    </a:xfrm>
                    <a:prstGeom prst="rect">
                      <a:avLst/>
                    </a:prstGeom>
                    <a:blipFill>
                      <a:blip r:embed="rId70"/>
                      <a:stretch>
                        <a:fillRect l="-4545" r="-3030" b="-17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6" name="テキスト ボックス 235">
                      <a:extLst>
                        <a:ext uri="{FF2B5EF4-FFF2-40B4-BE49-F238E27FC236}">
                          <a16:creationId xmlns:a16="http://schemas.microsoft.com/office/drawing/2014/main" id="{54660CB9-5BE3-B24D-D771-2C429B2032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81111" y="777536"/>
                      <a:ext cx="1072773" cy="25824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𝑚𝑒𝑎𝑙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32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6" name="テキスト ボックス 235">
                      <a:extLst>
                        <a:ext uri="{FF2B5EF4-FFF2-40B4-BE49-F238E27FC236}">
                          <a16:creationId xmlns:a16="http://schemas.microsoft.com/office/drawing/2014/main" id="{54660CB9-5BE3-B24D-D771-2C429B2032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1111" y="777536"/>
                      <a:ext cx="1072773" cy="25824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7" name="テキスト ボックス 236">
                      <a:extLst>
                        <a:ext uri="{FF2B5EF4-FFF2-40B4-BE49-F238E27FC236}">
                          <a16:creationId xmlns:a16="http://schemas.microsoft.com/office/drawing/2014/main" id="{C8CB6800-B065-80CB-9124-E7E794A602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5040" y="2762639"/>
                      <a:ext cx="290803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oMath>
                        </m:oMathPara>
                      </a14:m>
                      <a:endParaRPr kumimoji="1" lang="ja-JP" altLang="en-US" sz="2400" dirty="0"/>
                    </a:p>
                  </p:txBody>
                </p:sp>
              </mc:Choice>
              <mc:Fallback xmlns="">
                <p:sp>
                  <p:nvSpPr>
                    <p:cNvPr id="237" name="テキスト ボックス 236">
                      <a:extLst>
                        <a:ext uri="{FF2B5EF4-FFF2-40B4-BE49-F238E27FC236}">
                          <a16:creationId xmlns:a16="http://schemas.microsoft.com/office/drawing/2014/main" id="{C8CB6800-B065-80CB-9124-E7E794A602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5040" y="2762639"/>
                      <a:ext cx="290803" cy="193686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20408" r="-16327"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8" name="テキスト ボックス 237">
                      <a:extLst>
                        <a:ext uri="{FF2B5EF4-FFF2-40B4-BE49-F238E27FC236}">
                          <a16:creationId xmlns:a16="http://schemas.microsoft.com/office/drawing/2014/main" id="{CDEC9CFA-61E0-8257-A38B-903828B368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78782" y="2056988"/>
                      <a:ext cx="624681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38" name="テキスト ボックス 237">
                      <a:extLst>
                        <a:ext uri="{FF2B5EF4-FFF2-40B4-BE49-F238E27FC236}">
                          <a16:creationId xmlns:a16="http://schemas.microsoft.com/office/drawing/2014/main" id="{CDEC9CFA-61E0-8257-A38B-903828B368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78782" y="2056988"/>
                      <a:ext cx="624681" cy="193686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8571" r="-952" b="-114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9" name="テキスト ボックス 238">
                      <a:extLst>
                        <a:ext uri="{FF2B5EF4-FFF2-40B4-BE49-F238E27FC236}">
                          <a16:creationId xmlns:a16="http://schemas.microsoft.com/office/drawing/2014/main" id="{3D26EB0D-95CE-2961-C6F7-B92BD9BCD5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72362" y="2158579"/>
                      <a:ext cx="316345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oMath>
                        </m:oMathPara>
                      </a14:m>
                      <a:endParaRPr kumimoji="1" lang="ja-JP" altLang="en-US" sz="2400" dirty="0"/>
                    </a:p>
                  </p:txBody>
                </p:sp>
              </mc:Choice>
              <mc:Fallback xmlns="">
                <p:sp>
                  <p:nvSpPr>
                    <p:cNvPr id="239" name="テキスト ボックス 238">
                      <a:extLst>
                        <a:ext uri="{FF2B5EF4-FFF2-40B4-BE49-F238E27FC236}">
                          <a16:creationId xmlns:a16="http://schemas.microsoft.com/office/drawing/2014/main" id="{3D26EB0D-95CE-2961-C6F7-B92BD9BCD52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72362" y="2158579"/>
                      <a:ext cx="316345" cy="193686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1154" r="-15385"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40" name="直線矢印コネクタ 239">
                  <a:extLst>
                    <a:ext uri="{FF2B5EF4-FFF2-40B4-BE49-F238E27FC236}">
                      <a16:creationId xmlns:a16="http://schemas.microsoft.com/office/drawing/2014/main" id="{6B1D2AF3-3B4A-6EB2-2674-CA7CE878CD71}"/>
                    </a:ext>
                  </a:extLst>
                </p:cNvPr>
                <p:cNvCxnSpPr>
                  <a:cxnSpLocks/>
                  <a:stCxn id="195" idx="3"/>
                  <a:endCxn id="191" idx="1"/>
                </p:cNvCxnSpPr>
                <p:nvPr/>
              </p:nvCxnSpPr>
              <p:spPr>
                <a:xfrm flipV="1">
                  <a:off x="4653400" y="2407269"/>
                  <a:ext cx="378007" cy="0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直線コネクタ 240">
                  <a:extLst>
                    <a:ext uri="{FF2B5EF4-FFF2-40B4-BE49-F238E27FC236}">
                      <a16:creationId xmlns:a16="http://schemas.microsoft.com/office/drawing/2014/main" id="{8B39B8F1-7E1F-AC0F-2A2E-9DD6DC8093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91737" y="3323158"/>
                  <a:ext cx="4276477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直線矢印コネクタ 241">
                  <a:extLst>
                    <a:ext uri="{FF2B5EF4-FFF2-40B4-BE49-F238E27FC236}">
                      <a16:creationId xmlns:a16="http://schemas.microsoft.com/office/drawing/2014/main" id="{D56DD634-0D5C-4032-917D-FF454DA946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91737" y="2802034"/>
                  <a:ext cx="0" cy="521124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7" name="テキスト ボックス 116">
                <a:extLst>
                  <a:ext uri="{FF2B5EF4-FFF2-40B4-BE49-F238E27FC236}">
                    <a16:creationId xmlns:a16="http://schemas.microsoft.com/office/drawing/2014/main" id="{02F12DE9-9025-B3D8-6E96-C50BC6A1E33D}"/>
                  </a:ext>
                </a:extLst>
              </p:cNvPr>
              <p:cNvSpPr txBox="1"/>
              <p:nvPr/>
            </p:nvSpPr>
            <p:spPr>
              <a:xfrm>
                <a:off x="1742970" y="10208597"/>
                <a:ext cx="52898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b="1" dirty="0"/>
                  <a:t>MEAL MODEL</a:t>
                </a:r>
                <a:endParaRPr kumimoji="1" lang="ja-JP" altLang="en-US" sz="3200" b="1" dirty="0"/>
              </a:p>
            </p:txBody>
          </p:sp>
        </p:grpSp>
        <p:sp>
          <p:nvSpPr>
            <p:cNvPr id="463" name="矢印: 上向き折線 462">
              <a:extLst>
                <a:ext uri="{FF2B5EF4-FFF2-40B4-BE49-F238E27FC236}">
                  <a16:creationId xmlns:a16="http://schemas.microsoft.com/office/drawing/2014/main" id="{34064294-1E6E-43F3-9AFD-9CC5E232F6DC}"/>
                </a:ext>
              </a:extLst>
            </p:cNvPr>
            <p:cNvSpPr/>
            <p:nvPr/>
          </p:nvSpPr>
          <p:spPr>
            <a:xfrm rot="5400000" flipV="1">
              <a:off x="9583430" y="19108888"/>
              <a:ext cx="899500" cy="1993546"/>
            </a:xfrm>
            <a:prstGeom prst="bent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04E6EDB-1261-994D-435A-2D4F989D5DC2}"/>
              </a:ext>
            </a:extLst>
          </p:cNvPr>
          <p:cNvGrpSpPr/>
          <p:nvPr/>
        </p:nvGrpSpPr>
        <p:grpSpPr>
          <a:xfrm>
            <a:off x="633627" y="22482733"/>
            <a:ext cx="13691491" cy="5806076"/>
            <a:chOff x="512280" y="21936709"/>
            <a:chExt cx="13691491" cy="5806076"/>
          </a:xfrm>
        </p:grpSpPr>
        <p:grpSp>
          <p:nvGrpSpPr>
            <p:cNvPr id="124" name="グループ化 123">
              <a:extLst>
                <a:ext uri="{FF2B5EF4-FFF2-40B4-BE49-F238E27FC236}">
                  <a16:creationId xmlns:a16="http://schemas.microsoft.com/office/drawing/2014/main" id="{1543D232-1250-6076-B965-CFEDD0052EAD}"/>
                </a:ext>
              </a:extLst>
            </p:cNvPr>
            <p:cNvGrpSpPr/>
            <p:nvPr/>
          </p:nvGrpSpPr>
          <p:grpSpPr>
            <a:xfrm>
              <a:off x="4013724" y="21936709"/>
              <a:ext cx="7633223" cy="3630761"/>
              <a:chOff x="16844378" y="6223836"/>
              <a:chExt cx="9672560" cy="4651929"/>
            </a:xfrm>
            <a:solidFill>
              <a:schemeClr val="bg1">
                <a:lumMod val="95000"/>
              </a:schemeClr>
            </a:solidFill>
          </p:grpSpPr>
          <p:sp>
            <p:nvSpPr>
              <p:cNvPr id="118" name="四角形: 角を丸くする 117">
                <a:extLst>
                  <a:ext uri="{FF2B5EF4-FFF2-40B4-BE49-F238E27FC236}">
                    <a16:creationId xmlns:a16="http://schemas.microsoft.com/office/drawing/2014/main" id="{0B822C1B-1A5C-B8D8-59FA-1F7C089840EA}"/>
                  </a:ext>
                </a:extLst>
              </p:cNvPr>
              <p:cNvSpPr/>
              <p:nvPr/>
            </p:nvSpPr>
            <p:spPr>
              <a:xfrm>
                <a:off x="16844378" y="6223836"/>
                <a:ext cx="9672560" cy="4651929"/>
              </a:xfrm>
              <a:prstGeom prst="round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19" name="テキスト ボックス 118">
                <a:extLst>
                  <a:ext uri="{FF2B5EF4-FFF2-40B4-BE49-F238E27FC236}">
                    <a16:creationId xmlns:a16="http://schemas.microsoft.com/office/drawing/2014/main" id="{B2198CDB-4D56-9CEC-BD11-812F9345EB43}"/>
                  </a:ext>
                </a:extLst>
              </p:cNvPr>
              <p:cNvSpPr txBox="1"/>
              <p:nvPr/>
            </p:nvSpPr>
            <p:spPr>
              <a:xfrm>
                <a:off x="17082427" y="6557831"/>
                <a:ext cx="5208939" cy="74924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200" b="1" dirty="0"/>
                  <a:t>Controller(MPC)</a:t>
                </a:r>
                <a:endParaRPr kumimoji="1" lang="ja-JP" altLang="en-US" sz="3200" b="1" dirty="0"/>
              </a:p>
            </p:txBody>
          </p:sp>
          <p:sp>
            <p:nvSpPr>
              <p:cNvPr id="120" name="正方形/長方形 119">
                <a:extLst>
                  <a:ext uri="{FF2B5EF4-FFF2-40B4-BE49-F238E27FC236}">
                    <a16:creationId xmlns:a16="http://schemas.microsoft.com/office/drawing/2014/main" id="{892E5B1D-EDB9-FD82-5A28-9071961B9D10}"/>
                  </a:ext>
                </a:extLst>
              </p:cNvPr>
              <p:cNvSpPr/>
              <p:nvPr/>
            </p:nvSpPr>
            <p:spPr>
              <a:xfrm>
                <a:off x="18009524" y="7633928"/>
                <a:ext cx="3088688" cy="11299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b="1" dirty="0"/>
                  <a:t>Optimizer</a:t>
                </a:r>
                <a:endParaRPr kumimoji="1" lang="ja-JP" altLang="en-US" sz="2800" b="1" dirty="0"/>
              </a:p>
            </p:txBody>
          </p:sp>
          <p:sp>
            <p:nvSpPr>
              <p:cNvPr id="121" name="正方形/長方形 120">
                <a:extLst>
                  <a:ext uri="{FF2B5EF4-FFF2-40B4-BE49-F238E27FC236}">
                    <a16:creationId xmlns:a16="http://schemas.microsoft.com/office/drawing/2014/main" id="{E90B33A6-78E0-77C8-0DF0-02AF3CFBAA9A}"/>
                  </a:ext>
                </a:extLst>
              </p:cNvPr>
              <p:cNvSpPr/>
              <p:nvPr/>
            </p:nvSpPr>
            <p:spPr>
              <a:xfrm>
                <a:off x="22291365" y="9283900"/>
                <a:ext cx="2807086" cy="1139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b="1" dirty="0"/>
                  <a:t>Prediction</a:t>
                </a:r>
              </a:p>
              <a:p>
                <a:pPr algn="ctr"/>
                <a:r>
                  <a:rPr lang="en-US" altLang="ja-JP" sz="2800" b="1" dirty="0"/>
                  <a:t>Model</a:t>
                </a:r>
                <a:endParaRPr kumimoji="1" lang="ja-JP" altLang="en-US" sz="2800" b="1" dirty="0"/>
              </a:p>
            </p:txBody>
          </p:sp>
          <p:sp>
            <p:nvSpPr>
              <p:cNvPr id="122" name="矢印: 上向き折線 121">
                <a:extLst>
                  <a:ext uri="{FF2B5EF4-FFF2-40B4-BE49-F238E27FC236}">
                    <a16:creationId xmlns:a16="http://schemas.microsoft.com/office/drawing/2014/main" id="{026F1E96-1E1F-3972-9B97-B8352698B05F}"/>
                  </a:ext>
                </a:extLst>
              </p:cNvPr>
              <p:cNvSpPr/>
              <p:nvPr/>
            </p:nvSpPr>
            <p:spPr>
              <a:xfrm flipV="1">
                <a:off x="21098213" y="8057822"/>
                <a:ext cx="2764639" cy="1206960"/>
              </a:xfrm>
              <a:prstGeom prst="bentUpArrow">
                <a:avLst>
                  <a:gd name="adj1" fmla="val 15565"/>
                  <a:gd name="adj2" fmla="val 21226"/>
                  <a:gd name="adj3" fmla="val 25000"/>
                </a:avLst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3" name="矢印: 上向き折線 122">
                <a:extLst>
                  <a:ext uri="{FF2B5EF4-FFF2-40B4-BE49-F238E27FC236}">
                    <a16:creationId xmlns:a16="http://schemas.microsoft.com/office/drawing/2014/main" id="{A9976F30-7429-B6FD-3643-3E28F9CFF263}"/>
                  </a:ext>
                </a:extLst>
              </p:cNvPr>
              <p:cNvSpPr/>
              <p:nvPr/>
            </p:nvSpPr>
            <p:spPr>
              <a:xfrm rot="10800000" flipV="1">
                <a:off x="19526726" y="8763863"/>
                <a:ext cx="2764639" cy="1206960"/>
              </a:xfrm>
              <a:prstGeom prst="bentUpArrow">
                <a:avLst>
                  <a:gd name="adj1" fmla="val 15565"/>
                  <a:gd name="adj2" fmla="val 21226"/>
                  <a:gd name="adj3" fmla="val 25000"/>
                </a:avLst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28" name="矢印: 右 127">
              <a:extLst>
                <a:ext uri="{FF2B5EF4-FFF2-40B4-BE49-F238E27FC236}">
                  <a16:creationId xmlns:a16="http://schemas.microsoft.com/office/drawing/2014/main" id="{729A978B-E61F-AB97-A453-76666D6D098B}"/>
                </a:ext>
              </a:extLst>
            </p:cNvPr>
            <p:cNvSpPr/>
            <p:nvPr/>
          </p:nvSpPr>
          <p:spPr>
            <a:xfrm>
              <a:off x="1833897" y="23107743"/>
              <a:ext cx="2153527" cy="37823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矢印: 右 128">
              <a:extLst>
                <a:ext uri="{FF2B5EF4-FFF2-40B4-BE49-F238E27FC236}">
                  <a16:creationId xmlns:a16="http://schemas.microsoft.com/office/drawing/2014/main" id="{9511B718-5BFA-46B9-BC45-02E528F8FAAF}"/>
                </a:ext>
              </a:extLst>
            </p:cNvPr>
            <p:cNvSpPr/>
            <p:nvPr/>
          </p:nvSpPr>
          <p:spPr>
            <a:xfrm>
              <a:off x="1833897" y="23993326"/>
              <a:ext cx="2124708" cy="39757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矢印: 右 129">
              <a:extLst>
                <a:ext uri="{FF2B5EF4-FFF2-40B4-BE49-F238E27FC236}">
                  <a16:creationId xmlns:a16="http://schemas.microsoft.com/office/drawing/2014/main" id="{DFA1B475-436B-8122-664E-E0BC4D97CCE7}"/>
                </a:ext>
              </a:extLst>
            </p:cNvPr>
            <p:cNvSpPr/>
            <p:nvPr/>
          </p:nvSpPr>
          <p:spPr>
            <a:xfrm>
              <a:off x="11643013" y="23478213"/>
              <a:ext cx="2007622" cy="51511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テキスト ボックス 130">
              <a:extLst>
                <a:ext uri="{FF2B5EF4-FFF2-40B4-BE49-F238E27FC236}">
                  <a16:creationId xmlns:a16="http://schemas.microsoft.com/office/drawing/2014/main" id="{0174D66B-CB98-49AA-1898-1B2ED42E3FF9}"/>
                </a:ext>
              </a:extLst>
            </p:cNvPr>
            <p:cNvSpPr txBox="1"/>
            <p:nvPr/>
          </p:nvSpPr>
          <p:spPr>
            <a:xfrm>
              <a:off x="7830335" y="23017651"/>
              <a:ext cx="20125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/>
                <a:t>Control actions</a:t>
              </a:r>
              <a:endParaRPr kumimoji="1" lang="ja-JP" altLang="en-US" sz="2000" dirty="0"/>
            </a:p>
          </p:txBody>
        </p: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id="{E2725129-E299-149D-0E24-5B8441914B1F}"/>
                </a:ext>
              </a:extLst>
            </p:cNvPr>
            <p:cNvSpPr txBox="1"/>
            <p:nvPr/>
          </p:nvSpPr>
          <p:spPr>
            <a:xfrm>
              <a:off x="5704773" y="24945660"/>
              <a:ext cx="20125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/>
                <a:t>Predictions</a:t>
              </a:r>
              <a:endParaRPr kumimoji="1" lang="ja-JP" altLang="en-US" sz="2000" dirty="0"/>
            </a:p>
          </p:txBody>
        </p:sp>
        <p:sp>
          <p:nvSpPr>
            <p:cNvPr id="133" name="テキスト ボックス 132">
              <a:extLst>
                <a:ext uri="{FF2B5EF4-FFF2-40B4-BE49-F238E27FC236}">
                  <a16:creationId xmlns:a16="http://schemas.microsoft.com/office/drawing/2014/main" id="{1EDD2A3E-D156-23F5-8C44-15576AF9F8FB}"/>
                </a:ext>
              </a:extLst>
            </p:cNvPr>
            <p:cNvSpPr txBox="1"/>
            <p:nvPr/>
          </p:nvSpPr>
          <p:spPr>
            <a:xfrm>
              <a:off x="983734" y="27281120"/>
              <a:ext cx="2901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/>
                <a:t>Measured Glucose</a:t>
              </a:r>
              <a:endParaRPr kumimoji="1" lang="ja-JP" altLang="en-US" sz="2400" dirty="0"/>
            </a:p>
          </p:txBody>
        </p: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id="{A73AA966-75D5-9D60-B26A-C2798AB2C566}"/>
                </a:ext>
              </a:extLst>
            </p:cNvPr>
            <p:cNvSpPr txBox="1"/>
            <p:nvPr/>
          </p:nvSpPr>
          <p:spPr>
            <a:xfrm>
              <a:off x="1378621" y="22699104"/>
              <a:ext cx="21082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/>
                <a:t>Insulin Input</a:t>
              </a:r>
              <a:endParaRPr kumimoji="1" lang="ja-JP" altLang="en-US" sz="2400" dirty="0"/>
            </a:p>
          </p:txBody>
        </p:sp>
        <p:sp>
          <p:nvSpPr>
            <p:cNvPr id="135" name="矢印: 上向き折線 134">
              <a:extLst>
                <a:ext uri="{FF2B5EF4-FFF2-40B4-BE49-F238E27FC236}">
                  <a16:creationId xmlns:a16="http://schemas.microsoft.com/office/drawing/2014/main" id="{41CB5C0A-2F7C-8EB6-B37D-ED4E7F84F541}"/>
                </a:ext>
              </a:extLst>
            </p:cNvPr>
            <p:cNvSpPr/>
            <p:nvPr/>
          </p:nvSpPr>
          <p:spPr>
            <a:xfrm rot="16200000" flipH="1" flipV="1">
              <a:off x="3374510" y="23870076"/>
              <a:ext cx="2559490" cy="3345158"/>
            </a:xfrm>
            <a:prstGeom prst="bentUpArrow">
              <a:avLst>
                <a:gd name="adj1" fmla="val 7700"/>
                <a:gd name="adj2" fmla="val 8001"/>
                <a:gd name="adj3" fmla="val 8779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8C2D46F4-35BF-6299-C197-71DD676E92FA}"/>
                    </a:ext>
                  </a:extLst>
                </p:cNvPr>
                <p:cNvSpPr txBox="1"/>
                <p:nvPr/>
              </p:nvSpPr>
              <p:spPr>
                <a:xfrm>
                  <a:off x="512280" y="23606040"/>
                  <a:ext cx="351593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400" dirty="0"/>
                    <a:t>Meal Announce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400" i="1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400" i="1">
                              <a:latin typeface="Cambria Math" panose="02040503050406030204" pitchFamily="18" charset="0"/>
                            </a:rPr>
                            <m:t>meal</m:t>
                          </m:r>
                        </m:sub>
                      </m:sSub>
                    </m:oMath>
                  </a14:m>
                  <a:r>
                    <a:rPr lang="en-US" altLang="ja-JP" sz="2400" dirty="0"/>
                    <a:t>)</a:t>
                  </a:r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8C2D46F4-35BF-6299-C197-71DD676E92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80" y="23606040"/>
                  <a:ext cx="3515931" cy="461665"/>
                </a:xfrm>
                <a:prstGeom prst="rect">
                  <a:avLst/>
                </a:prstGeom>
                <a:blipFill>
                  <a:blip r:embed="rId71"/>
                  <a:stretch>
                    <a:fillRect l="-2518" t="-10526" b="-2894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11E38903-A6DD-A7A8-2DED-B3E91A8B1849}"/>
                </a:ext>
              </a:extLst>
            </p:cNvPr>
            <p:cNvSpPr txBox="1"/>
            <p:nvPr/>
          </p:nvSpPr>
          <p:spPr>
            <a:xfrm>
              <a:off x="12255517" y="23044875"/>
              <a:ext cx="19482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/>
                <a:t>Insulin Input</a:t>
              </a:r>
              <a:endParaRPr kumimoji="1" lang="ja-JP" altLang="en-US" sz="2400" dirty="0"/>
            </a:p>
          </p:txBody>
        </p:sp>
        <p:sp>
          <p:nvSpPr>
            <p:cNvPr id="464" name="正方形/長方形 463">
              <a:extLst>
                <a:ext uri="{FF2B5EF4-FFF2-40B4-BE49-F238E27FC236}">
                  <a16:creationId xmlns:a16="http://schemas.microsoft.com/office/drawing/2014/main" id="{E50A88A3-8D29-5299-708C-F024466DD6AD}"/>
                </a:ext>
              </a:extLst>
            </p:cNvPr>
            <p:cNvSpPr/>
            <p:nvPr/>
          </p:nvSpPr>
          <p:spPr>
            <a:xfrm>
              <a:off x="6364406" y="26233991"/>
              <a:ext cx="2672000" cy="14564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2800" b="1" dirty="0"/>
                <a:t>Estimator</a:t>
              </a:r>
            </a:p>
            <a:p>
              <a:pPr algn="ctr"/>
              <a:r>
                <a:rPr lang="en-US" altLang="ja-JP" sz="2000" b="1" dirty="0"/>
                <a:t>(Prediction Model)</a:t>
              </a:r>
            </a:p>
          </p:txBody>
        </p:sp>
        <p:sp>
          <p:nvSpPr>
            <p:cNvPr id="465" name="矢印: 下 464">
              <a:extLst>
                <a:ext uri="{FF2B5EF4-FFF2-40B4-BE49-F238E27FC236}">
                  <a16:creationId xmlns:a16="http://schemas.microsoft.com/office/drawing/2014/main" id="{7844DCC3-2100-0D78-D30E-F3D6E12D0289}"/>
                </a:ext>
              </a:extLst>
            </p:cNvPr>
            <p:cNvSpPr/>
            <p:nvPr/>
          </p:nvSpPr>
          <p:spPr>
            <a:xfrm rot="10800000">
              <a:off x="7292244" y="25447122"/>
              <a:ext cx="759359" cy="77509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kumimoji="1" lang="ja-JP" altLang="en-US" dirty="0"/>
            </a:p>
          </p:txBody>
        </p:sp>
        <p:sp>
          <p:nvSpPr>
            <p:cNvPr id="466" name="矢印: 上向き折線 465">
              <a:extLst>
                <a:ext uri="{FF2B5EF4-FFF2-40B4-BE49-F238E27FC236}">
                  <a16:creationId xmlns:a16="http://schemas.microsoft.com/office/drawing/2014/main" id="{369BD54E-C285-98E6-AB76-7B2B3F3619BB}"/>
                </a:ext>
              </a:extLst>
            </p:cNvPr>
            <p:cNvSpPr/>
            <p:nvPr/>
          </p:nvSpPr>
          <p:spPr>
            <a:xfrm rot="5400000" flipV="1">
              <a:off x="9083367" y="23781671"/>
              <a:ext cx="3539915" cy="3651340"/>
            </a:xfrm>
            <a:prstGeom prst="bentUpArrow">
              <a:avLst>
                <a:gd name="adj1" fmla="val 7321"/>
                <a:gd name="adj2" fmla="val 8693"/>
                <a:gd name="adj3" fmla="val 11022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7" name="矢印: 右 466">
              <a:extLst>
                <a:ext uri="{FF2B5EF4-FFF2-40B4-BE49-F238E27FC236}">
                  <a16:creationId xmlns:a16="http://schemas.microsoft.com/office/drawing/2014/main" id="{DB9593B2-A5E7-F30B-A2EF-61104B081250}"/>
                </a:ext>
              </a:extLst>
            </p:cNvPr>
            <p:cNvSpPr/>
            <p:nvPr/>
          </p:nvSpPr>
          <p:spPr>
            <a:xfrm>
              <a:off x="1833897" y="27007289"/>
              <a:ext cx="4492937" cy="360175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D78CD5-0C71-DAF4-D70C-6197E33FBE04}"/>
              </a:ext>
            </a:extLst>
          </p:cNvPr>
          <p:cNvSpPr txBox="1"/>
          <p:nvPr/>
        </p:nvSpPr>
        <p:spPr>
          <a:xfrm>
            <a:off x="15732077" y="38335391"/>
            <a:ext cx="138017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ja-JP" altLang="en-US" sz="3200" dirty="0"/>
              <a:t>観測可能なデータより，状態推定器は血糖値応答を良好に推定できた．</a:t>
            </a:r>
            <a:endParaRPr kumimoji="1" lang="en-US" altLang="ja-JP" sz="3200" dirty="0"/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ja-JP" altLang="en-US" sz="3200" dirty="0"/>
              <a:t>モデルの各状態も観測データより推定することができた．</a:t>
            </a:r>
            <a:endParaRPr lang="en-US" altLang="ja-JP" sz="3200" dirty="0"/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ja-JP" altLang="en-US" sz="3200" dirty="0"/>
              <a:t>オブザーバより</a:t>
            </a:r>
            <a:r>
              <a:rPr lang="en-US" altLang="ja-JP" sz="3200" dirty="0"/>
              <a:t>EKF</a:t>
            </a:r>
            <a:r>
              <a:rPr lang="ja-JP" altLang="en-US" sz="3200" dirty="0"/>
              <a:t>のほうが良い推定結果を示した．</a:t>
            </a:r>
            <a:endParaRPr lang="en-US" altLang="ja-JP" sz="3200" dirty="0"/>
          </a:p>
          <a:p>
            <a:r>
              <a:rPr lang="ja-JP" altLang="en-US" sz="3200" dirty="0"/>
              <a:t>　</a:t>
            </a:r>
            <a:endParaRPr kumimoji="1" lang="en-US" altLang="ja-JP" sz="3200" dirty="0"/>
          </a:p>
        </p:txBody>
      </p:sp>
      <p:sp>
        <p:nvSpPr>
          <p:cNvPr id="10" name="TextBox 1159">
            <a:extLst>
              <a:ext uri="{FF2B5EF4-FFF2-40B4-BE49-F238E27FC236}">
                <a16:creationId xmlns:a16="http://schemas.microsoft.com/office/drawing/2014/main" id="{5A3330E4-5D09-CAF8-540F-4E4AD50BEBB6}"/>
              </a:ext>
            </a:extLst>
          </p:cNvPr>
          <p:cNvSpPr txBox="1"/>
          <p:nvPr/>
        </p:nvSpPr>
        <p:spPr>
          <a:xfrm>
            <a:off x="21682574" y="8309720"/>
            <a:ext cx="485261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1"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モード推定により決定変数を</a:t>
            </a:r>
            <a:endParaRPr kumimoji="1"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条件式から除去</a:t>
            </a:r>
            <a:endParaRPr kumimoji="1"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1" name="Straight Arrow Connector 1156">
            <a:extLst>
              <a:ext uri="{FF2B5EF4-FFF2-40B4-BE49-F238E27FC236}">
                <a16:creationId xmlns:a16="http://schemas.microsoft.com/office/drawing/2014/main" id="{7FA8B63F-4BE6-0597-C884-5428CB1323FC}"/>
              </a:ext>
            </a:extLst>
          </p:cNvPr>
          <p:cNvCxnSpPr>
            <a:cxnSpLocks/>
          </p:cNvCxnSpPr>
          <p:nvPr/>
        </p:nvCxnSpPr>
        <p:spPr>
          <a:xfrm flipV="1">
            <a:off x="23373042" y="6680200"/>
            <a:ext cx="0" cy="1488716"/>
          </a:xfrm>
          <a:prstGeom prst="straightConnector1">
            <a:avLst/>
          </a:prstGeom>
          <a:ln w="63500">
            <a:solidFill>
              <a:srgbClr val="FF0000">
                <a:alpha val="26944"/>
              </a:srgb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2598C6DF-0A2B-D8F0-6BBD-8A847650D685}"/>
              </a:ext>
            </a:extLst>
          </p:cNvPr>
          <p:cNvSpPr/>
          <p:nvPr/>
        </p:nvSpPr>
        <p:spPr>
          <a:xfrm>
            <a:off x="6124453" y="26695997"/>
            <a:ext cx="3311632" cy="1644899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AA9B8B0-DAD3-B581-7308-3463927CB446}"/>
              </a:ext>
            </a:extLst>
          </p:cNvPr>
          <p:cNvGrpSpPr/>
          <p:nvPr/>
        </p:nvGrpSpPr>
        <p:grpSpPr>
          <a:xfrm>
            <a:off x="1091399" y="4727360"/>
            <a:ext cx="6148895" cy="2286054"/>
            <a:chOff x="1091399" y="4727360"/>
            <a:chExt cx="6148895" cy="2286054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A93A3BC-2913-62F5-4EE8-D2E290E7A8F6}"/>
                </a:ext>
              </a:extLst>
            </p:cNvPr>
            <p:cNvSpPr txBox="1"/>
            <p:nvPr/>
          </p:nvSpPr>
          <p:spPr>
            <a:xfrm>
              <a:off x="1091399" y="4727360"/>
              <a:ext cx="40841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pitchFamily="2" charset="2"/>
                <a:buChar char="n"/>
              </a:pPr>
              <a:r>
                <a:rPr kumimoji="1" lang="ja-JP" altLang="en-US" sz="3200" dirty="0"/>
                <a:t>１型糖尿病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FCED78B2-BA10-7D0A-4F17-DEC0824B43CC}"/>
                </a:ext>
              </a:extLst>
            </p:cNvPr>
            <p:cNvSpPr txBox="1"/>
            <p:nvPr/>
          </p:nvSpPr>
          <p:spPr>
            <a:xfrm>
              <a:off x="1547812" y="5907586"/>
              <a:ext cx="36276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3200" dirty="0"/>
                <a:t>→慢性的な高血糖</a:t>
              </a:r>
              <a:endParaRPr kumimoji="1" lang="ja-JP" altLang="en-US" sz="3200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0188C20F-9F45-EAD1-17E7-C39C4C5A9E55}"/>
                </a:ext>
              </a:extLst>
            </p:cNvPr>
            <p:cNvSpPr txBox="1"/>
            <p:nvPr/>
          </p:nvSpPr>
          <p:spPr>
            <a:xfrm>
              <a:off x="1547812" y="5347216"/>
              <a:ext cx="56924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3200" dirty="0"/>
                <a:t>→</a:t>
              </a:r>
              <a:r>
                <a:rPr kumimoji="1" lang="ja-JP" altLang="en-US" sz="3200" dirty="0"/>
                <a:t>体内インスリン産生の停止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05640D0-1A2B-2D41-037D-F718E86F8017}"/>
                </a:ext>
              </a:extLst>
            </p:cNvPr>
            <p:cNvSpPr txBox="1"/>
            <p:nvPr/>
          </p:nvSpPr>
          <p:spPr>
            <a:xfrm>
              <a:off x="1188103" y="6428639"/>
              <a:ext cx="6052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3200" dirty="0"/>
                <a:t>⇨外部インスリンの投与が必要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F7CDD6E-7C31-2C0C-985B-902AA7B7A984}"/>
              </a:ext>
            </a:extLst>
          </p:cNvPr>
          <p:cNvGrpSpPr/>
          <p:nvPr/>
        </p:nvGrpSpPr>
        <p:grpSpPr>
          <a:xfrm>
            <a:off x="7142114" y="4748107"/>
            <a:ext cx="7745131" cy="2815673"/>
            <a:chOff x="7272399" y="4920419"/>
            <a:chExt cx="7745131" cy="2815673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574E0027-E669-4861-BAEC-C7B611A41910}"/>
                </a:ext>
              </a:extLst>
            </p:cNvPr>
            <p:cNvGrpSpPr/>
            <p:nvPr/>
          </p:nvGrpSpPr>
          <p:grpSpPr>
            <a:xfrm>
              <a:off x="7300546" y="4920419"/>
              <a:ext cx="7716984" cy="2632621"/>
              <a:chOff x="7240294" y="4887921"/>
              <a:chExt cx="7716984" cy="2632621"/>
            </a:xfrm>
          </p:grpSpPr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6D5B8B04-851E-60A6-F745-B5ED9E6AB31E}"/>
                  </a:ext>
                </a:extLst>
              </p:cNvPr>
              <p:cNvSpPr txBox="1"/>
              <p:nvPr/>
            </p:nvSpPr>
            <p:spPr>
              <a:xfrm>
                <a:off x="7240294" y="4887921"/>
                <a:ext cx="446572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itchFamily="2" charset="2"/>
                  <a:buChar char="n"/>
                </a:pPr>
                <a:r>
                  <a:rPr kumimoji="1" lang="ja-JP" altLang="en-US" sz="3200" dirty="0"/>
                  <a:t>人工膵臓</a:t>
                </a: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5DC3F01-94F5-446A-F85D-B7EBE30EF3B3}"/>
                  </a:ext>
                </a:extLst>
              </p:cNvPr>
              <p:cNvSpPr txBox="1"/>
              <p:nvPr/>
            </p:nvSpPr>
            <p:spPr>
              <a:xfrm>
                <a:off x="7300545" y="5458439"/>
                <a:ext cx="7656733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3200" dirty="0"/>
                  <a:t>⇨センサーにより血糖値を連続的に計測</a:t>
                </a:r>
                <a:endParaRPr kumimoji="1" lang="en-US" altLang="ja-JP" sz="3200" dirty="0"/>
              </a:p>
              <a:p>
                <a:r>
                  <a:rPr lang="ja-JP" altLang="en-US" sz="3200" dirty="0"/>
                  <a:t>　制御器で適切なインスリン量を計算，</a:t>
                </a:r>
                <a:endParaRPr lang="en-US" altLang="ja-JP" sz="3200" dirty="0"/>
              </a:p>
              <a:p>
                <a:r>
                  <a:rPr lang="ja-JP" altLang="en-US" sz="3200" dirty="0"/>
                  <a:t>　インスリンポンプによる自動投与</a:t>
                </a:r>
              </a:p>
              <a:p>
                <a:endParaRPr kumimoji="1" lang="ja-JP" altLang="en-US" sz="3200" dirty="0"/>
              </a:p>
            </p:txBody>
          </p:sp>
        </p:grp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50E364ED-9C67-F16A-0874-98F61F59C93F}"/>
                </a:ext>
              </a:extLst>
            </p:cNvPr>
            <p:cNvSpPr txBox="1"/>
            <p:nvPr/>
          </p:nvSpPr>
          <p:spPr>
            <a:xfrm>
              <a:off x="7272399" y="7151317"/>
              <a:ext cx="72613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3200" dirty="0"/>
                <a:t>⇨モデル予測制御による制御器の開発</a:t>
              </a:r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0FA78B8-44FC-29C0-2253-BF61CA5475AA}"/>
              </a:ext>
            </a:extLst>
          </p:cNvPr>
          <p:cNvSpPr txBox="1"/>
          <p:nvPr/>
        </p:nvSpPr>
        <p:spPr>
          <a:xfrm>
            <a:off x="1091399" y="7636872"/>
            <a:ext cx="4407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ja-JP" altLang="en-US" sz="3200" dirty="0"/>
              <a:t>新たな糖代謝</a:t>
            </a:r>
            <a:r>
              <a:rPr kumimoji="1" lang="ja-JP" altLang="en-US" sz="3200" dirty="0"/>
              <a:t>モデル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89A9253-D3BB-08E2-3003-66E38C445E34}"/>
              </a:ext>
            </a:extLst>
          </p:cNvPr>
          <p:cNvSpPr txBox="1"/>
          <p:nvPr/>
        </p:nvSpPr>
        <p:spPr>
          <a:xfrm>
            <a:off x="1089923" y="8293967"/>
            <a:ext cx="60521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⇨グルコース</a:t>
            </a:r>
            <a:r>
              <a:rPr lang="en-US" altLang="ja-JP" sz="3200" dirty="0"/>
              <a:t>-</a:t>
            </a:r>
            <a:r>
              <a:rPr lang="ja-JP" altLang="en-US" sz="3200" dirty="0"/>
              <a:t>インスリン動態</a:t>
            </a:r>
            <a:endParaRPr lang="en-US" altLang="ja-JP" sz="3200" dirty="0"/>
          </a:p>
          <a:p>
            <a:r>
              <a:rPr lang="ja-JP" altLang="en-US" sz="3200" dirty="0"/>
              <a:t>　切り換えモデル</a:t>
            </a:r>
            <a:endParaRPr kumimoji="1" lang="ja-JP" altLang="en-US" sz="32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3616C0C-CC2B-6595-9B39-44A18F5568D7}"/>
              </a:ext>
            </a:extLst>
          </p:cNvPr>
          <p:cNvSpPr txBox="1"/>
          <p:nvPr/>
        </p:nvSpPr>
        <p:spPr>
          <a:xfrm>
            <a:off x="694016" y="10188514"/>
            <a:ext cx="14294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目的：グルコース</a:t>
            </a:r>
            <a:r>
              <a:rPr kumimoji="1" lang="en-US" altLang="ja-JP" sz="3200" b="1" dirty="0"/>
              <a:t>-</a:t>
            </a:r>
            <a:r>
              <a:rPr kumimoji="1" lang="ja-JP" altLang="en-US" sz="3200" b="1" dirty="0"/>
              <a:t>インスリン動態切り換えモデルに対する状態推定器の構築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1C588B6-76EE-2B1F-E43F-BA8FAB0C8AB0}"/>
              </a:ext>
            </a:extLst>
          </p:cNvPr>
          <p:cNvSpPr txBox="1"/>
          <p:nvPr/>
        </p:nvSpPr>
        <p:spPr>
          <a:xfrm>
            <a:off x="7758204" y="7567117"/>
            <a:ext cx="6374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→制御モデルの現在の状態が必要</a:t>
            </a:r>
          </a:p>
        </p:txBody>
      </p:sp>
      <p:sp>
        <p:nvSpPr>
          <p:cNvPr id="25" name="矢印: 下 24">
            <a:extLst>
              <a:ext uri="{FF2B5EF4-FFF2-40B4-BE49-F238E27FC236}">
                <a16:creationId xmlns:a16="http://schemas.microsoft.com/office/drawing/2014/main" id="{239CC8B6-0846-D333-216E-E2E3A1EBB06B}"/>
              </a:ext>
            </a:extLst>
          </p:cNvPr>
          <p:cNvSpPr/>
          <p:nvPr/>
        </p:nvSpPr>
        <p:spPr>
          <a:xfrm>
            <a:off x="5924122" y="9308014"/>
            <a:ext cx="2752847" cy="716533"/>
          </a:xfrm>
          <a:prstGeom prst="down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AE53313-A32B-D08D-3546-CD04197A08C0}"/>
              </a:ext>
            </a:extLst>
          </p:cNvPr>
          <p:cNvSpPr/>
          <p:nvPr/>
        </p:nvSpPr>
        <p:spPr>
          <a:xfrm>
            <a:off x="23976824" y="12500324"/>
            <a:ext cx="1960206" cy="57704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Gastrointestinal</a:t>
            </a:r>
          </a:p>
          <a:p>
            <a:pPr algn="ctr"/>
            <a:r>
              <a:rPr lang="en-US" altLang="ja-JP" sz="1200" b="1" dirty="0" err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submodel</a:t>
            </a:r>
            <a:endParaRPr lang="en-US" altLang="ja-JP" sz="1200" b="1" dirty="0">
              <a:latin typeface="Hiragino Kaku Gothic ProN W3" panose="020B0300000000000000" pitchFamily="34" charset="-128"/>
              <a:ea typeface="Hiragino Kaku Gothic ProN W3" panose="020B0300000000000000" pitchFamily="34" charset="-128"/>
              <a:cs typeface="Arial" panose="020B0604020202020204" pitchFamily="34" charset="0"/>
            </a:endParaRPr>
          </a:p>
          <a:p>
            <a:pPr algn="ctr"/>
            <a:r>
              <a:rPr kumimoji="1" lang="en-US" altLang="ja-JP" sz="12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(</a:t>
            </a:r>
            <a:r>
              <a:rPr kumimoji="1" lang="en-US" altLang="ja-JP" sz="1200" b="1" dirty="0">
                <a:solidFill>
                  <a:srgbClr val="FF0000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switched system</a:t>
            </a:r>
            <a:r>
              <a:rPr kumimoji="1" lang="en-US" altLang="ja-JP" sz="12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)</a:t>
            </a:r>
            <a:endParaRPr kumimoji="1" lang="ja-JP" altLang="en-US" sz="1200" b="1" dirty="0">
              <a:latin typeface="Hiragino Kaku Gothic ProN W3" panose="020B0300000000000000" pitchFamily="34" charset="-128"/>
              <a:ea typeface="Hiragino Kaku Gothic ProN W3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E5BD980-1EE7-B168-F82C-8B551155D12F}"/>
              </a:ext>
            </a:extLst>
          </p:cNvPr>
          <p:cNvCxnSpPr>
            <a:cxnSpLocks/>
          </p:cNvCxnSpPr>
          <p:nvPr/>
        </p:nvCxnSpPr>
        <p:spPr>
          <a:xfrm>
            <a:off x="21984446" y="12067813"/>
            <a:ext cx="0" cy="716196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E1F55AC6-1B4B-7E25-FF38-3798A2230715}"/>
              </a:ext>
            </a:extLst>
          </p:cNvPr>
          <p:cNvCxnSpPr>
            <a:cxnSpLocks/>
          </p:cNvCxnSpPr>
          <p:nvPr/>
        </p:nvCxnSpPr>
        <p:spPr>
          <a:xfrm>
            <a:off x="21984446" y="12784009"/>
            <a:ext cx="556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D1160C72-9449-5DC3-E7E4-B38F6CFFFF30}"/>
              </a:ext>
            </a:extLst>
          </p:cNvPr>
          <p:cNvCxnSpPr>
            <a:cxnSpLocks/>
          </p:cNvCxnSpPr>
          <p:nvPr/>
        </p:nvCxnSpPr>
        <p:spPr>
          <a:xfrm flipV="1">
            <a:off x="22739941" y="12609790"/>
            <a:ext cx="356826" cy="174219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091A1E78-32B6-C7C5-EDF8-13183651C3FA}"/>
              </a:ext>
            </a:extLst>
          </p:cNvPr>
          <p:cNvCxnSpPr>
            <a:cxnSpLocks/>
          </p:cNvCxnSpPr>
          <p:nvPr/>
        </p:nvCxnSpPr>
        <p:spPr>
          <a:xfrm>
            <a:off x="22525947" y="12785247"/>
            <a:ext cx="213994" cy="0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4F8A92A5-BDFF-EF48-7502-A54C9C628DE7}"/>
              </a:ext>
            </a:extLst>
          </p:cNvPr>
          <p:cNvCxnSpPr>
            <a:cxnSpLocks/>
          </p:cNvCxnSpPr>
          <p:nvPr/>
        </p:nvCxnSpPr>
        <p:spPr>
          <a:xfrm>
            <a:off x="23096767" y="12762275"/>
            <a:ext cx="880057" cy="0"/>
          </a:xfrm>
          <a:prstGeom prst="straightConnector1">
            <a:avLst/>
          </a:prstGeom>
          <a:ln>
            <a:solidFill>
              <a:schemeClr val="dk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4B34595E-C680-956B-77D6-0FFEF090DFA7}"/>
              </a:ext>
            </a:extLst>
          </p:cNvPr>
          <p:cNvCxnSpPr>
            <a:cxnSpLocks/>
          </p:cNvCxnSpPr>
          <p:nvPr/>
        </p:nvCxnSpPr>
        <p:spPr>
          <a:xfrm>
            <a:off x="25937030" y="12762275"/>
            <a:ext cx="783770" cy="0"/>
          </a:xfrm>
          <a:prstGeom prst="straightConnector1">
            <a:avLst/>
          </a:prstGeom>
          <a:ln>
            <a:solidFill>
              <a:schemeClr val="dk1"/>
            </a:solidFill>
            <a:prstDash val="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C060C0B2-20D4-1DC5-6928-B1AE9FF42018}"/>
              </a:ext>
            </a:extLst>
          </p:cNvPr>
          <p:cNvGrpSpPr>
            <a:grpSpLocks noChangeAspect="1"/>
          </p:cNvGrpSpPr>
          <p:nvPr/>
        </p:nvGrpSpPr>
        <p:grpSpPr>
          <a:xfrm>
            <a:off x="15780424" y="17911714"/>
            <a:ext cx="13924542" cy="6724121"/>
            <a:chOff x="1981000" y="740200"/>
            <a:chExt cx="25494693" cy="12311315"/>
          </a:xfrm>
        </p:grpSpPr>
        <p:pic>
          <p:nvPicPr>
            <p:cNvPr id="77" name="図 76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2B182335-1125-5443-863C-1FBA5AF34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10724177" y="740200"/>
              <a:ext cx="8198442" cy="6235693"/>
            </a:xfrm>
            <a:prstGeom prst="rect">
              <a:avLst/>
            </a:prstGeom>
          </p:spPr>
        </p:pic>
        <p:pic>
          <p:nvPicPr>
            <p:cNvPr id="78" name="図 77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B72E9B03-0B47-526C-FAC2-FA6599FEF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2039994" y="935257"/>
              <a:ext cx="8314257" cy="6040636"/>
            </a:xfrm>
            <a:prstGeom prst="rect">
              <a:avLst/>
            </a:prstGeom>
          </p:spPr>
        </p:pic>
        <p:pic>
          <p:nvPicPr>
            <p:cNvPr id="79" name="図 78" descr="グラフ, ヒストグラム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95E7B284-0B4F-F478-F10D-B9B2C1F13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1981000" y="7010879"/>
              <a:ext cx="8423975" cy="6040636"/>
            </a:xfrm>
            <a:prstGeom prst="rect">
              <a:avLst/>
            </a:prstGeom>
          </p:spPr>
        </p:pic>
        <p:pic>
          <p:nvPicPr>
            <p:cNvPr id="80" name="図 79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BED4CC6D-FEBE-3588-5566-8D5FA4E2D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458451" y="7010879"/>
              <a:ext cx="8539790" cy="6040636"/>
            </a:xfrm>
            <a:prstGeom prst="rect">
              <a:avLst/>
            </a:prstGeom>
          </p:spPr>
        </p:pic>
        <p:pic>
          <p:nvPicPr>
            <p:cNvPr id="81" name="図 80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82A29B4-EF52-77EF-7E5E-32887F634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9051718" y="7010879"/>
              <a:ext cx="8423975" cy="6040636"/>
            </a:xfrm>
            <a:prstGeom prst="rect">
              <a:avLst/>
            </a:prstGeom>
          </p:spPr>
        </p:pic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39E4B783-8057-1ACD-8F93-14677D3757B3}"/>
              </a:ext>
            </a:extLst>
          </p:cNvPr>
          <p:cNvGrpSpPr>
            <a:grpSpLocks noChangeAspect="1"/>
          </p:cNvGrpSpPr>
          <p:nvPr/>
        </p:nvGrpSpPr>
        <p:grpSpPr>
          <a:xfrm>
            <a:off x="15592542" y="27534080"/>
            <a:ext cx="14077074" cy="6856831"/>
            <a:chOff x="1981000" y="686696"/>
            <a:chExt cx="25384973" cy="12364819"/>
          </a:xfrm>
        </p:grpSpPr>
        <p:pic>
          <p:nvPicPr>
            <p:cNvPr id="83" name="図 82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42843BE9-4F61-E7F5-578C-64421E294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2090719" y="862805"/>
              <a:ext cx="8314256" cy="6040636"/>
            </a:xfrm>
            <a:prstGeom prst="rect">
              <a:avLst/>
            </a:prstGeom>
          </p:spPr>
        </p:pic>
        <p:pic>
          <p:nvPicPr>
            <p:cNvPr id="84" name="図 83" descr="グラフ, ヒストグラム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55084C60-FC4E-B9FE-4F61-A80702DF2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1981000" y="7010879"/>
              <a:ext cx="8423975" cy="6040636"/>
            </a:xfrm>
            <a:prstGeom prst="rect">
              <a:avLst/>
            </a:prstGeom>
          </p:spPr>
        </p:pic>
        <p:pic>
          <p:nvPicPr>
            <p:cNvPr id="85" name="図 84" descr="グラフ, 折れ線グラフ, ヒストグラム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2FF992F4-CBA0-4DB8-ED0D-EA6220573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10516358" y="7010879"/>
              <a:ext cx="8423975" cy="6040636"/>
            </a:xfrm>
            <a:prstGeom prst="rect">
              <a:avLst/>
            </a:prstGeom>
          </p:spPr>
        </p:pic>
        <p:pic>
          <p:nvPicPr>
            <p:cNvPr id="86" name="図 85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970A422-C25B-8DE6-43F9-B556E1DCA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9051717" y="7010879"/>
              <a:ext cx="8314256" cy="6040636"/>
            </a:xfrm>
            <a:prstGeom prst="rect">
              <a:avLst/>
            </a:prstGeom>
          </p:spPr>
        </p:pic>
        <p:pic>
          <p:nvPicPr>
            <p:cNvPr id="87" name="図 86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4E5B93DE-A337-E6FA-7A20-27AB95D13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10724176" y="686696"/>
              <a:ext cx="8198442" cy="6235692"/>
            </a:xfrm>
            <a:prstGeom prst="rect">
              <a:avLst/>
            </a:prstGeom>
          </p:spPr>
        </p:pic>
      </p:grpSp>
      <p:graphicFrame>
        <p:nvGraphicFramePr>
          <p:cNvPr id="89" name="表 88">
            <a:extLst>
              <a:ext uri="{FF2B5EF4-FFF2-40B4-BE49-F238E27FC236}">
                <a16:creationId xmlns:a16="http://schemas.microsoft.com/office/drawing/2014/main" id="{1627E0F4-D4D3-26BF-3922-E8369300F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369986"/>
              </p:ext>
            </p:extLst>
          </p:nvPr>
        </p:nvGraphicFramePr>
        <p:xfrm>
          <a:off x="15854296" y="25250971"/>
          <a:ext cx="13545237" cy="15682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6959">
                  <a:extLst>
                    <a:ext uri="{9D8B030D-6E8A-4147-A177-3AD203B41FA5}">
                      <a16:colId xmlns:a16="http://schemas.microsoft.com/office/drawing/2014/main" val="511500155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2079079441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128146981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951024662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003671437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884299189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06749544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775427197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404143581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634623929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279230013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981810196"/>
                    </a:ext>
                  </a:extLst>
                </a:gridCol>
              </a:tblGrid>
              <a:tr h="60516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仮想患者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#001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#004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#005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#010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Mean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915014"/>
                  </a:ext>
                </a:extLst>
              </a:tr>
              <a:tr h="45798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</a:t>
                      </a:r>
                      <a:r>
                        <a:rPr kumimoji="1" lang="ja-JP" altLang="en-US" sz="2400"/>
                        <a:t>日間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1.216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0.654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1.284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1.545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1.589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1.552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2.206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2.082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1.592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1.133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1.485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632823"/>
                  </a:ext>
                </a:extLst>
              </a:tr>
              <a:tr h="50512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</a:t>
                      </a:r>
                      <a:r>
                        <a:rPr kumimoji="1" lang="ja-JP" altLang="en-US" sz="2400" dirty="0"/>
                        <a:t>日目のみ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0.841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0.579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0.506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0.682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0.762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0.867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0.947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0.763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0.639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0.798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0.739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723601"/>
                  </a:ext>
                </a:extLst>
              </a:tr>
            </a:tbl>
          </a:graphicData>
        </a:graphic>
      </p:graphicFrame>
      <p:graphicFrame>
        <p:nvGraphicFramePr>
          <p:cNvPr id="91" name="表 90">
            <a:extLst>
              <a:ext uri="{FF2B5EF4-FFF2-40B4-BE49-F238E27FC236}">
                <a16:creationId xmlns:a16="http://schemas.microsoft.com/office/drawing/2014/main" id="{4A129855-C132-82CF-D815-1C54F03CD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560796"/>
              </p:ext>
            </p:extLst>
          </p:nvPr>
        </p:nvGraphicFramePr>
        <p:xfrm>
          <a:off x="15967322" y="34926673"/>
          <a:ext cx="13545237" cy="15682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6959">
                  <a:extLst>
                    <a:ext uri="{9D8B030D-6E8A-4147-A177-3AD203B41FA5}">
                      <a16:colId xmlns:a16="http://schemas.microsoft.com/office/drawing/2014/main" val="511500155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2079079441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128146981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951024662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003671437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884299189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06749544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775427197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404143581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634623929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279230013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981810196"/>
                    </a:ext>
                  </a:extLst>
                </a:gridCol>
              </a:tblGrid>
              <a:tr h="60516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仮想患者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#001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#004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#005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#010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Mean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915014"/>
                  </a:ext>
                </a:extLst>
              </a:tr>
              <a:tr h="45798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</a:t>
                      </a:r>
                      <a:r>
                        <a:rPr kumimoji="1" lang="ja-JP" altLang="en-US" sz="2400"/>
                        <a:t>日間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0.891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0.308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1.136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1.446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1.403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1.260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1.850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1.852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1.453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0.761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1.236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632823"/>
                  </a:ext>
                </a:extLst>
              </a:tr>
              <a:tr h="50512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</a:t>
                      </a:r>
                      <a:r>
                        <a:rPr kumimoji="1" lang="ja-JP" altLang="en-US" sz="2400" dirty="0"/>
                        <a:t>日目のみ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0.465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0.272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0.372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0.732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0.648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0.841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0.472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0.676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0.417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0.542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723601"/>
                  </a:ext>
                </a:extLst>
              </a:tr>
            </a:tbl>
          </a:graphicData>
        </a:graphic>
      </p:graphicFrame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944EB55-9B75-6C5F-97D5-5D05711883C0}"/>
              </a:ext>
            </a:extLst>
          </p:cNvPr>
          <p:cNvSpPr txBox="1"/>
          <p:nvPr/>
        </p:nvSpPr>
        <p:spPr>
          <a:xfrm>
            <a:off x="15700000" y="17540295"/>
            <a:ext cx="8393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kumimoji="1"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</a:rPr>
              <a:t>オブザーバ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</a:rPr>
              <a:t>による推定結果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BC4781B-7326-8EFA-78C6-53FB2BC7370F}"/>
              </a:ext>
            </a:extLst>
          </p:cNvPr>
          <p:cNvSpPr txBox="1"/>
          <p:nvPr/>
        </p:nvSpPr>
        <p:spPr>
          <a:xfrm>
            <a:off x="15700000" y="27080304"/>
            <a:ext cx="8393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</a:rPr>
              <a:t>拡張カルマンフィルタ</a:t>
            </a:r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(EKF)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</a:rPr>
              <a:t>による推定結果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0380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7440</TotalTime>
  <Words>940</Words>
  <Application>Microsoft Macintosh PowerPoint</Application>
  <PresentationFormat>ユーザー設定</PresentationFormat>
  <Paragraphs>228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4" baseType="lpstr">
      <vt:lpstr>Hiragino Kaku Gothic ProN W3</vt:lpstr>
      <vt:lpstr>Roboto Mono Web</vt:lpstr>
      <vt:lpstr>Meiryo</vt:lpstr>
      <vt:lpstr>Meiryo</vt:lpstr>
      <vt:lpstr>游ゴシック</vt:lpstr>
      <vt:lpstr>游ゴシック Light</vt:lpstr>
      <vt:lpstr>Aptos</vt:lpstr>
      <vt:lpstr>Arial</vt:lpstr>
      <vt:lpstr>Cambria Math</vt:lpstr>
      <vt:lpstr>Helvetica</vt:lpstr>
      <vt:lpstr>Roboto</vt:lpstr>
      <vt:lpstr>Wingdings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雄太 三輪</dc:creator>
  <cp:lastModifiedBy>田辺　裕翔</cp:lastModifiedBy>
  <cp:revision>101</cp:revision>
  <cp:lastPrinted>2025-12-03T05:21:08Z</cp:lastPrinted>
  <dcterms:created xsi:type="dcterms:W3CDTF">2024-11-18T03:53:27Z</dcterms:created>
  <dcterms:modified xsi:type="dcterms:W3CDTF">2025-12-08T02:35:46Z</dcterms:modified>
</cp:coreProperties>
</file>